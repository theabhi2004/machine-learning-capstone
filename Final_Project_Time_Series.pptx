
<file path=[Content_Types].xml><?xml version="1.0" encoding="utf-8"?>
<Types xmlns="http://schemas.openxmlformats.org/package/2006/content-types">
  <Default Extension="xml" ContentType="application/xml"/>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
  </p:notesMasterIdLst>
  <p:handoutMasterIdLst>
    <p:handoutMasterId r:id="rId47"/>
  </p:handoutMasterIdLst>
  <p:sldIdLst>
    <p:sldId id="256" r:id="rId3"/>
    <p:sldId id="257" r:id="rId4"/>
    <p:sldId id="258" r:id="rId5"/>
    <p:sldId id="273" r:id="rId6"/>
    <p:sldId id="320" r:id="rId7"/>
    <p:sldId id="261" r:id="rId9"/>
    <p:sldId id="271" r:id="rId10"/>
    <p:sldId id="278" r:id="rId11"/>
    <p:sldId id="329" r:id="rId12"/>
    <p:sldId id="294" r:id="rId13"/>
    <p:sldId id="331" r:id="rId14"/>
    <p:sldId id="308" r:id="rId15"/>
    <p:sldId id="332" r:id="rId16"/>
    <p:sldId id="321" r:id="rId17"/>
    <p:sldId id="295" r:id="rId18"/>
    <p:sldId id="328" r:id="rId19"/>
    <p:sldId id="333" r:id="rId20"/>
    <p:sldId id="334" r:id="rId21"/>
    <p:sldId id="330" r:id="rId22"/>
    <p:sldId id="322" r:id="rId23"/>
    <p:sldId id="335" r:id="rId24"/>
    <p:sldId id="336" r:id="rId25"/>
    <p:sldId id="283" r:id="rId26"/>
    <p:sldId id="285" r:id="rId27"/>
    <p:sldId id="323" r:id="rId28"/>
    <p:sldId id="337" r:id="rId29"/>
    <p:sldId id="338" r:id="rId30"/>
    <p:sldId id="340" r:id="rId31"/>
    <p:sldId id="339" r:id="rId32"/>
    <p:sldId id="342" r:id="rId33"/>
    <p:sldId id="348" r:id="rId34"/>
    <p:sldId id="345" r:id="rId35"/>
    <p:sldId id="343" r:id="rId36"/>
    <p:sldId id="344" r:id="rId37"/>
    <p:sldId id="346" r:id="rId38"/>
    <p:sldId id="341" r:id="rId39"/>
    <p:sldId id="349" r:id="rId40"/>
    <p:sldId id="347" r:id="rId41"/>
    <p:sldId id="350" r:id="rId42"/>
    <p:sldId id="292" r:id="rId43"/>
    <p:sldId id="291" r:id="rId44"/>
    <p:sldId id="318" r:id="rId45"/>
    <p:sldId id="275"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A1FA"/>
    <a:srgbClr val="00863D"/>
    <a:srgbClr val="A83242"/>
    <a:srgbClr val="38C8A2"/>
    <a:srgbClr val="8ADFC9"/>
    <a:srgbClr val="A9DFD6"/>
    <a:srgbClr val="E87C39"/>
    <a:srgbClr val="44546A"/>
    <a:srgbClr val="07BA06"/>
    <a:srgbClr val="F445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04" autoAdjust="0"/>
  </p:normalViewPr>
  <p:slideViewPr>
    <p:cSldViewPr snapToGrid="0">
      <p:cViewPr varScale="1">
        <p:scale>
          <a:sx n="112" d="100"/>
          <a:sy n="112" d="100"/>
        </p:scale>
        <p:origin x="552" y="96"/>
      </p:cViewPr>
      <p:guideLst/>
    </p:cSldViewPr>
  </p:slideViewPr>
  <p:notesTextViewPr>
    <p:cViewPr>
      <p:scale>
        <a:sx n="1" d="1"/>
        <a:sy n="1" d="1"/>
      </p:scale>
      <p:origin x="0" y="0"/>
    </p:cViewPr>
  </p:notesTextViewPr>
  <p:sorterViewPr>
    <p:cViewPr>
      <p:scale>
        <a:sx n="126" d="100"/>
        <a:sy n="12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4" Type="http://schemas.openxmlformats.org/officeDocument/2006/relationships/customXml" Target="../customXml/item3.xml"/><Relationship Id="rId53" Type="http://schemas.openxmlformats.org/officeDocument/2006/relationships/customXml" Target="../customXml/item2.xml"/><Relationship Id="rId52" Type="http://schemas.openxmlformats.org/officeDocument/2006/relationships/customXml" Target="../customXml/item1.xml"/><Relationship Id="rId51" Type="http://schemas.microsoft.com/office/2018/10/relationships/authors" Target="authors.xml"/><Relationship Id="rId50" Type="http://schemas.openxmlformats.org/officeDocument/2006/relationships/tableStyles" Target="tableStyles.xml"/><Relationship Id="rId5" Type="http://schemas.openxmlformats.org/officeDocument/2006/relationships/slide" Target="slides/slide3.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handoutMaster" Target="handoutMasters/handoutMaster1.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67493" y="1122363"/>
            <a:ext cx="7096933" cy="2387600"/>
          </a:xfrm>
        </p:spPr>
        <p:txBody>
          <a:bodyPr anchor="b">
            <a:noAutofit/>
          </a:bodyPr>
          <a:lstStyle>
            <a:lvl1pPr algn="l">
              <a:defRPr sz="6000" b="1">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1167493" y="3602038"/>
            <a:ext cx="9500507" cy="806675"/>
          </a:xfrm>
        </p:spPr>
        <p:txBody>
          <a:bodyPr>
            <a:noAutofit/>
          </a:bodyPr>
          <a:lstStyle>
            <a:lvl1pPr marL="0" indent="0" algn="l">
              <a:buNone/>
              <a:defRPr sz="32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Rectangle 3"/>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p:cNvGrpSpPr/>
          <p:nvPr userDrawn="1"/>
        </p:nvGrpSpPr>
        <p:grpSpPr>
          <a:xfrm>
            <a:off x="8264427" y="-3419"/>
            <a:ext cx="3927573" cy="3165022"/>
            <a:chOff x="9857014" y="13834"/>
            <a:chExt cx="2334986" cy="1881641"/>
          </a:xfrm>
        </p:grpSpPr>
        <p:sp>
          <p:nvSpPr>
            <p:cNvPr id="15" name="Freeform 14"/>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67492" y="381000"/>
            <a:ext cx="9779183" cy="1325563"/>
          </a:xfrm>
        </p:spPr>
        <p:txBody>
          <a:bodyPr anchor="b">
            <a:noAutofit/>
          </a:bodyPr>
          <a:lstStyle>
            <a:lvl1pPr>
              <a:defRPr sz="4800" b="1">
                <a:latin typeface="+mj-lt"/>
              </a:defRPr>
            </a:lvl1pPr>
          </a:lstStyle>
          <a:p>
            <a:r>
              <a:rPr lang="en-US"/>
              <a:t>Click to edit Master title style</a:t>
            </a:r>
            <a:endParaRPr lang="en-US" dirty="0"/>
          </a:p>
        </p:txBody>
      </p:sp>
      <p:sp>
        <p:nvSpPr>
          <p:cNvPr id="3" name="Content Placeholder 2"/>
          <p:cNvSpPr>
            <a:spLocks noGrp="1"/>
          </p:cNvSpPr>
          <p:nvPr>
            <p:ph idx="1"/>
          </p:nvPr>
        </p:nvSpPr>
        <p:spPr>
          <a:xfrm>
            <a:off x="1167493" y="2017467"/>
            <a:ext cx="9779182" cy="3366815"/>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Freeform 3"/>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p:cNvGrpSpPr/>
          <p:nvPr userDrawn="1"/>
        </p:nvGrpSpPr>
        <p:grpSpPr>
          <a:xfrm>
            <a:off x="8082092" y="5590903"/>
            <a:ext cx="1572380" cy="1267097"/>
            <a:chOff x="7413403" y="4976359"/>
            <a:chExt cx="2334986" cy="1881641"/>
          </a:xfrm>
        </p:grpSpPr>
        <p:sp>
          <p:nvSpPr>
            <p:cNvPr id="7" name="Freeform 6"/>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sp>
        <p:nvSpPr>
          <p:cNvPr id="10" name="Date Placeholder 3"/>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fld id="{DD9C8446-696E-6942-B6C8-CC9CAD0B34E0}" type="datetime1">
              <a:rPr lang="en-US" smtClean="0"/>
            </a:fld>
            <a:endParaRPr lang="en-US" dirty="0"/>
          </a:p>
        </p:txBody>
      </p:sp>
      <p:sp>
        <p:nvSpPr>
          <p:cNvPr id="11"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r>
              <a:rPr lang="en-US" dirty="0"/>
              <a:t>PRESENTATION TITLE</a:t>
            </a:r>
            <a:endParaRPr lang="en-US" dirty="0"/>
          </a:p>
        </p:txBody>
      </p:sp>
      <p:sp>
        <p:nvSpPr>
          <p:cNvPr id="12" name="Slide Number Placeholder 5"/>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accent2"/>
        </a:solidFill>
        <a:effectLst/>
      </p:bgPr>
    </p:bg>
    <p:spTree>
      <p:nvGrpSpPr>
        <p:cNvPr id="1" name=""/>
        <p:cNvGrpSpPr/>
        <p:nvPr/>
      </p:nvGrpSpPr>
      <p:grpSpPr>
        <a:xfrm>
          <a:off x="0" y="0"/>
          <a:ext cx="0" cy="0"/>
          <a:chOff x="0" y="0"/>
          <a:chExt cx="0" cy="0"/>
        </a:xfrm>
      </p:grpSpPr>
      <p:sp>
        <p:nvSpPr>
          <p:cNvPr id="7" name="Rectangle 6"/>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Title 1"/>
          <p:cNvSpPr>
            <a:spLocks noGrp="1"/>
          </p:cNvSpPr>
          <p:nvPr>
            <p:ph type="title"/>
          </p:nvPr>
        </p:nvSpPr>
        <p:spPr>
          <a:xfrm>
            <a:off x="1167492" y="381000"/>
            <a:ext cx="9779183" cy="1325563"/>
          </a:xfrm>
        </p:spPr>
        <p:txBody>
          <a:bodyPr anchor="b">
            <a:noAutofit/>
          </a:bodyPr>
          <a:lstStyle>
            <a:lvl1pPr>
              <a:defRPr sz="4800" b="1">
                <a:latin typeface="+mj-lt"/>
              </a:defRPr>
            </a:lvl1pPr>
          </a:lstStyle>
          <a:p>
            <a:r>
              <a:rPr lang="en-US"/>
              <a:t>Click to edit Master title style</a:t>
            </a:r>
            <a:endParaRPr lang="en-US" dirty="0"/>
          </a:p>
        </p:txBody>
      </p:sp>
      <p:sp>
        <p:nvSpPr>
          <p:cNvPr id="3" name="Text Placeholder 2"/>
          <p:cNvSpPr>
            <a:spLocks noGrp="1"/>
          </p:cNvSpPr>
          <p:nvPr>
            <p:ph type="body" idx="1"/>
          </p:nvPr>
        </p:nvSpPr>
        <p:spPr>
          <a:xfrm>
            <a:off x="1167492" y="2653167"/>
            <a:ext cx="9779183" cy="3436483"/>
          </a:xfrm>
        </p:spPr>
        <p:txBody>
          <a:bodyPr>
            <a:noAutofit/>
          </a:bodyPr>
          <a:lstStyle>
            <a:lvl1pPr marL="0" indent="0">
              <a:lnSpc>
                <a:spcPct val="150000"/>
              </a:lnSpc>
              <a:buNone/>
              <a:defRPr sz="240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noAutofit/>
          </a:bodyPr>
          <a:lstStyle>
            <a:lvl1pPr>
              <a:defRPr>
                <a:solidFill>
                  <a:schemeClr val="accent2"/>
                </a:solidFill>
                <a:latin typeface="+mn-lt"/>
              </a:defRPr>
            </a:lvl1pPr>
          </a:lstStyle>
          <a:p>
            <a:fld id="{F5592931-05C6-8543-8B6E-A8BD29BD5C2B}" type="datetime1">
              <a:rPr lang="en-US" smtClean="0"/>
            </a:fld>
            <a:endParaRPr lang="en-US" dirty="0"/>
          </a:p>
        </p:txBody>
      </p:sp>
      <p:sp>
        <p:nvSpPr>
          <p:cNvPr id="5" name="Footer Placeholder 4"/>
          <p:cNvSpPr>
            <a:spLocks noGrp="1"/>
          </p:cNvSpPr>
          <p:nvPr>
            <p:ph type="ftr" sz="quarter" idx="11"/>
          </p:nvPr>
        </p:nvSpPr>
        <p:spPr/>
        <p:txBody>
          <a:bodyPr>
            <a:noAutofit/>
          </a:bodyPr>
          <a:lstStyle>
            <a:lvl1pPr>
              <a:defRPr>
                <a:solidFill>
                  <a:schemeClr val="accent2"/>
                </a:solidFill>
                <a:latin typeface="+mn-lt"/>
              </a:defRPr>
            </a:lvl1pPr>
          </a:lstStyle>
          <a:p>
            <a:r>
              <a:rPr lang="en-US" dirty="0"/>
              <a:t>PRESENTATION TITLE</a:t>
            </a:r>
            <a:endParaRPr lang="en-US" dirty="0"/>
          </a:p>
        </p:txBody>
      </p:sp>
      <p:sp>
        <p:nvSpPr>
          <p:cNvPr id="6" name="Slide Number Placeholder 5"/>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sp>
        <p:nvSpPr>
          <p:cNvPr id="23" name="Freeform 22"/>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ctrTitle"/>
          </p:nvPr>
        </p:nvSpPr>
        <p:spPr>
          <a:xfrm>
            <a:off x="1167494" y="1059400"/>
            <a:ext cx="6245912" cy="2387600"/>
          </a:xfrm>
        </p:spPr>
        <p:txBody>
          <a:bodyPr anchor="b">
            <a:noAutofit/>
          </a:bodyPr>
          <a:lstStyle>
            <a:lvl1pPr algn="l">
              <a:defRPr sz="6000" b="1">
                <a:solidFill>
                  <a:schemeClr val="bg1"/>
                </a:solidFill>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1167494" y="3539075"/>
            <a:ext cx="6245912" cy="1406101"/>
          </a:xfrm>
        </p:spPr>
        <p:txBody>
          <a:bodyPr>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6" name="Group 5"/>
          <p:cNvGrpSpPr/>
          <p:nvPr userDrawn="1"/>
        </p:nvGrpSpPr>
        <p:grpSpPr>
          <a:xfrm rot="16200000">
            <a:off x="8286528" y="2207195"/>
            <a:ext cx="3032351" cy="2443610"/>
            <a:chOff x="9857014" y="13834"/>
            <a:chExt cx="2334986" cy="1881641"/>
          </a:xfrm>
        </p:grpSpPr>
        <p:sp>
          <p:nvSpPr>
            <p:cNvPr id="15" name="Freeform 14"/>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7" name="Freeform 16"/>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17"/>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Graph">
    <p:spTree>
      <p:nvGrpSpPr>
        <p:cNvPr id="1" name=""/>
        <p:cNvGrpSpPr/>
        <p:nvPr/>
      </p:nvGrpSpPr>
      <p:grpSpPr>
        <a:xfrm>
          <a:off x="0" y="0"/>
          <a:ext cx="0" cy="0"/>
          <a:chOff x="0" y="0"/>
          <a:chExt cx="0" cy="0"/>
        </a:xfrm>
      </p:grpSpPr>
      <p:sp>
        <p:nvSpPr>
          <p:cNvPr id="2" name="Title 1"/>
          <p:cNvSpPr>
            <a:spLocks noGrp="1"/>
          </p:cNvSpPr>
          <p:nvPr>
            <p:ph type="title"/>
          </p:nvPr>
        </p:nvSpPr>
        <p:spPr>
          <a:xfrm>
            <a:off x="1167492" y="381000"/>
            <a:ext cx="9779183" cy="1325563"/>
          </a:xfrm>
        </p:spPr>
        <p:txBody>
          <a:bodyPr anchor="b">
            <a:noAutofit/>
          </a:bodyPr>
          <a:lstStyle>
            <a:lvl1pPr>
              <a:defRPr sz="4800" b="1">
                <a:latin typeface="+mj-lt"/>
              </a:defRPr>
            </a:lvl1pPr>
          </a:lstStyle>
          <a:p>
            <a:r>
              <a:rPr lang="en-US"/>
              <a:t>Click to edit Master title style</a:t>
            </a:r>
            <a:endParaRPr lang="en-US" dirty="0"/>
          </a:p>
        </p:txBody>
      </p:sp>
      <p:sp>
        <p:nvSpPr>
          <p:cNvPr id="3" name="Content Placeholder 2"/>
          <p:cNvSpPr>
            <a:spLocks noGrp="1"/>
          </p:cNvSpPr>
          <p:nvPr>
            <p:ph idx="1"/>
          </p:nvPr>
        </p:nvSpPr>
        <p:spPr>
          <a:xfrm>
            <a:off x="1167493" y="2087561"/>
            <a:ext cx="9779182" cy="3366815"/>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Freeform 3"/>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Date Placeholder 3"/>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fld id="{7E7AB22C-8B7E-9B4A-8C65-396C3C874D86}" type="datetime1">
              <a:rPr lang="en-US" smtClean="0"/>
            </a:fld>
            <a:endParaRPr lang="en-US" dirty="0"/>
          </a:p>
        </p:txBody>
      </p:sp>
      <p:sp>
        <p:nvSpPr>
          <p:cNvPr id="11"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r>
              <a:rPr lang="en-US" dirty="0"/>
              <a:t>PRESENTATION TITLE</a:t>
            </a:r>
            <a:endParaRPr lang="en-US" dirty="0"/>
          </a:p>
        </p:txBody>
      </p:sp>
      <p:sp>
        <p:nvSpPr>
          <p:cNvPr id="12" name="Slide Number Placeholder 5"/>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Chart 2">
    <p:bg>
      <p:bgPr>
        <a:solidFill>
          <a:schemeClr val="accent2"/>
        </a:solidFill>
        <a:effectLst/>
      </p:bgPr>
    </p:bg>
    <p:spTree>
      <p:nvGrpSpPr>
        <p:cNvPr id="1" name=""/>
        <p:cNvGrpSpPr/>
        <p:nvPr/>
      </p:nvGrpSpPr>
      <p:grpSpPr>
        <a:xfrm>
          <a:off x="0" y="0"/>
          <a:ext cx="0" cy="0"/>
          <a:chOff x="0" y="0"/>
          <a:chExt cx="0" cy="0"/>
        </a:xfrm>
      </p:grpSpPr>
      <p:grpSp>
        <p:nvGrpSpPr>
          <p:cNvPr id="9" name="Group 8"/>
          <p:cNvGrpSpPr/>
          <p:nvPr userDrawn="1"/>
        </p:nvGrpSpPr>
        <p:grpSpPr>
          <a:xfrm rot="16200000">
            <a:off x="10772262" y="152641"/>
            <a:ext cx="1572380" cy="1267097"/>
            <a:chOff x="7413403" y="4976359"/>
            <a:chExt cx="2334986" cy="1881641"/>
          </a:xfrm>
        </p:grpSpPr>
        <p:sp>
          <p:nvSpPr>
            <p:cNvPr id="13" name="Freeform 12"/>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p:cNvSpPr>
            <a:spLocks noGrp="1"/>
          </p:cNvSpPr>
          <p:nvPr>
            <p:ph type="title"/>
          </p:nvPr>
        </p:nvSpPr>
        <p:spPr>
          <a:xfrm>
            <a:off x="1167492" y="381000"/>
            <a:ext cx="9779183" cy="1325563"/>
          </a:xfrm>
        </p:spPr>
        <p:txBody>
          <a:bodyPr anchor="b">
            <a:noAutofit/>
          </a:bodyPr>
          <a:lstStyle>
            <a:lvl1pPr>
              <a:defRPr sz="4800" b="1">
                <a:latin typeface="+mj-lt"/>
              </a:defRPr>
            </a:lvl1pPr>
          </a:lstStyle>
          <a:p>
            <a:r>
              <a:rPr lang="en-US"/>
              <a:t>Click to edit Master title style</a:t>
            </a:r>
            <a:endParaRPr lang="en-US" dirty="0"/>
          </a:p>
        </p:txBody>
      </p:sp>
      <p:sp>
        <p:nvSpPr>
          <p:cNvPr id="3" name="Content Placeholder 2"/>
          <p:cNvSpPr>
            <a:spLocks noGrp="1"/>
          </p:cNvSpPr>
          <p:nvPr>
            <p:ph idx="1"/>
          </p:nvPr>
        </p:nvSpPr>
        <p:spPr>
          <a:xfrm>
            <a:off x="1167493" y="2087563"/>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0" name="Date Placeholder 3"/>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fld id="{8CE9AC2A-20AD-8C48-B5EB-B5322BDBCDEE}" type="datetime1">
              <a:rPr lang="en-US" smtClean="0"/>
            </a:fld>
            <a:endParaRPr lang="en-US" dirty="0"/>
          </a:p>
        </p:txBody>
      </p:sp>
      <p:sp>
        <p:nvSpPr>
          <p:cNvPr id="11"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r>
              <a:rPr lang="en-US" dirty="0"/>
              <a:t>PRESENTATION TITLE</a:t>
            </a:r>
            <a:endParaRPr lang="en-US" dirty="0"/>
          </a:p>
        </p:txBody>
      </p:sp>
      <p:sp>
        <p:nvSpPr>
          <p:cNvPr id="12" name="Slide Number Placeholder 5"/>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98721" y="1684338"/>
            <a:ext cx="8594558" cy="2810460"/>
          </a:xfrm>
        </p:spPr>
        <p:txBody>
          <a:bodyPr>
            <a:noAutofit/>
          </a:bodyPr>
          <a:lstStyle>
            <a:lvl1pPr algn="ctr">
              <a:lnSpc>
                <a:spcPct val="100000"/>
              </a:lnSpc>
              <a:defRPr sz="4600">
                <a:solidFill>
                  <a:schemeClr val="bg1"/>
                </a:solidFill>
                <a:latin typeface="+mj-lt"/>
              </a:defRPr>
            </a:lvl1pPr>
          </a:lstStyle>
          <a:p>
            <a:r>
              <a:rPr lang="en-US"/>
              <a:t>Click to edit Master title style</a:t>
            </a:r>
            <a:endParaRPr lang="en-US" dirty="0"/>
          </a:p>
        </p:txBody>
      </p:sp>
      <p:sp>
        <p:nvSpPr>
          <p:cNvPr id="8" name="Text Placeholder 7"/>
          <p:cNvSpPr>
            <a:spLocks noGrp="1"/>
          </p:cNvSpPr>
          <p:nvPr>
            <p:ph type="body" sz="quarter" idx="13" hasCustomPrompt="1"/>
          </p:nvPr>
        </p:nvSpPr>
        <p:spPr>
          <a:xfrm>
            <a:off x="381000" y="519405"/>
            <a:ext cx="1364297" cy="1094521"/>
          </a:xfrm>
        </p:spPr>
        <p:txBody>
          <a:bodyPr>
            <a:noAutofit/>
          </a:bodyPr>
          <a:lstStyle>
            <a:lvl1pPr marL="0" indent="0" algn="ctr">
              <a:buNone/>
              <a:defRPr sz="23900" b="1">
                <a:solidFill>
                  <a:schemeClr val="accent1">
                    <a:lumMod val="75000"/>
                  </a:schemeClr>
                </a:solidFill>
                <a:latin typeface="Tenorite" pitchFamily="2" charset="0"/>
              </a:defRPr>
            </a:lvl1pPr>
            <a:lvl2pPr marL="457200" indent="0">
              <a:buNone/>
              <a:defRPr b="1">
                <a:solidFill>
                  <a:schemeClr val="bg1"/>
                </a:solidFill>
                <a:latin typeface="Tenorite" pitchFamily="2" charset="0"/>
              </a:defRPr>
            </a:lvl2pPr>
            <a:lvl3pPr marL="914400" indent="0">
              <a:buNone/>
              <a:defRPr b="1">
                <a:solidFill>
                  <a:schemeClr val="bg1"/>
                </a:solidFill>
                <a:latin typeface="Tenorite" pitchFamily="2" charset="0"/>
              </a:defRPr>
            </a:lvl3pPr>
            <a:lvl4pPr marL="1371600" indent="0">
              <a:buNone/>
              <a:defRPr b="1">
                <a:solidFill>
                  <a:schemeClr val="bg1"/>
                </a:solidFill>
                <a:latin typeface="Tenorite" pitchFamily="2" charset="0"/>
              </a:defRPr>
            </a:lvl4pPr>
            <a:lvl5pPr marL="1828800" indent="0">
              <a:buNone/>
              <a:defRPr b="1">
                <a:solidFill>
                  <a:schemeClr val="bg1"/>
                </a:solidFill>
                <a:latin typeface="Tenorite" pitchFamily="2" charset="0"/>
              </a:defRPr>
            </a:lvl5pPr>
          </a:lstStyle>
          <a:p>
            <a:pPr lvl="0"/>
            <a:r>
              <a:rPr lang="en-US" dirty="0"/>
              <a:t>“</a:t>
            </a:r>
            <a:endParaRPr lang="en-US" dirty="0"/>
          </a:p>
        </p:txBody>
      </p:sp>
      <p:sp>
        <p:nvSpPr>
          <p:cNvPr id="10" name="Text Placeholder 9"/>
          <p:cNvSpPr>
            <a:spLocks noGrp="1"/>
          </p:cNvSpPr>
          <p:nvPr>
            <p:ph type="body" sz="quarter" idx="14"/>
          </p:nvPr>
        </p:nvSpPr>
        <p:spPr>
          <a:xfrm>
            <a:off x="6881813" y="4494213"/>
            <a:ext cx="3511550" cy="679450"/>
          </a:xfrm>
        </p:spPr>
        <p:txBody>
          <a:bodyPr>
            <a:noAutofit/>
          </a:bodyPr>
          <a:lstStyle>
            <a:lvl1pPr marL="0" indent="0" algn="r">
              <a:buNone/>
              <a:defRPr sz="2000">
                <a:solidFill>
                  <a:schemeClr val="bg1"/>
                </a:solidFill>
                <a:latin typeface="+mn-lt"/>
              </a:defRPr>
            </a:lvl1pPr>
            <a:lvl2pPr marL="457200" indent="0" algn="r">
              <a:buNone/>
              <a:defRPr sz="1800">
                <a:solidFill>
                  <a:schemeClr val="bg1"/>
                </a:solidFill>
                <a:latin typeface="Tenorite" pitchFamily="2" charset="0"/>
              </a:defRPr>
            </a:lvl2pPr>
            <a:lvl3pPr marL="914400" indent="0" algn="r">
              <a:buNone/>
              <a:defRPr sz="1600">
                <a:solidFill>
                  <a:schemeClr val="bg1"/>
                </a:solidFill>
                <a:latin typeface="Tenorite" pitchFamily="2" charset="0"/>
              </a:defRPr>
            </a:lvl3pPr>
            <a:lvl4pPr marL="1371600" indent="0" algn="r">
              <a:buNone/>
              <a:defRPr sz="1400">
                <a:solidFill>
                  <a:schemeClr val="bg1"/>
                </a:solidFill>
                <a:latin typeface="Tenorite" pitchFamily="2" charset="0"/>
              </a:defRPr>
            </a:lvl4pPr>
            <a:lvl5pPr marL="1828800" indent="0" algn="r">
              <a:buNone/>
              <a:defRPr sz="1400">
                <a:solidFill>
                  <a:schemeClr val="bg1"/>
                </a:solidFill>
                <a:latin typeface="Tenorite" pitchFamily="2" charset="0"/>
              </a:defRPr>
            </a:lvl5pPr>
          </a:lstStyle>
          <a:p>
            <a:pPr lvl="0"/>
            <a:r>
              <a:rPr lang="en-US"/>
              <a:t>Click to edit Master text styles</a:t>
            </a:r>
            <a:endParaRPr lang="en-US"/>
          </a:p>
        </p:txBody>
      </p:sp>
      <p:sp>
        <p:nvSpPr>
          <p:cNvPr id="9" name="Text Placeholder 7"/>
          <p:cNvSpPr>
            <a:spLocks noGrp="1"/>
          </p:cNvSpPr>
          <p:nvPr>
            <p:ph type="body" sz="quarter" idx="15" hasCustomPrompt="1"/>
          </p:nvPr>
        </p:nvSpPr>
        <p:spPr>
          <a:xfrm>
            <a:off x="10609104" y="3399692"/>
            <a:ext cx="1364297" cy="1094521"/>
          </a:xfrm>
        </p:spPr>
        <p:txBody>
          <a:bodyPr>
            <a:noAutofit/>
          </a:bodyPr>
          <a:lstStyle>
            <a:lvl1pPr marL="0" indent="0" algn="ctr">
              <a:buNone/>
              <a:defRPr sz="23900" b="1">
                <a:solidFill>
                  <a:schemeClr val="accent1">
                    <a:lumMod val="75000"/>
                  </a:schemeClr>
                </a:solidFill>
                <a:latin typeface="Tenorite" pitchFamily="2" charset="0"/>
              </a:defRPr>
            </a:lvl1pPr>
            <a:lvl2pPr marL="457200" indent="0">
              <a:buNone/>
              <a:defRPr b="1">
                <a:solidFill>
                  <a:schemeClr val="bg1"/>
                </a:solidFill>
                <a:latin typeface="Tenorite" pitchFamily="2" charset="0"/>
              </a:defRPr>
            </a:lvl2pPr>
            <a:lvl3pPr marL="914400" indent="0">
              <a:buNone/>
              <a:defRPr b="1">
                <a:solidFill>
                  <a:schemeClr val="bg1"/>
                </a:solidFill>
                <a:latin typeface="Tenorite" pitchFamily="2" charset="0"/>
              </a:defRPr>
            </a:lvl3pPr>
            <a:lvl4pPr marL="1371600" indent="0">
              <a:buNone/>
              <a:defRPr b="1">
                <a:solidFill>
                  <a:schemeClr val="bg1"/>
                </a:solidFill>
                <a:latin typeface="Tenorite" pitchFamily="2" charset="0"/>
              </a:defRPr>
            </a:lvl4pPr>
            <a:lvl5pPr marL="1828800" indent="0">
              <a:buNone/>
              <a:defRPr b="1">
                <a:solidFill>
                  <a:schemeClr val="bg1"/>
                </a:solidFill>
                <a:latin typeface="Tenorite" pitchFamily="2" charset="0"/>
              </a:defRPr>
            </a:lvl5pPr>
          </a:lstStyle>
          <a:p>
            <a:pPr lvl="0"/>
            <a:r>
              <a:rPr lang="en-US" dirty="0"/>
              <a:t>”</a:t>
            </a:r>
            <a:endParaRPr lang="en-US" dirty="0"/>
          </a:p>
        </p:txBody>
      </p:sp>
      <p:sp>
        <p:nvSpPr>
          <p:cNvPr id="3" name="Date Placeholder 2"/>
          <p:cNvSpPr>
            <a:spLocks noGrp="1"/>
          </p:cNvSpPr>
          <p:nvPr>
            <p:ph type="dt" sz="half" idx="10"/>
          </p:nvPr>
        </p:nvSpPr>
        <p:spPr/>
        <p:txBody>
          <a:bodyPr>
            <a:noAutofit/>
          </a:bodyPr>
          <a:lstStyle>
            <a:lvl1pPr>
              <a:defRPr>
                <a:solidFill>
                  <a:schemeClr val="accent2"/>
                </a:solidFill>
                <a:latin typeface="+mn-lt"/>
              </a:defRPr>
            </a:lvl1pPr>
          </a:lstStyle>
          <a:p>
            <a:fld id="{4CF75428-5BE0-934D-BB71-675F8E23A386}" type="datetime1">
              <a:rPr lang="en-US" smtClean="0"/>
            </a:fld>
            <a:endParaRPr lang="en-US" dirty="0"/>
          </a:p>
        </p:txBody>
      </p:sp>
      <p:sp>
        <p:nvSpPr>
          <p:cNvPr id="4" name="Footer Placeholder 3"/>
          <p:cNvSpPr>
            <a:spLocks noGrp="1"/>
          </p:cNvSpPr>
          <p:nvPr>
            <p:ph type="ftr" sz="quarter" idx="11"/>
          </p:nvPr>
        </p:nvSpPr>
        <p:spPr/>
        <p:txBody>
          <a:bodyPr>
            <a:noAutofit/>
          </a:bodyPr>
          <a:lstStyle>
            <a:lvl1pPr>
              <a:defRPr>
                <a:solidFill>
                  <a:schemeClr val="accent2"/>
                </a:solidFill>
                <a:latin typeface="+mn-lt"/>
              </a:defRPr>
            </a:lvl1pPr>
          </a:lstStyle>
          <a:p>
            <a:r>
              <a:rPr lang="en-US" dirty="0"/>
              <a:t>PRESENTATION TITLE</a:t>
            </a:r>
            <a:endParaRPr lang="en-US" dirty="0"/>
          </a:p>
        </p:txBody>
      </p:sp>
      <p:sp>
        <p:nvSpPr>
          <p:cNvPr id="5" name="Slide Number Placeholder 4"/>
          <p:cNvSpPr>
            <a:spLocks noGrp="1"/>
          </p:cNvSpPr>
          <p:nvPr>
            <p:ph type="sldNum" sz="quarter" idx="12"/>
          </p:nvPr>
        </p:nvSpPr>
        <p:spPr/>
        <p:txBody>
          <a:bodyPr>
            <a:noAutofit/>
          </a:bodyPr>
          <a:lstStyle>
            <a:lvl1pPr>
              <a:defRPr>
                <a:solidFill>
                  <a:schemeClr val="accent2"/>
                </a:solidFill>
                <a:latin typeface="+mn-lt"/>
              </a:defRPr>
            </a:lvl1pPr>
          </a:lstStyle>
          <a:p>
            <a:fld id="{294A09A9-5501-47C1-A89A-A340965A2BE2}"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30" name="Rectangle 29"/>
          <p:cNvSpPr/>
          <p:nvPr userDrawn="1"/>
        </p:nvSpPr>
        <p:spPr>
          <a:xfrm>
            <a:off x="0" y="-1664"/>
            <a:ext cx="9857012" cy="68596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itle 1"/>
          <p:cNvSpPr>
            <a:spLocks noGrp="1"/>
          </p:cNvSpPr>
          <p:nvPr>
            <p:ph type="title"/>
          </p:nvPr>
        </p:nvSpPr>
        <p:spPr>
          <a:xfrm>
            <a:off x="750430" y="381000"/>
            <a:ext cx="8401624" cy="1325563"/>
          </a:xfrm>
        </p:spPr>
        <p:txBody>
          <a:bodyPr lIns="0" anchor="b">
            <a:noAutofit/>
          </a:bodyPr>
          <a:lstStyle>
            <a:lvl1pPr>
              <a:defRPr sz="4800" b="1">
                <a:latin typeface="+mj-lt"/>
              </a:defRPr>
            </a:lvl1pPr>
          </a:lstStyle>
          <a:p>
            <a:r>
              <a:rPr lang="en-US"/>
              <a:t>Click to edit Master title style</a:t>
            </a:r>
            <a:endParaRPr lang="en-US" dirty="0"/>
          </a:p>
        </p:txBody>
      </p:sp>
      <p:sp>
        <p:nvSpPr>
          <p:cNvPr id="6" name="Picture Placeholder 23"/>
          <p:cNvSpPr>
            <a:spLocks noGrp="1"/>
          </p:cNvSpPr>
          <p:nvPr>
            <p:ph type="pic" sz="quarter" idx="13"/>
          </p:nvPr>
        </p:nvSpPr>
        <p:spPr>
          <a:xfrm>
            <a:off x="750429" y="2227758"/>
            <a:ext cx="1200374" cy="1201242"/>
          </a:xfrm>
        </p:spPr>
        <p:txBody>
          <a:bodyPr>
            <a:noAutofit/>
          </a:bodyPr>
          <a:lstStyle>
            <a:lvl1pPr marL="0" indent="0">
              <a:buNone/>
              <a:defRPr sz="1400">
                <a:solidFill>
                  <a:schemeClr val="tx1"/>
                </a:solidFill>
                <a:latin typeface="+mn-lt"/>
              </a:defRPr>
            </a:lvl1pPr>
          </a:lstStyle>
          <a:p>
            <a:r>
              <a:rPr lang="en-US"/>
              <a:t>Click icon to add picture</a:t>
            </a:r>
            <a:endParaRPr lang="en-US" dirty="0"/>
          </a:p>
        </p:txBody>
      </p:sp>
      <p:sp>
        <p:nvSpPr>
          <p:cNvPr id="10" name="Text Placeholder 28"/>
          <p:cNvSpPr>
            <a:spLocks noGrp="1"/>
          </p:cNvSpPr>
          <p:nvPr>
            <p:ph type="body" sz="quarter" idx="17" hasCustomPrompt="1"/>
          </p:nvPr>
        </p:nvSpPr>
        <p:spPr>
          <a:xfrm>
            <a:off x="2123351" y="2426400"/>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endParaRPr lang="en-US" dirty="0"/>
          </a:p>
        </p:txBody>
      </p:sp>
      <p:sp>
        <p:nvSpPr>
          <p:cNvPr id="11" name="Text Placeholder 28"/>
          <p:cNvSpPr>
            <a:spLocks noGrp="1"/>
          </p:cNvSpPr>
          <p:nvPr>
            <p:ph type="body" sz="quarter" idx="18" hasCustomPrompt="1"/>
          </p:nvPr>
        </p:nvSpPr>
        <p:spPr>
          <a:xfrm>
            <a:off x="2123350" y="2811646"/>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endParaRPr lang="en-US" dirty="0"/>
          </a:p>
        </p:txBody>
      </p:sp>
      <p:sp>
        <p:nvSpPr>
          <p:cNvPr id="7" name="Picture Placeholder 23"/>
          <p:cNvSpPr>
            <a:spLocks noGrp="1"/>
          </p:cNvSpPr>
          <p:nvPr>
            <p:ph type="pic" sz="quarter" idx="14"/>
          </p:nvPr>
        </p:nvSpPr>
        <p:spPr>
          <a:xfrm>
            <a:off x="5495813" y="2227758"/>
            <a:ext cx="1200374" cy="1201242"/>
          </a:xfrm>
        </p:spPr>
        <p:txBody>
          <a:bodyPr>
            <a:noAutofit/>
          </a:bodyPr>
          <a:lstStyle>
            <a:lvl1pPr marL="0" indent="0">
              <a:buNone/>
              <a:defRPr sz="1400">
                <a:solidFill>
                  <a:schemeClr val="tx1"/>
                </a:solidFill>
                <a:latin typeface="+mn-lt"/>
              </a:defRPr>
            </a:lvl1pPr>
          </a:lstStyle>
          <a:p>
            <a:r>
              <a:rPr lang="en-US"/>
              <a:t>Click icon to add picture</a:t>
            </a:r>
            <a:endParaRPr lang="en-US" dirty="0"/>
          </a:p>
        </p:txBody>
      </p:sp>
      <p:sp>
        <p:nvSpPr>
          <p:cNvPr id="12" name="Text Placeholder 28"/>
          <p:cNvSpPr>
            <a:spLocks noGrp="1"/>
          </p:cNvSpPr>
          <p:nvPr>
            <p:ph type="body" sz="quarter" idx="19" hasCustomPrompt="1"/>
          </p:nvPr>
        </p:nvSpPr>
        <p:spPr>
          <a:xfrm>
            <a:off x="6870817" y="2422565"/>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endParaRPr lang="en-US" dirty="0"/>
          </a:p>
        </p:txBody>
      </p:sp>
      <p:sp>
        <p:nvSpPr>
          <p:cNvPr id="13" name="Text Placeholder 28"/>
          <p:cNvSpPr>
            <a:spLocks noGrp="1"/>
          </p:cNvSpPr>
          <p:nvPr>
            <p:ph type="body" sz="quarter" idx="20" hasCustomPrompt="1"/>
          </p:nvPr>
        </p:nvSpPr>
        <p:spPr>
          <a:xfrm>
            <a:off x="6870816" y="2807811"/>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endParaRPr lang="en-US" dirty="0"/>
          </a:p>
        </p:txBody>
      </p:sp>
      <p:sp>
        <p:nvSpPr>
          <p:cNvPr id="8" name="Picture Placeholder 23"/>
          <p:cNvSpPr>
            <a:spLocks noGrp="1"/>
          </p:cNvSpPr>
          <p:nvPr>
            <p:ph type="pic" sz="quarter" idx="15"/>
          </p:nvPr>
        </p:nvSpPr>
        <p:spPr>
          <a:xfrm>
            <a:off x="750429" y="4254273"/>
            <a:ext cx="1200374" cy="1201242"/>
          </a:xfrm>
        </p:spPr>
        <p:txBody>
          <a:bodyPr>
            <a:noAutofit/>
          </a:bodyPr>
          <a:lstStyle>
            <a:lvl1pPr marL="0" indent="0">
              <a:buNone/>
              <a:defRPr sz="1400">
                <a:solidFill>
                  <a:schemeClr val="tx1"/>
                </a:solidFill>
                <a:latin typeface="+mn-lt"/>
              </a:defRPr>
            </a:lvl1pPr>
          </a:lstStyle>
          <a:p>
            <a:r>
              <a:rPr lang="en-US"/>
              <a:t>Click icon to add picture</a:t>
            </a:r>
            <a:endParaRPr lang="en-US" dirty="0"/>
          </a:p>
        </p:txBody>
      </p:sp>
      <p:sp>
        <p:nvSpPr>
          <p:cNvPr id="14" name="Text Placeholder 28"/>
          <p:cNvSpPr>
            <a:spLocks noGrp="1"/>
          </p:cNvSpPr>
          <p:nvPr>
            <p:ph type="body" sz="quarter" idx="21" hasCustomPrompt="1"/>
          </p:nvPr>
        </p:nvSpPr>
        <p:spPr>
          <a:xfrm>
            <a:off x="2123351" y="4498793"/>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endParaRPr lang="en-US" dirty="0"/>
          </a:p>
        </p:txBody>
      </p:sp>
      <p:sp>
        <p:nvSpPr>
          <p:cNvPr id="15" name="Text Placeholder 28"/>
          <p:cNvSpPr>
            <a:spLocks noGrp="1"/>
          </p:cNvSpPr>
          <p:nvPr>
            <p:ph type="body" sz="quarter" idx="22" hasCustomPrompt="1"/>
          </p:nvPr>
        </p:nvSpPr>
        <p:spPr>
          <a:xfrm>
            <a:off x="2123350" y="4884039"/>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endParaRPr lang="en-US" dirty="0"/>
          </a:p>
        </p:txBody>
      </p:sp>
      <p:sp>
        <p:nvSpPr>
          <p:cNvPr id="9" name="Picture Placeholder 23"/>
          <p:cNvSpPr>
            <a:spLocks noGrp="1"/>
          </p:cNvSpPr>
          <p:nvPr>
            <p:ph type="pic" sz="quarter" idx="16"/>
          </p:nvPr>
        </p:nvSpPr>
        <p:spPr>
          <a:xfrm>
            <a:off x="5495813" y="4254273"/>
            <a:ext cx="1200374" cy="1201242"/>
          </a:xfrm>
        </p:spPr>
        <p:txBody>
          <a:bodyPr>
            <a:noAutofit/>
          </a:bodyPr>
          <a:lstStyle>
            <a:lvl1pPr marL="0" indent="0">
              <a:buNone/>
              <a:defRPr sz="1400">
                <a:solidFill>
                  <a:schemeClr val="tx1"/>
                </a:solidFill>
                <a:latin typeface="+mn-lt"/>
              </a:defRPr>
            </a:lvl1pPr>
          </a:lstStyle>
          <a:p>
            <a:r>
              <a:rPr lang="en-US"/>
              <a:t>Click icon to add picture</a:t>
            </a:r>
            <a:endParaRPr lang="en-US" dirty="0"/>
          </a:p>
        </p:txBody>
      </p:sp>
      <p:sp>
        <p:nvSpPr>
          <p:cNvPr id="16" name="Text Placeholder 28"/>
          <p:cNvSpPr>
            <a:spLocks noGrp="1"/>
          </p:cNvSpPr>
          <p:nvPr>
            <p:ph type="body" sz="quarter" idx="23" hasCustomPrompt="1"/>
          </p:nvPr>
        </p:nvSpPr>
        <p:spPr>
          <a:xfrm>
            <a:off x="6870817" y="4498793"/>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endParaRPr lang="en-US" dirty="0"/>
          </a:p>
        </p:txBody>
      </p:sp>
      <p:sp>
        <p:nvSpPr>
          <p:cNvPr id="17" name="Text Placeholder 28"/>
          <p:cNvSpPr>
            <a:spLocks noGrp="1"/>
          </p:cNvSpPr>
          <p:nvPr>
            <p:ph type="body" sz="quarter" idx="24" hasCustomPrompt="1"/>
          </p:nvPr>
        </p:nvSpPr>
        <p:spPr>
          <a:xfrm>
            <a:off x="6870816" y="4884039"/>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endParaRPr lang="en-US" dirty="0"/>
          </a:p>
        </p:txBody>
      </p:sp>
      <p:sp>
        <p:nvSpPr>
          <p:cNvPr id="3" name="Date Placeholder 2"/>
          <p:cNvSpPr>
            <a:spLocks noGrp="1"/>
          </p:cNvSpPr>
          <p:nvPr>
            <p:ph type="dt" sz="half" idx="10"/>
          </p:nvPr>
        </p:nvSpPr>
        <p:spPr>
          <a:xfrm>
            <a:off x="381000" y="6356350"/>
            <a:ext cx="1569803" cy="365125"/>
          </a:xfrm>
        </p:spPr>
        <p:txBody>
          <a:bodyPr>
            <a:noAutofit/>
          </a:bodyPr>
          <a:lstStyle>
            <a:lvl1pPr>
              <a:defRPr>
                <a:solidFill>
                  <a:schemeClr val="accent3"/>
                </a:solidFill>
                <a:latin typeface="+mn-lt"/>
              </a:defRPr>
            </a:lvl1pPr>
          </a:lstStyle>
          <a:p>
            <a:fld id="{9A85C5CA-AE29-AB4C-8F85-0373C72001D8}" type="datetime1">
              <a:rPr lang="en-US" smtClean="0"/>
            </a:fld>
            <a:endParaRPr lang="en-US" dirty="0"/>
          </a:p>
        </p:txBody>
      </p:sp>
      <p:sp>
        <p:nvSpPr>
          <p:cNvPr id="4" name="Footer Placeholder 3"/>
          <p:cNvSpPr>
            <a:spLocks noGrp="1"/>
          </p:cNvSpPr>
          <p:nvPr>
            <p:ph type="ftr" sz="quarter" idx="11"/>
          </p:nvPr>
        </p:nvSpPr>
        <p:spPr>
          <a:xfrm>
            <a:off x="2871106" y="6356350"/>
            <a:ext cx="4114800" cy="365125"/>
          </a:xfrm>
        </p:spPr>
        <p:txBody>
          <a:bodyPr>
            <a:noAutofit/>
          </a:bodyPr>
          <a:lstStyle>
            <a:lvl1pPr>
              <a:defRPr>
                <a:solidFill>
                  <a:schemeClr val="accent3"/>
                </a:solidFill>
                <a:latin typeface="+mn-lt"/>
              </a:defRPr>
            </a:lvl1pPr>
          </a:lstStyle>
          <a:p>
            <a:r>
              <a:rPr lang="en-US" dirty="0"/>
              <a:t>PRESENTATION TITLE</a:t>
            </a:r>
            <a:endParaRPr lang="en-US" dirty="0"/>
          </a:p>
        </p:txBody>
      </p:sp>
      <p:sp>
        <p:nvSpPr>
          <p:cNvPr id="5" name="Slide Number Placeholder 4"/>
          <p:cNvSpPr>
            <a:spLocks noGrp="1"/>
          </p:cNvSpPr>
          <p:nvPr>
            <p:ph type="sldNum" sz="quarter" idx="12"/>
          </p:nvPr>
        </p:nvSpPr>
        <p:spPr>
          <a:xfrm>
            <a:off x="8332334" y="6356350"/>
            <a:ext cx="1167495" cy="365125"/>
          </a:xfrm>
        </p:spPr>
        <p:txBody>
          <a:bodyPr>
            <a:noAutofit/>
          </a:bodyPr>
          <a:lstStyle>
            <a:lvl1pPr>
              <a:defRPr>
                <a:solidFill>
                  <a:schemeClr val="accent3"/>
                </a:solidFill>
                <a:latin typeface="+mn-lt"/>
              </a:defRPr>
            </a:lvl1pPr>
          </a:lstStyle>
          <a:p>
            <a:fld id="{294A09A9-5501-47C1-A89A-A340965A2BE2}" type="slidenum">
              <a:rPr lang="en-US" smtClean="0"/>
            </a:fld>
            <a:endParaRPr lang="en-US" dirty="0"/>
          </a:p>
        </p:txBody>
      </p:sp>
      <p:sp>
        <p:nvSpPr>
          <p:cNvPr id="19" name="Freeform 18"/>
          <p:cNvSpPr/>
          <p:nvPr userDrawn="1"/>
        </p:nvSpPr>
        <p:spPr>
          <a:xfrm rot="16200000" flipV="1">
            <a:off x="9499940" y="355410"/>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20"/>
          <p:cNvSpPr/>
          <p:nvPr userDrawn="1"/>
        </p:nvSpPr>
        <p:spPr>
          <a:xfrm flipH="1">
            <a:off x="10866436" y="1879977"/>
            <a:ext cx="1325563" cy="1325563"/>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24"/>
          <p:cNvSpPr/>
          <p:nvPr userDrawn="1"/>
        </p:nvSpPr>
        <p:spPr>
          <a:xfrm>
            <a:off x="11024507" y="-1664"/>
            <a:ext cx="1167494" cy="1881641"/>
          </a:xfrm>
          <a:custGeom>
            <a:avLst/>
            <a:gdLst>
              <a:gd name="connsiteX0" fmla="*/ 1167473 w 1167494"/>
              <a:gd name="connsiteY0" fmla="*/ 0 h 1881641"/>
              <a:gd name="connsiteX1" fmla="*/ 1167493 w 1167494"/>
              <a:gd name="connsiteY1" fmla="*/ 0 h 1881641"/>
              <a:gd name="connsiteX2" fmla="*/ 1167493 w 1167494"/>
              <a:gd name="connsiteY2" fmla="*/ 714148 h 1881641"/>
              <a:gd name="connsiteX3" fmla="*/ 1166666 w 1167494"/>
              <a:gd name="connsiteY3" fmla="*/ 730534 h 1881641"/>
              <a:gd name="connsiteX4" fmla="*/ 1167494 w 1167494"/>
              <a:gd name="connsiteY4" fmla="*/ 730534 h 1881641"/>
              <a:gd name="connsiteX5" fmla="*/ 1167494 w 1167494"/>
              <a:gd name="connsiteY5" fmla="*/ 1378059 h 1881641"/>
              <a:gd name="connsiteX6" fmla="*/ 1167493 w 1167494"/>
              <a:gd name="connsiteY6" fmla="*/ 1378059 h 1881641"/>
              <a:gd name="connsiteX7" fmla="*/ 1167493 w 1167494"/>
              <a:gd name="connsiteY7" fmla="*/ 1881641 h 1881641"/>
              <a:gd name="connsiteX8" fmla="*/ 0 w 1167494"/>
              <a:gd name="connsiteY8" fmla="*/ 1881641 h 1881641"/>
              <a:gd name="connsiteX9" fmla="*/ 0 w 1167494"/>
              <a:gd name="connsiteY9" fmla="*/ 1234116 h 1881641"/>
              <a:gd name="connsiteX10" fmla="*/ 0 w 1167494"/>
              <a:gd name="connsiteY10" fmla="*/ 1167492 h 1881641"/>
              <a:gd name="connsiteX11" fmla="*/ 1048124 w 1167494"/>
              <a:gd name="connsiteY11" fmla="*/ 6027 h 1881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7494" h="1881641">
                <a:moveTo>
                  <a:pt x="1167473" y="0"/>
                </a:moveTo>
                <a:lnTo>
                  <a:pt x="1167493" y="0"/>
                </a:lnTo>
                <a:lnTo>
                  <a:pt x="1167493" y="714148"/>
                </a:lnTo>
                <a:lnTo>
                  <a:pt x="1166666" y="730534"/>
                </a:lnTo>
                <a:lnTo>
                  <a:pt x="1167494" y="730534"/>
                </a:lnTo>
                <a:lnTo>
                  <a:pt x="1167494" y="1378059"/>
                </a:lnTo>
                <a:lnTo>
                  <a:pt x="1167493" y="1378059"/>
                </a:lnTo>
                <a:lnTo>
                  <a:pt x="1167493" y="1881641"/>
                </a:lnTo>
                <a:lnTo>
                  <a:pt x="0" y="1881641"/>
                </a:lnTo>
                <a:lnTo>
                  <a:pt x="0" y="1234116"/>
                </a:lnTo>
                <a:lnTo>
                  <a:pt x="0" y="1167492"/>
                </a:lnTo>
                <a:cubicBezTo>
                  <a:pt x="0" y="563002"/>
                  <a:pt x="459408" y="65814"/>
                  <a:pt x="1048124" y="6027"/>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Oval 25"/>
          <p:cNvSpPr/>
          <p:nvPr userDrawn="1"/>
        </p:nvSpPr>
        <p:spPr>
          <a:xfrm>
            <a:off x="10334091" y="2737752"/>
            <a:ext cx="1380830" cy="13808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7" name="Freeform 26"/>
          <p:cNvSpPr/>
          <p:nvPr userDrawn="1"/>
        </p:nvSpPr>
        <p:spPr>
          <a:xfrm rot="16200000" flipH="1">
            <a:off x="10667432" y="5333432"/>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p:cNvSpPr/>
          <p:nvPr userDrawn="1"/>
        </p:nvSpPr>
        <p:spPr>
          <a:xfrm flipV="1">
            <a:off x="9857012" y="3651505"/>
            <a:ext cx="1325563" cy="1325563"/>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9" name="Freeform 28"/>
          <p:cNvSpPr/>
          <p:nvPr userDrawn="1"/>
        </p:nvSpPr>
        <p:spPr>
          <a:xfrm flipH="1" flipV="1">
            <a:off x="9857013" y="4976359"/>
            <a:ext cx="1167494" cy="1881641"/>
          </a:xfrm>
          <a:custGeom>
            <a:avLst/>
            <a:gdLst>
              <a:gd name="connsiteX0" fmla="*/ 1167473 w 1167494"/>
              <a:gd name="connsiteY0" fmla="*/ 0 h 1881641"/>
              <a:gd name="connsiteX1" fmla="*/ 1167493 w 1167494"/>
              <a:gd name="connsiteY1" fmla="*/ 0 h 1881641"/>
              <a:gd name="connsiteX2" fmla="*/ 1167493 w 1167494"/>
              <a:gd name="connsiteY2" fmla="*/ 714148 h 1881641"/>
              <a:gd name="connsiteX3" fmla="*/ 1166666 w 1167494"/>
              <a:gd name="connsiteY3" fmla="*/ 730534 h 1881641"/>
              <a:gd name="connsiteX4" fmla="*/ 1167494 w 1167494"/>
              <a:gd name="connsiteY4" fmla="*/ 730534 h 1881641"/>
              <a:gd name="connsiteX5" fmla="*/ 1167494 w 1167494"/>
              <a:gd name="connsiteY5" fmla="*/ 1378059 h 1881641"/>
              <a:gd name="connsiteX6" fmla="*/ 1167493 w 1167494"/>
              <a:gd name="connsiteY6" fmla="*/ 1378059 h 1881641"/>
              <a:gd name="connsiteX7" fmla="*/ 1167493 w 1167494"/>
              <a:gd name="connsiteY7" fmla="*/ 1881641 h 1881641"/>
              <a:gd name="connsiteX8" fmla="*/ 0 w 1167494"/>
              <a:gd name="connsiteY8" fmla="*/ 1881641 h 1881641"/>
              <a:gd name="connsiteX9" fmla="*/ 0 w 1167494"/>
              <a:gd name="connsiteY9" fmla="*/ 1234116 h 1881641"/>
              <a:gd name="connsiteX10" fmla="*/ 0 w 1167494"/>
              <a:gd name="connsiteY10" fmla="*/ 1167492 h 1881641"/>
              <a:gd name="connsiteX11" fmla="*/ 1048124 w 1167494"/>
              <a:gd name="connsiteY11" fmla="*/ 6027 h 1881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7494" h="1881641">
                <a:moveTo>
                  <a:pt x="1167473" y="0"/>
                </a:moveTo>
                <a:lnTo>
                  <a:pt x="1167493" y="0"/>
                </a:lnTo>
                <a:lnTo>
                  <a:pt x="1167493" y="714148"/>
                </a:lnTo>
                <a:lnTo>
                  <a:pt x="1166666" y="730534"/>
                </a:lnTo>
                <a:lnTo>
                  <a:pt x="1167494" y="730534"/>
                </a:lnTo>
                <a:lnTo>
                  <a:pt x="1167494" y="1378059"/>
                </a:lnTo>
                <a:lnTo>
                  <a:pt x="1167493" y="1378059"/>
                </a:lnTo>
                <a:lnTo>
                  <a:pt x="1167493" y="1881641"/>
                </a:lnTo>
                <a:lnTo>
                  <a:pt x="0" y="1881641"/>
                </a:lnTo>
                <a:lnTo>
                  <a:pt x="0" y="1234116"/>
                </a:lnTo>
                <a:lnTo>
                  <a:pt x="0" y="1167492"/>
                </a:lnTo>
                <a:cubicBezTo>
                  <a:pt x="0" y="563002"/>
                  <a:pt x="459408" y="65814"/>
                  <a:pt x="1048124" y="6027"/>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Whole team">
    <p:bg>
      <p:bgPr>
        <a:solidFill>
          <a:schemeClr val="accent2"/>
        </a:solidFill>
        <a:effectLst/>
      </p:bgPr>
    </p:bg>
    <p:spTree>
      <p:nvGrpSpPr>
        <p:cNvPr id="1" name=""/>
        <p:cNvGrpSpPr/>
        <p:nvPr/>
      </p:nvGrpSpPr>
      <p:grpSpPr>
        <a:xfrm>
          <a:off x="0" y="0"/>
          <a:ext cx="0" cy="0"/>
          <a:chOff x="0" y="0"/>
          <a:chExt cx="0" cy="0"/>
        </a:xfrm>
      </p:grpSpPr>
      <p:sp>
        <p:nvSpPr>
          <p:cNvPr id="54" name="Title 1"/>
          <p:cNvSpPr>
            <a:spLocks noGrp="1"/>
          </p:cNvSpPr>
          <p:nvPr>
            <p:ph type="title"/>
          </p:nvPr>
        </p:nvSpPr>
        <p:spPr>
          <a:xfrm>
            <a:off x="750430" y="381000"/>
            <a:ext cx="10678142" cy="1325563"/>
          </a:xfrm>
        </p:spPr>
        <p:txBody>
          <a:bodyPr lIns="0" anchor="b">
            <a:noAutofit/>
          </a:bodyPr>
          <a:lstStyle>
            <a:lvl1pPr>
              <a:defRPr sz="4800" b="1">
                <a:latin typeface="+mj-lt"/>
              </a:defRPr>
            </a:lvl1pPr>
          </a:lstStyle>
          <a:p>
            <a:r>
              <a:rPr lang="en-US"/>
              <a:t>Click to edit Master title style</a:t>
            </a:r>
            <a:endParaRPr lang="en-US" dirty="0"/>
          </a:p>
        </p:txBody>
      </p:sp>
      <p:sp>
        <p:nvSpPr>
          <p:cNvPr id="6" name="Picture Placeholder 23"/>
          <p:cNvSpPr>
            <a:spLocks noGrp="1"/>
          </p:cNvSpPr>
          <p:nvPr>
            <p:ph type="pic" sz="quarter" idx="13"/>
          </p:nvPr>
        </p:nvSpPr>
        <p:spPr>
          <a:xfrm>
            <a:off x="750429" y="2068734"/>
            <a:ext cx="904987" cy="905641"/>
          </a:xfrm>
        </p:spPr>
        <p:txBody>
          <a:bodyPr>
            <a:noAutofit/>
          </a:bodyPr>
          <a:lstStyle>
            <a:lvl1pPr marL="0" indent="0">
              <a:buNone/>
              <a:defRPr sz="1400">
                <a:solidFill>
                  <a:schemeClr val="tx1"/>
                </a:solidFill>
              </a:defRPr>
            </a:lvl1pPr>
          </a:lstStyle>
          <a:p>
            <a:r>
              <a:rPr lang="en-US"/>
              <a:t>Click icon to add picture</a:t>
            </a:r>
            <a:endParaRPr lang="en-US" dirty="0"/>
          </a:p>
        </p:txBody>
      </p:sp>
      <p:sp>
        <p:nvSpPr>
          <p:cNvPr id="31" name="Text Placeholder 28"/>
          <p:cNvSpPr>
            <a:spLocks noGrp="1"/>
          </p:cNvSpPr>
          <p:nvPr>
            <p:ph type="body" sz="quarter" idx="17" hasCustomPrompt="1"/>
          </p:nvPr>
        </p:nvSpPr>
        <p:spPr>
          <a:xfrm>
            <a:off x="750430" y="2994545"/>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endParaRPr lang="en-US" dirty="0"/>
          </a:p>
        </p:txBody>
      </p:sp>
      <p:sp>
        <p:nvSpPr>
          <p:cNvPr id="32" name="Text Placeholder 28"/>
          <p:cNvSpPr>
            <a:spLocks noGrp="1"/>
          </p:cNvSpPr>
          <p:nvPr>
            <p:ph type="body" sz="quarter" idx="18" hasCustomPrompt="1"/>
          </p:nvPr>
        </p:nvSpPr>
        <p:spPr>
          <a:xfrm>
            <a:off x="750429" y="3379791"/>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endParaRPr lang="en-US" dirty="0"/>
          </a:p>
        </p:txBody>
      </p:sp>
      <p:sp>
        <p:nvSpPr>
          <p:cNvPr id="33" name="Picture Placeholder 23"/>
          <p:cNvSpPr>
            <a:spLocks noGrp="1"/>
          </p:cNvSpPr>
          <p:nvPr>
            <p:ph type="pic" sz="quarter" idx="28"/>
          </p:nvPr>
        </p:nvSpPr>
        <p:spPr>
          <a:xfrm>
            <a:off x="3549397" y="2068734"/>
            <a:ext cx="904987" cy="905641"/>
          </a:xfrm>
        </p:spPr>
        <p:txBody>
          <a:bodyPr>
            <a:noAutofit/>
          </a:bodyPr>
          <a:lstStyle>
            <a:lvl1pPr marL="0" indent="0">
              <a:buNone/>
              <a:defRPr sz="1400">
                <a:solidFill>
                  <a:schemeClr val="tx1"/>
                </a:solidFill>
              </a:defRPr>
            </a:lvl1pPr>
          </a:lstStyle>
          <a:p>
            <a:r>
              <a:rPr lang="en-US"/>
              <a:t>Click icon to add picture</a:t>
            </a:r>
            <a:endParaRPr lang="en-US" dirty="0"/>
          </a:p>
        </p:txBody>
      </p:sp>
      <p:sp>
        <p:nvSpPr>
          <p:cNvPr id="34" name="Text Placeholder 28"/>
          <p:cNvSpPr>
            <a:spLocks noGrp="1"/>
          </p:cNvSpPr>
          <p:nvPr>
            <p:ph type="body" sz="quarter" idx="29" hasCustomPrompt="1"/>
          </p:nvPr>
        </p:nvSpPr>
        <p:spPr>
          <a:xfrm>
            <a:off x="3549398" y="2994545"/>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endParaRPr lang="en-US" dirty="0"/>
          </a:p>
        </p:txBody>
      </p:sp>
      <p:sp>
        <p:nvSpPr>
          <p:cNvPr id="35" name="Text Placeholder 28"/>
          <p:cNvSpPr>
            <a:spLocks noGrp="1"/>
          </p:cNvSpPr>
          <p:nvPr>
            <p:ph type="body" sz="quarter" idx="30" hasCustomPrompt="1"/>
          </p:nvPr>
        </p:nvSpPr>
        <p:spPr>
          <a:xfrm>
            <a:off x="3549397" y="3379791"/>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endParaRPr lang="en-US" dirty="0"/>
          </a:p>
        </p:txBody>
      </p:sp>
      <p:sp>
        <p:nvSpPr>
          <p:cNvPr id="36" name="Picture Placeholder 23"/>
          <p:cNvSpPr>
            <a:spLocks noGrp="1"/>
          </p:cNvSpPr>
          <p:nvPr>
            <p:ph type="pic" sz="quarter" idx="31"/>
          </p:nvPr>
        </p:nvSpPr>
        <p:spPr>
          <a:xfrm>
            <a:off x="6348367" y="2068734"/>
            <a:ext cx="904987" cy="905641"/>
          </a:xfrm>
        </p:spPr>
        <p:txBody>
          <a:bodyPr>
            <a:noAutofit/>
          </a:bodyPr>
          <a:lstStyle>
            <a:lvl1pPr marL="0" indent="0">
              <a:buNone/>
              <a:defRPr sz="1400">
                <a:solidFill>
                  <a:schemeClr val="tx1"/>
                </a:solidFill>
              </a:defRPr>
            </a:lvl1pPr>
          </a:lstStyle>
          <a:p>
            <a:r>
              <a:rPr lang="en-US"/>
              <a:t>Click icon to add picture</a:t>
            </a:r>
            <a:endParaRPr lang="en-US" dirty="0"/>
          </a:p>
        </p:txBody>
      </p:sp>
      <p:sp>
        <p:nvSpPr>
          <p:cNvPr id="37" name="Text Placeholder 28"/>
          <p:cNvSpPr>
            <a:spLocks noGrp="1"/>
          </p:cNvSpPr>
          <p:nvPr>
            <p:ph type="body" sz="quarter" idx="32" hasCustomPrompt="1"/>
          </p:nvPr>
        </p:nvSpPr>
        <p:spPr>
          <a:xfrm>
            <a:off x="6348368" y="2994545"/>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endParaRPr lang="en-US" dirty="0"/>
          </a:p>
        </p:txBody>
      </p:sp>
      <p:sp>
        <p:nvSpPr>
          <p:cNvPr id="38" name="Text Placeholder 28"/>
          <p:cNvSpPr>
            <a:spLocks noGrp="1"/>
          </p:cNvSpPr>
          <p:nvPr>
            <p:ph type="body" sz="quarter" idx="33" hasCustomPrompt="1"/>
          </p:nvPr>
        </p:nvSpPr>
        <p:spPr>
          <a:xfrm>
            <a:off x="6348367" y="3379791"/>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endParaRPr lang="en-US" dirty="0"/>
          </a:p>
        </p:txBody>
      </p:sp>
      <p:sp>
        <p:nvSpPr>
          <p:cNvPr id="39" name="Picture Placeholder 23"/>
          <p:cNvSpPr>
            <a:spLocks noGrp="1"/>
          </p:cNvSpPr>
          <p:nvPr>
            <p:ph type="pic" sz="quarter" idx="34"/>
          </p:nvPr>
        </p:nvSpPr>
        <p:spPr>
          <a:xfrm>
            <a:off x="9147335" y="2068734"/>
            <a:ext cx="904987" cy="905641"/>
          </a:xfrm>
        </p:spPr>
        <p:txBody>
          <a:bodyPr>
            <a:noAutofit/>
          </a:bodyPr>
          <a:lstStyle>
            <a:lvl1pPr marL="0" indent="0">
              <a:buNone/>
              <a:defRPr sz="1400">
                <a:solidFill>
                  <a:schemeClr val="tx1"/>
                </a:solidFill>
              </a:defRPr>
            </a:lvl1pPr>
          </a:lstStyle>
          <a:p>
            <a:r>
              <a:rPr lang="en-US"/>
              <a:t>Click icon to add picture</a:t>
            </a:r>
            <a:endParaRPr lang="en-US" dirty="0"/>
          </a:p>
        </p:txBody>
      </p:sp>
      <p:sp>
        <p:nvSpPr>
          <p:cNvPr id="40" name="Text Placeholder 28"/>
          <p:cNvSpPr>
            <a:spLocks noGrp="1"/>
          </p:cNvSpPr>
          <p:nvPr>
            <p:ph type="body" sz="quarter" idx="35" hasCustomPrompt="1"/>
          </p:nvPr>
        </p:nvSpPr>
        <p:spPr>
          <a:xfrm>
            <a:off x="9147336" y="2994545"/>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endParaRPr lang="en-US" dirty="0"/>
          </a:p>
        </p:txBody>
      </p:sp>
      <p:sp>
        <p:nvSpPr>
          <p:cNvPr id="41" name="Text Placeholder 28"/>
          <p:cNvSpPr>
            <a:spLocks noGrp="1"/>
          </p:cNvSpPr>
          <p:nvPr>
            <p:ph type="body" sz="quarter" idx="36" hasCustomPrompt="1"/>
          </p:nvPr>
        </p:nvSpPr>
        <p:spPr>
          <a:xfrm>
            <a:off x="9147335" y="3379791"/>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endParaRPr lang="en-US" dirty="0"/>
          </a:p>
        </p:txBody>
      </p:sp>
      <p:sp>
        <p:nvSpPr>
          <p:cNvPr id="42" name="Picture Placeholder 23"/>
          <p:cNvSpPr>
            <a:spLocks noGrp="1"/>
          </p:cNvSpPr>
          <p:nvPr>
            <p:ph type="pic" sz="quarter" idx="37"/>
          </p:nvPr>
        </p:nvSpPr>
        <p:spPr>
          <a:xfrm>
            <a:off x="750429" y="4118551"/>
            <a:ext cx="904987" cy="905641"/>
          </a:xfrm>
        </p:spPr>
        <p:txBody>
          <a:bodyPr>
            <a:noAutofit/>
          </a:bodyPr>
          <a:lstStyle>
            <a:lvl1pPr marL="0" indent="0">
              <a:buNone/>
              <a:defRPr sz="1400">
                <a:solidFill>
                  <a:schemeClr val="tx1"/>
                </a:solidFill>
              </a:defRPr>
            </a:lvl1pPr>
          </a:lstStyle>
          <a:p>
            <a:r>
              <a:rPr lang="en-US"/>
              <a:t>Click icon to add picture</a:t>
            </a:r>
            <a:endParaRPr lang="en-US" dirty="0"/>
          </a:p>
        </p:txBody>
      </p:sp>
      <p:sp>
        <p:nvSpPr>
          <p:cNvPr id="43" name="Text Placeholder 28"/>
          <p:cNvSpPr>
            <a:spLocks noGrp="1"/>
          </p:cNvSpPr>
          <p:nvPr>
            <p:ph type="body" sz="quarter" idx="38" hasCustomPrompt="1"/>
          </p:nvPr>
        </p:nvSpPr>
        <p:spPr>
          <a:xfrm>
            <a:off x="750430" y="5044362"/>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endParaRPr lang="en-US" dirty="0"/>
          </a:p>
        </p:txBody>
      </p:sp>
      <p:sp>
        <p:nvSpPr>
          <p:cNvPr id="44" name="Text Placeholder 28"/>
          <p:cNvSpPr>
            <a:spLocks noGrp="1"/>
          </p:cNvSpPr>
          <p:nvPr>
            <p:ph type="body" sz="quarter" idx="39" hasCustomPrompt="1"/>
          </p:nvPr>
        </p:nvSpPr>
        <p:spPr>
          <a:xfrm>
            <a:off x="750429" y="5429608"/>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endParaRPr lang="en-US" dirty="0"/>
          </a:p>
        </p:txBody>
      </p:sp>
      <p:sp>
        <p:nvSpPr>
          <p:cNvPr id="45" name="Picture Placeholder 23"/>
          <p:cNvSpPr>
            <a:spLocks noGrp="1"/>
          </p:cNvSpPr>
          <p:nvPr>
            <p:ph type="pic" sz="quarter" idx="40"/>
          </p:nvPr>
        </p:nvSpPr>
        <p:spPr>
          <a:xfrm>
            <a:off x="3549397" y="4118551"/>
            <a:ext cx="904987" cy="905641"/>
          </a:xfrm>
        </p:spPr>
        <p:txBody>
          <a:bodyPr>
            <a:noAutofit/>
          </a:bodyPr>
          <a:lstStyle>
            <a:lvl1pPr marL="0" indent="0">
              <a:buNone/>
              <a:defRPr sz="1400">
                <a:solidFill>
                  <a:schemeClr val="tx1"/>
                </a:solidFill>
              </a:defRPr>
            </a:lvl1pPr>
          </a:lstStyle>
          <a:p>
            <a:r>
              <a:rPr lang="en-US"/>
              <a:t>Click icon to add picture</a:t>
            </a:r>
            <a:endParaRPr lang="en-US" dirty="0"/>
          </a:p>
        </p:txBody>
      </p:sp>
      <p:sp>
        <p:nvSpPr>
          <p:cNvPr id="46" name="Text Placeholder 28"/>
          <p:cNvSpPr>
            <a:spLocks noGrp="1"/>
          </p:cNvSpPr>
          <p:nvPr>
            <p:ph type="body" sz="quarter" idx="41" hasCustomPrompt="1"/>
          </p:nvPr>
        </p:nvSpPr>
        <p:spPr>
          <a:xfrm>
            <a:off x="3549398" y="5044362"/>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endParaRPr lang="en-US" dirty="0"/>
          </a:p>
        </p:txBody>
      </p:sp>
      <p:sp>
        <p:nvSpPr>
          <p:cNvPr id="47" name="Text Placeholder 28"/>
          <p:cNvSpPr>
            <a:spLocks noGrp="1"/>
          </p:cNvSpPr>
          <p:nvPr>
            <p:ph type="body" sz="quarter" idx="42" hasCustomPrompt="1"/>
          </p:nvPr>
        </p:nvSpPr>
        <p:spPr>
          <a:xfrm>
            <a:off x="3549397" y="5429608"/>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endParaRPr lang="en-US" dirty="0"/>
          </a:p>
        </p:txBody>
      </p:sp>
      <p:sp>
        <p:nvSpPr>
          <p:cNvPr id="48" name="Picture Placeholder 23"/>
          <p:cNvSpPr>
            <a:spLocks noGrp="1"/>
          </p:cNvSpPr>
          <p:nvPr>
            <p:ph type="pic" sz="quarter" idx="43"/>
          </p:nvPr>
        </p:nvSpPr>
        <p:spPr>
          <a:xfrm>
            <a:off x="6348367" y="4118551"/>
            <a:ext cx="904987" cy="905641"/>
          </a:xfrm>
        </p:spPr>
        <p:txBody>
          <a:bodyPr>
            <a:noAutofit/>
          </a:bodyPr>
          <a:lstStyle>
            <a:lvl1pPr marL="0" indent="0">
              <a:buNone/>
              <a:defRPr sz="1400">
                <a:solidFill>
                  <a:schemeClr val="tx1"/>
                </a:solidFill>
              </a:defRPr>
            </a:lvl1pPr>
          </a:lstStyle>
          <a:p>
            <a:r>
              <a:rPr lang="en-US"/>
              <a:t>Click icon to add picture</a:t>
            </a:r>
            <a:endParaRPr lang="en-US" dirty="0"/>
          </a:p>
        </p:txBody>
      </p:sp>
      <p:sp>
        <p:nvSpPr>
          <p:cNvPr id="49" name="Text Placeholder 28"/>
          <p:cNvSpPr>
            <a:spLocks noGrp="1"/>
          </p:cNvSpPr>
          <p:nvPr>
            <p:ph type="body" sz="quarter" idx="44" hasCustomPrompt="1"/>
          </p:nvPr>
        </p:nvSpPr>
        <p:spPr>
          <a:xfrm>
            <a:off x="6348368" y="5044362"/>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endParaRPr lang="en-US" dirty="0"/>
          </a:p>
        </p:txBody>
      </p:sp>
      <p:sp>
        <p:nvSpPr>
          <p:cNvPr id="50" name="Text Placeholder 28"/>
          <p:cNvSpPr>
            <a:spLocks noGrp="1"/>
          </p:cNvSpPr>
          <p:nvPr>
            <p:ph type="body" sz="quarter" idx="45" hasCustomPrompt="1"/>
          </p:nvPr>
        </p:nvSpPr>
        <p:spPr>
          <a:xfrm>
            <a:off x="6348367" y="5429608"/>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endParaRPr lang="en-US" dirty="0"/>
          </a:p>
        </p:txBody>
      </p:sp>
      <p:sp>
        <p:nvSpPr>
          <p:cNvPr id="51" name="Picture Placeholder 23"/>
          <p:cNvSpPr>
            <a:spLocks noGrp="1"/>
          </p:cNvSpPr>
          <p:nvPr>
            <p:ph type="pic" sz="quarter" idx="46"/>
          </p:nvPr>
        </p:nvSpPr>
        <p:spPr>
          <a:xfrm>
            <a:off x="9147335" y="4118551"/>
            <a:ext cx="904987" cy="905641"/>
          </a:xfrm>
        </p:spPr>
        <p:txBody>
          <a:bodyPr>
            <a:noAutofit/>
          </a:bodyPr>
          <a:lstStyle>
            <a:lvl1pPr marL="0" indent="0">
              <a:buNone/>
              <a:defRPr sz="1400">
                <a:solidFill>
                  <a:schemeClr val="tx1"/>
                </a:solidFill>
              </a:defRPr>
            </a:lvl1pPr>
          </a:lstStyle>
          <a:p>
            <a:r>
              <a:rPr lang="en-US"/>
              <a:t>Click icon to add picture</a:t>
            </a:r>
            <a:endParaRPr lang="en-US" dirty="0"/>
          </a:p>
        </p:txBody>
      </p:sp>
      <p:sp>
        <p:nvSpPr>
          <p:cNvPr id="52" name="Text Placeholder 28"/>
          <p:cNvSpPr>
            <a:spLocks noGrp="1"/>
          </p:cNvSpPr>
          <p:nvPr>
            <p:ph type="body" sz="quarter" idx="47" hasCustomPrompt="1"/>
          </p:nvPr>
        </p:nvSpPr>
        <p:spPr>
          <a:xfrm>
            <a:off x="9147336" y="5044362"/>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endParaRPr lang="en-US" dirty="0"/>
          </a:p>
        </p:txBody>
      </p:sp>
      <p:sp>
        <p:nvSpPr>
          <p:cNvPr id="53" name="Text Placeholder 28"/>
          <p:cNvSpPr>
            <a:spLocks noGrp="1"/>
          </p:cNvSpPr>
          <p:nvPr>
            <p:ph type="body" sz="quarter" idx="48" hasCustomPrompt="1"/>
          </p:nvPr>
        </p:nvSpPr>
        <p:spPr>
          <a:xfrm>
            <a:off x="9147335" y="5429608"/>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endParaRPr lang="en-US" dirty="0"/>
          </a:p>
        </p:txBody>
      </p:sp>
      <p:sp>
        <p:nvSpPr>
          <p:cNvPr id="18" name="Date Placeholder 17"/>
          <p:cNvSpPr>
            <a:spLocks noGrp="1"/>
          </p:cNvSpPr>
          <p:nvPr>
            <p:ph type="dt" sz="half" idx="25"/>
          </p:nvPr>
        </p:nvSpPr>
        <p:spPr/>
        <p:txBody>
          <a:bodyPr>
            <a:noAutofit/>
          </a:bodyPr>
          <a:lstStyle>
            <a:lvl1pPr>
              <a:defRPr>
                <a:solidFill>
                  <a:schemeClr val="accent3"/>
                </a:solidFill>
                <a:latin typeface="+mn-lt"/>
              </a:defRPr>
            </a:lvl1pPr>
          </a:lstStyle>
          <a:p>
            <a:fld id="{75594855-01E8-5A4B-B2B8-E2ECEF879100}" type="datetime1">
              <a:rPr lang="en-US" smtClean="0"/>
            </a:fld>
            <a:endParaRPr lang="en-US" dirty="0"/>
          </a:p>
        </p:txBody>
      </p:sp>
      <p:sp>
        <p:nvSpPr>
          <p:cNvPr id="22" name="Footer Placeholder 21"/>
          <p:cNvSpPr>
            <a:spLocks noGrp="1"/>
          </p:cNvSpPr>
          <p:nvPr>
            <p:ph type="ftr" sz="quarter" idx="26"/>
          </p:nvPr>
        </p:nvSpPr>
        <p:spPr/>
        <p:txBody>
          <a:bodyPr>
            <a:noAutofit/>
          </a:bodyPr>
          <a:lstStyle>
            <a:lvl1pPr>
              <a:defRPr>
                <a:solidFill>
                  <a:schemeClr val="accent3"/>
                </a:solidFill>
                <a:latin typeface="+mn-lt"/>
              </a:defRPr>
            </a:lvl1pPr>
          </a:lstStyle>
          <a:p>
            <a:r>
              <a:rPr lang="en-US" dirty="0"/>
              <a:t>PRESENTATION TITLE</a:t>
            </a:r>
            <a:endParaRPr lang="en-US" dirty="0"/>
          </a:p>
        </p:txBody>
      </p:sp>
      <p:sp>
        <p:nvSpPr>
          <p:cNvPr id="23" name="Slide Number Placeholder 22"/>
          <p:cNvSpPr>
            <a:spLocks noGrp="1"/>
          </p:cNvSpPr>
          <p:nvPr>
            <p:ph type="sldNum" sz="quarter" idx="27"/>
          </p:nvPr>
        </p:nvSpPr>
        <p:spPr/>
        <p:txBody>
          <a:bodyPr>
            <a:noAutofit/>
          </a:bodyPr>
          <a:lstStyle>
            <a:lvl1pPr>
              <a:defRPr>
                <a:solidFill>
                  <a:schemeClr val="accent3"/>
                </a:solidFill>
                <a:latin typeface="+mn-lt"/>
              </a:defRPr>
            </a:lvl1pPr>
          </a:lstStyle>
          <a:p>
            <a:fld id="{294A09A9-5501-47C1-A89A-A340965A2BE2}"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meline">
    <p:bg>
      <p:bgPr>
        <a:solidFill>
          <a:schemeClr val="accent1"/>
        </a:solidFill>
        <a:effectLst/>
      </p:bgPr>
    </p:bg>
    <p:spTree>
      <p:nvGrpSpPr>
        <p:cNvPr id="1" name=""/>
        <p:cNvGrpSpPr/>
        <p:nvPr/>
      </p:nvGrpSpPr>
      <p:grpSpPr>
        <a:xfrm>
          <a:off x="0" y="0"/>
          <a:ext cx="0" cy="0"/>
          <a:chOff x="0" y="0"/>
          <a:chExt cx="0" cy="0"/>
        </a:xfrm>
      </p:grpSpPr>
      <p:sp>
        <p:nvSpPr>
          <p:cNvPr id="4" name="Freeform 3"/>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title"/>
          </p:nvPr>
        </p:nvSpPr>
        <p:spPr>
          <a:xfrm>
            <a:off x="1167492" y="381000"/>
            <a:ext cx="9779183" cy="1325563"/>
          </a:xfrm>
        </p:spPr>
        <p:txBody>
          <a:bodyPr anchor="b">
            <a:noAutofit/>
          </a:bodyPr>
          <a:lstStyle>
            <a:lvl1pPr>
              <a:defRPr sz="4800" b="1">
                <a:solidFill>
                  <a:schemeClr val="bg1"/>
                </a:solidFill>
                <a:latin typeface="+mj-lt"/>
              </a:defRPr>
            </a:lvl1pPr>
          </a:lstStyle>
          <a:p>
            <a:r>
              <a:rPr lang="en-US"/>
              <a:t>Click to edit Master title style</a:t>
            </a:r>
            <a:endParaRPr lang="en-US" dirty="0"/>
          </a:p>
        </p:txBody>
      </p:sp>
      <p:sp>
        <p:nvSpPr>
          <p:cNvPr id="3" name="Content Placeholder 2"/>
          <p:cNvSpPr>
            <a:spLocks noGrp="1"/>
          </p:cNvSpPr>
          <p:nvPr>
            <p:ph idx="1"/>
          </p:nvPr>
        </p:nvSpPr>
        <p:spPr>
          <a:xfrm>
            <a:off x="1167493" y="2087561"/>
            <a:ext cx="9779182" cy="3366815"/>
          </a:xfrm>
        </p:spPr>
        <p:txBody>
          <a:bodyPr>
            <a:noAutofit/>
          </a:bodyPr>
          <a:lstStyle>
            <a:lvl1pPr marL="0" indent="0">
              <a:buNone/>
              <a:defRPr>
                <a:solidFill>
                  <a:schemeClr val="bg1"/>
                </a:solidFill>
                <a:latin typeface="+mn-lt"/>
              </a:defRPr>
            </a:lvl1pPr>
            <a:lvl2pPr marL="457200" indent="0">
              <a:buNone/>
              <a:defRPr>
                <a:solidFill>
                  <a:schemeClr val="bg1"/>
                </a:solidFill>
                <a:latin typeface="+mn-lt"/>
              </a:defRPr>
            </a:lvl2pPr>
            <a:lvl3pPr marL="914400" indent="0">
              <a:buNone/>
              <a:defRPr>
                <a:solidFill>
                  <a:schemeClr val="bg1"/>
                </a:solidFill>
                <a:latin typeface="+mn-lt"/>
              </a:defRPr>
            </a:lvl3pPr>
            <a:lvl4pPr marL="1371600" indent="0">
              <a:buNone/>
              <a:defRPr>
                <a:solidFill>
                  <a:schemeClr val="bg1"/>
                </a:solidFill>
                <a:latin typeface="+mn-lt"/>
              </a:defRPr>
            </a:lvl4pPr>
            <a:lvl5pPr marL="1828800" indent="0">
              <a:buNone/>
              <a:defRPr>
                <a:solidFill>
                  <a:schemeClr val="bg1"/>
                </a:solidFill>
                <a:latin typeface="+mn-lt"/>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0" name="Date Placeholder 3"/>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fld id="{5F02DCD1-2C6B-F948-9F72-3BB0CF3D512E}" type="datetime1">
              <a:rPr lang="en-US" smtClean="0"/>
            </a:fld>
            <a:endParaRPr lang="en-US" dirty="0"/>
          </a:p>
        </p:txBody>
      </p:sp>
      <p:sp>
        <p:nvSpPr>
          <p:cNvPr id="11"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r>
              <a:rPr lang="en-US" dirty="0"/>
              <a:t>PRESENTATION TITLE</a:t>
            </a:r>
            <a:endParaRPr lang="en-US" dirty="0"/>
          </a:p>
        </p:txBody>
      </p:sp>
      <p:sp>
        <p:nvSpPr>
          <p:cNvPr id="12" name="Slide Number Placeholder 5"/>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2 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67492" y="381000"/>
            <a:ext cx="9779183" cy="1325563"/>
          </a:xfrm>
        </p:spPr>
        <p:txBody>
          <a:bodyPr anchor="b">
            <a:noAutofit/>
          </a:bodyPr>
          <a:lstStyle>
            <a:lvl1pPr>
              <a:defRPr sz="4800" b="1">
                <a:latin typeface="+mj-lt"/>
              </a:defRPr>
            </a:lvl1pPr>
          </a:lstStyle>
          <a:p>
            <a:r>
              <a:rPr lang="en-US"/>
              <a:t>Click to edit Master title style</a:t>
            </a:r>
            <a:endParaRPr lang="en-US" dirty="0"/>
          </a:p>
        </p:txBody>
      </p:sp>
      <p:sp>
        <p:nvSpPr>
          <p:cNvPr id="3" name="Content Placeholder 2"/>
          <p:cNvSpPr>
            <a:spLocks noGrp="1"/>
          </p:cNvSpPr>
          <p:nvPr>
            <p:ph idx="1"/>
          </p:nvPr>
        </p:nvSpPr>
        <p:spPr>
          <a:xfrm>
            <a:off x="1167493" y="2528203"/>
            <a:ext cx="4663440" cy="2828613"/>
          </a:xfrm>
        </p:spPr>
        <p:txBody>
          <a:bodyPr>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Freeform 3"/>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p:cNvGrpSpPr/>
          <p:nvPr userDrawn="1"/>
        </p:nvGrpSpPr>
        <p:grpSpPr>
          <a:xfrm>
            <a:off x="8082092" y="5590903"/>
            <a:ext cx="1572380" cy="1267097"/>
            <a:chOff x="7413403" y="4976359"/>
            <a:chExt cx="2334986" cy="1881641"/>
          </a:xfrm>
        </p:grpSpPr>
        <p:sp>
          <p:nvSpPr>
            <p:cNvPr id="7" name="Freeform 6"/>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sp>
        <p:nvSpPr>
          <p:cNvPr id="10" name="Date Placeholder 3"/>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fld id="{C1583C39-01BF-7F43-854C-FBB4E9AB6B0C}" type="datetime1">
              <a:rPr lang="en-US" smtClean="0"/>
            </a:fld>
            <a:endParaRPr lang="en-US" dirty="0"/>
          </a:p>
        </p:txBody>
      </p:sp>
      <p:sp>
        <p:nvSpPr>
          <p:cNvPr id="11"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r>
              <a:rPr lang="en-US" dirty="0"/>
              <a:t>PRESENTATION TITLE</a:t>
            </a:r>
            <a:endParaRPr lang="en-US" dirty="0"/>
          </a:p>
        </p:txBody>
      </p:sp>
      <p:sp>
        <p:nvSpPr>
          <p:cNvPr id="12" name="Slide Number Placeholder 5"/>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fld>
            <a:endParaRPr lang="en-US" dirty="0"/>
          </a:p>
        </p:txBody>
      </p:sp>
      <p:sp>
        <p:nvSpPr>
          <p:cNvPr id="13" name="Content Placeholder 2"/>
          <p:cNvSpPr>
            <a:spLocks noGrp="1"/>
          </p:cNvSpPr>
          <p:nvPr>
            <p:ph idx="10"/>
          </p:nvPr>
        </p:nvSpPr>
        <p:spPr>
          <a:xfrm>
            <a:off x="6283235" y="2528203"/>
            <a:ext cx="4663440" cy="2828613"/>
          </a:xfrm>
        </p:spPr>
        <p:txBody>
          <a:bodyPr>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4" name="Content Placeholder 2"/>
          <p:cNvSpPr>
            <a:spLocks noGrp="1"/>
          </p:cNvSpPr>
          <p:nvPr>
            <p:ph idx="11"/>
          </p:nvPr>
        </p:nvSpPr>
        <p:spPr>
          <a:xfrm>
            <a:off x="1167493" y="2005689"/>
            <a:ext cx="4663440" cy="522514"/>
          </a:xfrm>
        </p:spPr>
        <p:txBody>
          <a:bodyPr>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5" name="Content Placeholder 2"/>
          <p:cNvSpPr>
            <a:spLocks noGrp="1"/>
          </p:cNvSpPr>
          <p:nvPr>
            <p:ph idx="12"/>
          </p:nvPr>
        </p:nvSpPr>
        <p:spPr>
          <a:xfrm>
            <a:off x="6283235" y="2005689"/>
            <a:ext cx="4663440" cy="522514"/>
          </a:xfrm>
        </p:spPr>
        <p:txBody>
          <a:bodyPr>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3 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67492" y="381000"/>
            <a:ext cx="9779183" cy="1325563"/>
          </a:xfrm>
        </p:spPr>
        <p:txBody>
          <a:bodyPr anchor="b">
            <a:noAutofit/>
          </a:bodyPr>
          <a:lstStyle>
            <a:lvl1pPr>
              <a:defRPr sz="4800" b="1">
                <a:latin typeface="+mj-lt"/>
              </a:defRPr>
            </a:lvl1pPr>
          </a:lstStyle>
          <a:p>
            <a:r>
              <a:rPr lang="en-US"/>
              <a:t>Click to edit Master title style</a:t>
            </a:r>
            <a:endParaRPr lang="en-US" dirty="0"/>
          </a:p>
        </p:txBody>
      </p:sp>
      <p:sp>
        <p:nvSpPr>
          <p:cNvPr id="3" name="Content Placeholder 2"/>
          <p:cNvSpPr>
            <a:spLocks noGrp="1"/>
          </p:cNvSpPr>
          <p:nvPr>
            <p:ph idx="1"/>
          </p:nvPr>
        </p:nvSpPr>
        <p:spPr>
          <a:xfrm>
            <a:off x="1167491" y="2526318"/>
            <a:ext cx="3218688" cy="2828613"/>
          </a:xfrm>
        </p:spPr>
        <p:txBody>
          <a:bodyPr>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Freeform 3"/>
          <p:cNvSpPr/>
          <p:nvPr userDrawn="1"/>
        </p:nvSpPr>
        <p:spPr>
          <a:xfrm rot="5400000">
            <a:off x="8580896" y="0"/>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p:cNvSpPr/>
          <p:nvPr userDrawn="1"/>
        </p:nvSpPr>
        <p:spPr>
          <a:xfrm>
            <a:off x="-2364"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p:cNvSpPr/>
          <p:nvPr userDrawn="1"/>
        </p:nvSpPr>
        <p:spPr>
          <a:xfrm rot="5400000" flipH="1">
            <a:off x="11258144" y="5924144"/>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nvGrpSpPr>
          <p:cNvPr id="9" name="Group 8"/>
          <p:cNvGrpSpPr/>
          <p:nvPr userDrawn="1"/>
        </p:nvGrpSpPr>
        <p:grpSpPr>
          <a:xfrm>
            <a:off x="2587417" y="5590903"/>
            <a:ext cx="1572380" cy="1267097"/>
            <a:chOff x="7413403" y="4976359"/>
            <a:chExt cx="2334986" cy="1881641"/>
          </a:xfrm>
        </p:grpSpPr>
        <p:sp>
          <p:nvSpPr>
            <p:cNvPr id="7" name="Freeform 6"/>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sp>
        <p:nvSpPr>
          <p:cNvPr id="10" name="Date Placeholder 3"/>
          <p:cNvSpPr>
            <a:spLocks noGrp="1"/>
          </p:cNvSpPr>
          <p:nvPr>
            <p:ph type="dt" sz="half" idx="2"/>
          </p:nvPr>
        </p:nvSpPr>
        <p:spPr>
          <a:xfrm>
            <a:off x="381000" y="6356350"/>
            <a:ext cx="1767114"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fld id="{4B103E64-1627-9140-8127-1849FED275E1}" type="datetime1">
              <a:rPr lang="en-US" smtClean="0"/>
            </a:fld>
            <a:endParaRPr lang="en-US" dirty="0"/>
          </a:p>
        </p:txBody>
      </p:sp>
      <p:sp>
        <p:nvSpPr>
          <p:cNvPr id="11"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r>
              <a:rPr lang="en-US" dirty="0"/>
              <a:t>PRESENTATION TITLE</a:t>
            </a:r>
            <a:endParaRPr lang="en-US" dirty="0"/>
          </a:p>
        </p:txBody>
      </p:sp>
      <p:sp>
        <p:nvSpPr>
          <p:cNvPr id="13" name="Content Placeholder 2"/>
          <p:cNvSpPr>
            <a:spLocks noGrp="1"/>
          </p:cNvSpPr>
          <p:nvPr>
            <p:ph idx="10"/>
          </p:nvPr>
        </p:nvSpPr>
        <p:spPr>
          <a:xfrm>
            <a:off x="4683787" y="2526318"/>
            <a:ext cx="3173279" cy="2828613"/>
          </a:xfrm>
        </p:spPr>
        <p:txBody>
          <a:bodyPr>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4" name="Content Placeholder 2"/>
          <p:cNvSpPr>
            <a:spLocks noGrp="1"/>
          </p:cNvSpPr>
          <p:nvPr>
            <p:ph idx="11"/>
          </p:nvPr>
        </p:nvSpPr>
        <p:spPr>
          <a:xfrm>
            <a:off x="1167493" y="2003804"/>
            <a:ext cx="3173278" cy="522514"/>
          </a:xfrm>
        </p:spPr>
        <p:txBody>
          <a:bodyPr>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5" name="Content Placeholder 2"/>
          <p:cNvSpPr>
            <a:spLocks noGrp="1"/>
          </p:cNvSpPr>
          <p:nvPr>
            <p:ph idx="12"/>
          </p:nvPr>
        </p:nvSpPr>
        <p:spPr>
          <a:xfrm>
            <a:off x="4683788" y="2003804"/>
            <a:ext cx="3173278" cy="522514"/>
          </a:xfrm>
        </p:spPr>
        <p:txBody>
          <a:bodyPr>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6" name="Content Placeholder 2"/>
          <p:cNvSpPr>
            <a:spLocks noGrp="1"/>
          </p:cNvSpPr>
          <p:nvPr>
            <p:ph idx="13"/>
          </p:nvPr>
        </p:nvSpPr>
        <p:spPr>
          <a:xfrm>
            <a:off x="8200082" y="2526318"/>
            <a:ext cx="3173279" cy="2828613"/>
          </a:xfrm>
        </p:spPr>
        <p:txBody>
          <a:bodyPr>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7" name="Content Placeholder 2"/>
          <p:cNvSpPr>
            <a:spLocks noGrp="1"/>
          </p:cNvSpPr>
          <p:nvPr>
            <p:ph idx="14"/>
          </p:nvPr>
        </p:nvSpPr>
        <p:spPr>
          <a:xfrm>
            <a:off x="8200083" y="2003804"/>
            <a:ext cx="3173278" cy="522514"/>
          </a:xfrm>
        </p:spPr>
        <p:txBody>
          <a:bodyPr>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2" name="Slide Number Placeholder 5"/>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sp>
        <p:nvSpPr>
          <p:cNvPr id="2" name="Title 1"/>
          <p:cNvSpPr>
            <a:spLocks noGrp="1"/>
          </p:cNvSpPr>
          <p:nvPr>
            <p:ph type="ctrTitle"/>
          </p:nvPr>
        </p:nvSpPr>
        <p:spPr>
          <a:xfrm>
            <a:off x="1167494" y="1122363"/>
            <a:ext cx="6220278" cy="2387600"/>
          </a:xfrm>
        </p:spPr>
        <p:txBody>
          <a:bodyPr anchor="b">
            <a:noAutofit/>
          </a:bodyPr>
          <a:lstStyle>
            <a:lvl1pPr algn="l">
              <a:defRPr sz="6000" b="1">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1167493" y="3602038"/>
            <a:ext cx="6220277" cy="2247219"/>
          </a:xfrm>
        </p:spPr>
        <p:txBody>
          <a:bodyPr>
            <a:no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Rectangle 3"/>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p:cNvGrpSpPr/>
          <p:nvPr userDrawn="1"/>
        </p:nvGrpSpPr>
        <p:grpSpPr>
          <a:xfrm>
            <a:off x="8264427" y="3685939"/>
            <a:ext cx="3927573" cy="3178856"/>
            <a:chOff x="9857014" y="13834"/>
            <a:chExt cx="2334986" cy="1881641"/>
          </a:xfrm>
        </p:grpSpPr>
        <p:sp>
          <p:nvSpPr>
            <p:cNvPr id="15" name="Freeform 14"/>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16"/>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a:t>Click to edit Master title style</a:t>
            </a:r>
            <a:endParaRPr lang="en-US"/>
          </a:p>
        </p:txBody>
      </p:sp>
      <p:sp>
        <p:nvSpPr>
          <p:cNvPr id="3" name="Text Placeholder 2"/>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fld id="{B562DF68-3089-814D-8A14-C651FE91885E}" type="datetime1">
              <a:rPr lang="en-US" smtClean="0"/>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r>
              <a:rPr lang="en-US" dirty="0"/>
              <a:t>PRESENTATION TITLE</a:t>
            </a:r>
            <a:endParaRPr lang="en-US" dirty="0"/>
          </a:p>
        </p:txBody>
      </p:sp>
      <p:sp>
        <p:nvSpPr>
          <p:cNvPr id="6" name="Slide Number Placeholder 5"/>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294A09A9-5501-47C1-A89A-A340965A2BE2}"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hyperlink" Target="https://www.bea.gov/data/gdp/gross-domestic-product#collapse86" TargetMode="External"/><Relationship Id="rId1" Type="http://schemas.openxmlformats.org/officeDocument/2006/relationships/hyperlink" Target="http://www.bea.gov/" TargetMode="Externa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1.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1.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8.png"/><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1.xml"/><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3.png"/><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5.png"/><Relationship Id="rId1"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7.png"/><Relationship Id="rId1"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0.png"/><Relationship Id="rId1"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2.png"/><Relationship Id="rId1"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4.png"/><Relationship Id="rId1"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2.png"/><Relationship Id="rId1" Type="http://schemas.openxmlformats.org/officeDocument/2006/relationships/image" Target="../media/image25.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8.png"/><Relationship Id="rId1" Type="http://schemas.openxmlformats.org/officeDocument/2006/relationships/image" Target="../media/image27.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30.png"/><Relationship Id="rId1" Type="http://schemas.openxmlformats.org/officeDocument/2006/relationships/image" Target="../media/image29.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1.png"/></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1.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5.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37.png"/><Relationship Id="rId1"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hyperlink" Target="https://github.com/AI-MOO/IBM-Machine-Learning-Professional-Certificate"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96625" y="1492897"/>
            <a:ext cx="8353340" cy="2301813"/>
          </a:xfrm>
        </p:spPr>
        <p:txBody>
          <a:bodyPr/>
          <a:lstStyle/>
          <a:p>
            <a:r>
              <a:rPr lang="en-US" sz="4400" dirty="0"/>
              <a:t>Time Series Final Project:</a:t>
            </a:r>
            <a:br>
              <a:rPr lang="en-US" sz="4400" dirty="0"/>
            </a:br>
            <a:br>
              <a:rPr lang="en-US" sz="4400" dirty="0"/>
            </a:br>
            <a:r>
              <a:rPr lang="en-US" sz="2000" dirty="0"/>
              <a:t>Analysis and Forecasting of Light Weight Vehicle Sales Time Series.</a:t>
            </a:r>
            <a:br>
              <a:rPr lang="en-US" sz="4400" dirty="0"/>
            </a:br>
            <a:endParaRPr lang="en-US" sz="4400" dirty="0"/>
          </a:p>
        </p:txBody>
      </p:sp>
      <p:sp>
        <p:nvSpPr>
          <p:cNvPr id="3" name="Subtitle 2"/>
          <p:cNvSpPr>
            <a:spLocks noGrp="1"/>
          </p:cNvSpPr>
          <p:nvPr>
            <p:ph type="subTitle" idx="1"/>
          </p:nvPr>
        </p:nvSpPr>
        <p:spPr>
          <a:xfrm>
            <a:off x="2529779" y="4933046"/>
            <a:ext cx="5643404" cy="1756176"/>
          </a:xfrm>
        </p:spPr>
        <p:txBody>
          <a:bodyPr/>
          <a:lstStyle/>
          <a:p>
            <a:r>
              <a:rPr lang="en-US" sz="2000" b="1" i="0" dirty="0">
                <a:solidFill>
                  <a:srgbClr val="48A1FA"/>
                </a:solidFill>
                <a:effectLst/>
                <a:latin typeface="OpenSans-Bold"/>
              </a:rPr>
              <a:t>IBM Machine Learning Professional Certificate</a:t>
            </a:r>
            <a:endParaRPr lang="en-US" sz="2000" b="1" i="0" dirty="0">
              <a:solidFill>
                <a:srgbClr val="48A1FA"/>
              </a:solidFill>
              <a:effectLst/>
              <a:latin typeface="OpenSans-Bold"/>
            </a:endParaRPr>
          </a:p>
          <a:p>
            <a:pPr algn="l"/>
            <a:r>
              <a:rPr lang="en-US" sz="1200" b="1" dirty="0">
                <a:effectLst/>
                <a:latin typeface="OpenSans-Bold"/>
              </a:rPr>
              <a:t>Course 06: Specialized Models: Time Series and Survival Analysis</a:t>
            </a:r>
            <a:endParaRPr lang="en-US" sz="1200" b="1" dirty="0">
              <a:effectLst/>
              <a:latin typeface="OpenSans-Bold"/>
            </a:endParaRPr>
          </a:p>
          <a:p>
            <a:pPr algn="l"/>
            <a:endParaRPr lang="en-US" sz="1400" b="1" dirty="0">
              <a:solidFill>
                <a:srgbClr val="0068FF"/>
              </a:solidFill>
              <a:latin typeface="OpenSans-Bold"/>
            </a:endParaRPr>
          </a:p>
          <a:p>
            <a:r>
              <a:rPr lang="en-US" sz="1400" b="1" dirty="0">
                <a:solidFill>
                  <a:srgbClr val="48A1FA"/>
                </a:solidFill>
                <a:latin typeface="OpenSans-Bold"/>
              </a:rPr>
              <a:t>By Abhishek Pal</a:t>
            </a:r>
            <a:endParaRPr lang="en-US" sz="1600" dirty="0">
              <a:solidFill>
                <a:srgbClr val="48A1FA"/>
              </a:solidFill>
              <a:latin typeface="+mj-lt"/>
              <a:ea typeface="+mj-ea"/>
              <a:cs typeface="+mj-cs"/>
            </a:endParaRPr>
          </a:p>
          <a:p>
            <a:endParaRPr lang="en-US" sz="2000" b="1" i="0" dirty="0">
              <a:solidFill>
                <a:srgbClr val="0068FF"/>
              </a:solidFill>
              <a:effectLst/>
              <a:latin typeface="OpenSans-Bold"/>
            </a:endParaRPr>
          </a:p>
          <a:p>
            <a:endParaRPr lang="en-US" sz="2400" dirty="0">
              <a:latin typeface="+mj-lt"/>
              <a:ea typeface="+mj-ea"/>
              <a:cs typeface="+mj-cs"/>
            </a:endParaRPr>
          </a:p>
          <a:p>
            <a:endParaRPr lang="en-US" sz="2400" dirty="0">
              <a:latin typeface="+mj-lt"/>
              <a:ea typeface="+mj-ea"/>
              <a:cs typeface="+mj-cs"/>
            </a:endParaRPr>
          </a:p>
        </p:txBody>
      </p:sp>
      <p:pic>
        <p:nvPicPr>
          <p:cNvPr id="5" name="Picture 4" descr="Text&#10;&#10;Description automatically generated with medium confidence"/>
          <p:cNvPicPr>
            <a:picLocks noChangeAspect="1"/>
          </p:cNvPicPr>
          <p:nvPr/>
        </p:nvPicPr>
        <p:blipFill>
          <a:blip r:embed="rId1"/>
          <a:stretch>
            <a:fillRect/>
          </a:stretch>
        </p:blipFill>
        <p:spPr>
          <a:xfrm>
            <a:off x="8849965" y="6099562"/>
            <a:ext cx="1743940" cy="589660"/>
          </a:xfrm>
          <a:prstGeom prst="rect">
            <a:avLst/>
          </a:prstGeom>
        </p:spPr>
      </p:pic>
      <p:pic>
        <p:nvPicPr>
          <p:cNvPr id="13" name="Picture 12" descr="A silhouette of a city at night&#10;&#10;Description automatically generated with medium confidence"/>
          <p:cNvPicPr>
            <a:picLocks noChangeAspect="1"/>
          </p:cNvPicPr>
          <p:nvPr/>
        </p:nvPicPr>
        <p:blipFill>
          <a:blip r:embed="rId2"/>
          <a:stretch>
            <a:fillRect/>
          </a:stretch>
        </p:blipFill>
        <p:spPr>
          <a:xfrm>
            <a:off x="724331" y="5122806"/>
            <a:ext cx="1219200" cy="1219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0262" y="220224"/>
            <a:ext cx="9779183" cy="1325563"/>
          </a:xfrm>
        </p:spPr>
        <p:txBody>
          <a:bodyPr/>
          <a:lstStyle/>
          <a:p>
            <a:r>
              <a:rPr lang="en-US" dirty="0"/>
              <a:t>Contents</a:t>
            </a:r>
            <a:endParaRPr lang="en-US" dirty="0"/>
          </a:p>
        </p:txBody>
      </p:sp>
      <p:sp>
        <p:nvSpPr>
          <p:cNvPr id="3" name="Content Placeholder 2"/>
          <p:cNvSpPr>
            <a:spLocks noGrp="1"/>
          </p:cNvSpPr>
          <p:nvPr>
            <p:ph idx="1"/>
          </p:nvPr>
        </p:nvSpPr>
        <p:spPr>
          <a:xfrm>
            <a:off x="543650" y="2001729"/>
            <a:ext cx="8257450" cy="3631556"/>
          </a:xfrm>
        </p:spPr>
        <p:txBody>
          <a:bodyPr vert="horz" lIns="91440" tIns="45720" rIns="91440" bIns="45720" rtlCol="0" anchor="t">
            <a:normAutofit/>
          </a:bodyPr>
          <a:lstStyle/>
          <a:p>
            <a:pPr marL="457200" indent="-457200">
              <a:buFont typeface="Arial" panose="020B0604020202020204" pitchFamily="34" charset="0"/>
              <a:buChar char="•"/>
            </a:pPr>
            <a:r>
              <a:rPr lang="en-US" sz="2400" dirty="0"/>
              <a:t>Dataset Description </a:t>
            </a:r>
            <a:endParaRPr lang="en-US" sz="2400" dirty="0"/>
          </a:p>
          <a:p>
            <a:pPr marL="457200" indent="-457200">
              <a:buFont typeface="Arial" panose="020B0604020202020204" pitchFamily="34" charset="0"/>
              <a:buChar char="•"/>
            </a:pPr>
            <a:r>
              <a:rPr lang="en-US" sz="2400" dirty="0"/>
              <a:t>Main objectives of the analysis.</a:t>
            </a:r>
            <a:endParaRPr lang="en-US" sz="2400" dirty="0"/>
          </a:p>
          <a:p>
            <a:pPr marL="457200" indent="-457200">
              <a:buFont typeface="Arial" panose="020B0604020202020204" pitchFamily="34" charset="0"/>
              <a:buChar char="•"/>
            </a:pPr>
            <a:r>
              <a:rPr lang="en-US" sz="2400" dirty="0"/>
              <a:t>EDA, Data Cleaning, Feature Engineering </a:t>
            </a:r>
            <a:endParaRPr lang="en-US" sz="2400" dirty="0"/>
          </a:p>
          <a:p>
            <a:pPr marL="457200" indent="-457200">
              <a:buFont typeface="Arial" panose="020B0604020202020204" pitchFamily="34" charset="0"/>
              <a:buChar char="•"/>
            </a:pPr>
            <a:r>
              <a:rPr lang="en-US" sz="2400" dirty="0"/>
              <a:t>Time series Forecasting &amp; ML/DL Analysis and Findings </a:t>
            </a:r>
            <a:endParaRPr lang="en-US" sz="2400" dirty="0"/>
          </a:p>
          <a:p>
            <a:pPr marL="457200" indent="-457200">
              <a:buFont typeface="Arial" panose="020B0604020202020204" pitchFamily="34" charset="0"/>
              <a:buChar char="•"/>
            </a:pPr>
            <a:r>
              <a:rPr lang="en-US" sz="2400" dirty="0"/>
              <a:t>Models flaws and advanced steps. </a:t>
            </a:r>
            <a:endParaRPr lang="en-US" sz="2400" dirty="0"/>
          </a:p>
        </p:txBody>
      </p:sp>
      <p:sp>
        <p:nvSpPr>
          <p:cNvPr id="4" name="Date Placeholder 3"/>
          <p:cNvSpPr>
            <a:spLocks noGrp="1"/>
          </p:cNvSpPr>
          <p:nvPr>
            <p:ph type="dt" sz="half" idx="2"/>
          </p:nvPr>
        </p:nvSpPr>
        <p:spPr>
          <a:xfrm>
            <a:off x="380999" y="6356350"/>
            <a:ext cx="4381124" cy="365125"/>
          </a:xfrm>
        </p:spPr>
        <p:txBody>
          <a:bodyPr/>
          <a:lstStyle/>
          <a:p>
            <a:r>
              <a:rPr lang="en-US" dirty="0"/>
              <a:t>Specialized Models: Time Series and Survival Analysis</a:t>
            </a:r>
            <a:endParaRPr lang="en-US" dirty="0"/>
          </a:p>
          <a:p>
            <a:endParaRPr lang="en-US" dirty="0"/>
          </a:p>
        </p:txBody>
      </p:sp>
      <p:sp>
        <p:nvSpPr>
          <p:cNvPr id="6" name="Slide Number Placeholder 5"/>
          <p:cNvSpPr>
            <a:spLocks noGrp="1"/>
          </p:cNvSpPr>
          <p:nvPr>
            <p:ph type="sldNum" sz="quarter" idx="4"/>
          </p:nvPr>
        </p:nvSpPr>
        <p:spPr/>
        <p:txBody>
          <a:bodyPr/>
          <a:lstStyle/>
          <a:p>
            <a:fld id="{294A09A9-5501-47C1-A89A-A340965A2BE2}" type="slidenum">
              <a:rPr lang="en-US" sz="1800" smtClean="0"/>
            </a:fld>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565" y="283644"/>
            <a:ext cx="9779183" cy="1325563"/>
          </a:xfrm>
        </p:spPr>
        <p:txBody>
          <a:bodyPr/>
          <a:lstStyle/>
          <a:p>
            <a:r>
              <a:rPr lang="en-US" dirty="0"/>
              <a:t>Abstract </a:t>
            </a:r>
            <a:endParaRPr lang="en-US" dirty="0"/>
          </a:p>
        </p:txBody>
      </p:sp>
      <p:sp>
        <p:nvSpPr>
          <p:cNvPr id="3" name="Content Placeholder 2"/>
          <p:cNvSpPr>
            <a:spLocks noGrp="1"/>
          </p:cNvSpPr>
          <p:nvPr>
            <p:ph type="body" idx="1"/>
          </p:nvPr>
        </p:nvSpPr>
        <p:spPr>
          <a:xfrm>
            <a:off x="714565" y="2601892"/>
            <a:ext cx="9779183" cy="3436483"/>
          </a:xfrm>
        </p:spPr>
        <p:txBody>
          <a:bodyPr vert="horz" lIns="91440" tIns="45720" rIns="91440" bIns="45720" rtlCol="0" anchor="t">
            <a:normAutofit/>
          </a:bodyPr>
          <a:lstStyle/>
          <a:p>
            <a:pPr algn="just"/>
            <a:r>
              <a:rPr lang="en-US" sz="2000" b="1" dirty="0"/>
              <a:t>In this report we are trying to explore a dataset of light weight vehicle sales in USA from 1976 to 2022  using  time series techniques , in order to forecast the sales for future periods to help the owners of lightweight vehicles showrooms in USA to draw conclusions and insights and make right decision of their business.</a:t>
            </a:r>
            <a:endParaRPr lang="en-US" sz="2000" b="1" dirty="0"/>
          </a:p>
          <a:p>
            <a:pPr algn="just"/>
            <a:endParaRPr lang="en-US" sz="2000" b="1" dirty="0"/>
          </a:p>
          <a:p>
            <a:pPr algn="just"/>
            <a:endParaRPr lang="en-US" sz="2000" b="1" dirty="0"/>
          </a:p>
        </p:txBody>
      </p:sp>
      <p:sp>
        <p:nvSpPr>
          <p:cNvPr id="4" name="Date Placeholder 3"/>
          <p:cNvSpPr>
            <a:spLocks noGrp="1"/>
          </p:cNvSpPr>
          <p:nvPr>
            <p:ph type="dt" sz="half" idx="10"/>
          </p:nvPr>
        </p:nvSpPr>
        <p:spPr>
          <a:xfrm>
            <a:off x="380999" y="6356350"/>
            <a:ext cx="3747381" cy="365125"/>
          </a:xfrm>
        </p:spPr>
        <p:txBody>
          <a:bodyPr/>
          <a:lstStyle/>
          <a:p>
            <a:r>
              <a:rPr lang="en-US" dirty="0"/>
              <a:t>Specialized Models: Time Series and Survival Analysis</a:t>
            </a:r>
            <a:endParaRPr lang="en-US" dirty="0"/>
          </a:p>
        </p:txBody>
      </p:sp>
      <p:sp>
        <p:nvSpPr>
          <p:cNvPr id="6" name="Slide Number Placeholder 5"/>
          <p:cNvSpPr>
            <a:spLocks noGrp="1"/>
          </p:cNvSpPr>
          <p:nvPr>
            <p:ph type="sldNum" sz="quarter" idx="12"/>
          </p:nvPr>
        </p:nvSpPr>
        <p:spPr/>
        <p:txBody>
          <a:bodyPr/>
          <a:lstStyle/>
          <a:p>
            <a:fld id="{294A09A9-5501-47C1-A89A-A340965A2BE2}" type="slidenum">
              <a:rPr lang="en-US" sz="1800" smtClean="0"/>
            </a:fld>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9960" y="1765381"/>
            <a:ext cx="8412079" cy="2810460"/>
          </a:xfrm>
        </p:spPr>
        <p:txBody>
          <a:bodyPr>
            <a:normAutofit/>
          </a:bodyPr>
          <a:lstStyle/>
          <a:p>
            <a:r>
              <a:rPr lang="en-US" sz="6000" dirty="0"/>
              <a:t>Data Description Section  </a:t>
            </a:r>
            <a:endParaRPr lang="en-US" sz="6000" dirty="0"/>
          </a:p>
        </p:txBody>
      </p:sp>
      <p:sp>
        <p:nvSpPr>
          <p:cNvPr id="3" name="Date Placeholder 2"/>
          <p:cNvSpPr>
            <a:spLocks noGrp="1"/>
          </p:cNvSpPr>
          <p:nvPr>
            <p:ph type="dt" sz="half" idx="10"/>
          </p:nvPr>
        </p:nvSpPr>
        <p:spPr>
          <a:xfrm>
            <a:off x="380999" y="6356350"/>
            <a:ext cx="3910344" cy="365125"/>
          </a:xfrm>
        </p:spPr>
        <p:txBody>
          <a:bodyPr/>
          <a:lstStyle/>
          <a:p>
            <a:r>
              <a:rPr lang="en-US" dirty="0"/>
              <a:t>Specialized Models: Time Series and Survival Analysis</a:t>
            </a:r>
            <a:endParaRPr lang="en-US" dirty="0"/>
          </a:p>
        </p:txBody>
      </p:sp>
      <p:sp>
        <p:nvSpPr>
          <p:cNvPr id="5" name="Slide Number Placeholder 4"/>
          <p:cNvSpPr>
            <a:spLocks noGrp="1"/>
          </p:cNvSpPr>
          <p:nvPr>
            <p:ph type="sldNum" sz="quarter" idx="12"/>
          </p:nvPr>
        </p:nvSpPr>
        <p:spPr/>
        <p:txBody>
          <a:bodyPr/>
          <a:lstStyle/>
          <a:p>
            <a:fld id="{294A09A9-5501-47C1-A89A-A340965A2BE2}" type="slidenum">
              <a:rPr lang="en-US" sz="1800"/>
            </a:fld>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225" y="539379"/>
            <a:ext cx="9779183" cy="725070"/>
          </a:xfrm>
        </p:spPr>
        <p:txBody>
          <a:bodyPr/>
          <a:lstStyle/>
          <a:p>
            <a:r>
              <a:rPr lang="en-US" dirty="0"/>
              <a:t>Dataset Description</a:t>
            </a:r>
            <a:br>
              <a:rPr lang="en-US" dirty="0"/>
            </a:br>
            <a:endParaRPr lang="en-US" sz="2400" dirty="0">
              <a:solidFill>
                <a:srgbClr val="006C31"/>
              </a:solidFill>
            </a:endParaRPr>
          </a:p>
        </p:txBody>
      </p:sp>
      <p:sp>
        <p:nvSpPr>
          <p:cNvPr id="3" name="Date Placeholder 2"/>
          <p:cNvSpPr>
            <a:spLocks noGrp="1"/>
          </p:cNvSpPr>
          <p:nvPr>
            <p:ph type="dt" sz="half" idx="2"/>
          </p:nvPr>
        </p:nvSpPr>
        <p:spPr>
          <a:xfrm>
            <a:off x="70813" y="6356349"/>
            <a:ext cx="2229956" cy="365125"/>
          </a:xfrm>
        </p:spPr>
        <p:txBody>
          <a:bodyPr/>
          <a:lstStyle/>
          <a:p>
            <a:r>
              <a:rPr lang="en-US" dirty="0"/>
              <a:t>Specialized Models: Time Series and Survival Analysis</a:t>
            </a:r>
            <a:endParaRPr lang="en-US" dirty="0"/>
          </a:p>
        </p:txBody>
      </p:sp>
      <p:sp>
        <p:nvSpPr>
          <p:cNvPr id="7" name="Slide Number Placeholder 6"/>
          <p:cNvSpPr>
            <a:spLocks noGrp="1"/>
          </p:cNvSpPr>
          <p:nvPr>
            <p:ph type="sldNum" sz="quarter" idx="4"/>
          </p:nvPr>
        </p:nvSpPr>
        <p:spPr/>
        <p:txBody>
          <a:bodyPr/>
          <a:lstStyle/>
          <a:p>
            <a:fld id="{294A09A9-5501-47C1-A89A-A340965A2BE2}" type="slidenum">
              <a:rPr lang="en-US" sz="1800" smtClean="0"/>
            </a:fld>
            <a:endParaRPr lang="en-US" sz="2400" dirty="0"/>
          </a:p>
        </p:txBody>
      </p:sp>
      <p:sp>
        <p:nvSpPr>
          <p:cNvPr id="23" name="TextBox 22"/>
          <p:cNvSpPr txBox="1"/>
          <p:nvPr/>
        </p:nvSpPr>
        <p:spPr>
          <a:xfrm>
            <a:off x="764440" y="961867"/>
            <a:ext cx="8852246" cy="400110"/>
          </a:xfrm>
          <a:prstGeom prst="rect">
            <a:avLst/>
          </a:prstGeom>
          <a:noFill/>
        </p:spPr>
        <p:txBody>
          <a:bodyPr wrap="square" rtlCol="0">
            <a:spAutoFit/>
          </a:bodyPr>
          <a:lstStyle/>
          <a:p>
            <a:pPr algn="l"/>
            <a:r>
              <a:rPr lang="en-US" sz="2000" b="1" dirty="0">
                <a:solidFill>
                  <a:srgbClr val="48A1FA"/>
                </a:solidFill>
                <a:latin typeface="+mj-lt"/>
              </a:rPr>
              <a:t>Dataset Info: </a:t>
            </a:r>
            <a:endParaRPr lang="en-US" sz="2000" b="1" dirty="0">
              <a:solidFill>
                <a:srgbClr val="48A1FA"/>
              </a:solidFill>
              <a:latin typeface="+mj-lt"/>
            </a:endParaRPr>
          </a:p>
        </p:txBody>
      </p:sp>
      <p:sp>
        <p:nvSpPr>
          <p:cNvPr id="14" name="TextBox 13"/>
          <p:cNvSpPr txBox="1"/>
          <p:nvPr/>
        </p:nvSpPr>
        <p:spPr>
          <a:xfrm>
            <a:off x="764440" y="1603494"/>
            <a:ext cx="10984116" cy="3416320"/>
          </a:xfrm>
          <a:prstGeom prst="rect">
            <a:avLst/>
          </a:prstGeom>
          <a:noFill/>
        </p:spPr>
        <p:txBody>
          <a:bodyPr wrap="square">
            <a:spAutoFit/>
          </a:bodyPr>
          <a:lstStyle/>
          <a:p>
            <a:pPr algn="l"/>
            <a:r>
              <a:rPr lang="en-US" b="1" i="0" dirty="0">
                <a:solidFill>
                  <a:srgbClr val="333333"/>
                </a:solidFill>
                <a:effectLst/>
                <a:latin typeface="+mj-lt"/>
              </a:rPr>
              <a:t>Label :  </a:t>
            </a:r>
            <a:r>
              <a:rPr lang="en-US" dirty="0">
                <a:solidFill>
                  <a:srgbClr val="333333"/>
                </a:solidFill>
                <a:latin typeface="+mj-lt"/>
              </a:rPr>
              <a:t>Light Weight Vehicle Sales </a:t>
            </a:r>
            <a:r>
              <a:rPr lang="en-US" dirty="0">
                <a:solidFill>
                  <a:srgbClr val="48A1FA"/>
                </a:solidFill>
                <a:latin typeface="+mj-lt"/>
              </a:rPr>
              <a:t>(LTOTALNSA)</a:t>
            </a:r>
            <a:endParaRPr lang="en-US" dirty="0">
              <a:solidFill>
                <a:srgbClr val="48A1FA"/>
              </a:solidFill>
              <a:latin typeface="+mj-lt"/>
            </a:endParaRPr>
          </a:p>
          <a:p>
            <a:pPr algn="l"/>
            <a:endParaRPr lang="en-US" b="1" dirty="0">
              <a:solidFill>
                <a:srgbClr val="333333"/>
              </a:solidFill>
              <a:latin typeface="+mj-lt"/>
            </a:endParaRPr>
          </a:p>
          <a:p>
            <a:pPr algn="l"/>
            <a:r>
              <a:rPr lang="en-US" b="1" i="0" dirty="0">
                <a:solidFill>
                  <a:srgbClr val="333333"/>
                </a:solidFill>
                <a:effectLst/>
                <a:latin typeface="+mj-lt"/>
              </a:rPr>
              <a:t>Source:</a:t>
            </a:r>
            <a:r>
              <a:rPr lang="en-US" b="0" i="0" dirty="0">
                <a:solidFill>
                  <a:srgbClr val="333333"/>
                </a:solidFill>
                <a:effectLst/>
                <a:latin typeface="+mj-lt"/>
              </a:rPr>
              <a:t> </a:t>
            </a:r>
            <a:r>
              <a:rPr lang="en-US" b="0" i="0" u="none" strike="noStrike" dirty="0">
                <a:solidFill>
                  <a:srgbClr val="48A1FA"/>
                </a:solidFill>
                <a:effectLst/>
                <a:latin typeface="+mj-lt"/>
                <a:hlinkClick r:id="rId1"/>
              </a:rPr>
              <a:t>U.S. Bureau of Economic Analysis </a:t>
            </a:r>
            <a:r>
              <a:rPr lang="en-US" b="0" i="0" dirty="0">
                <a:solidFill>
                  <a:srgbClr val="48A1FA"/>
                </a:solidFill>
                <a:effectLst/>
                <a:latin typeface="+mj-lt"/>
              </a:rPr>
              <a:t> </a:t>
            </a:r>
            <a:endParaRPr lang="en-US" b="0" i="0" dirty="0">
              <a:solidFill>
                <a:srgbClr val="48A1FA"/>
              </a:solidFill>
              <a:effectLst/>
              <a:latin typeface="+mj-lt"/>
            </a:endParaRPr>
          </a:p>
          <a:p>
            <a:pPr algn="l"/>
            <a:endParaRPr lang="en-US" b="0" i="0" dirty="0">
              <a:solidFill>
                <a:srgbClr val="333333"/>
              </a:solidFill>
              <a:effectLst/>
              <a:latin typeface="+mj-lt"/>
            </a:endParaRPr>
          </a:p>
          <a:p>
            <a:pPr algn="l"/>
            <a:r>
              <a:rPr lang="en-US" b="1" i="0" dirty="0">
                <a:solidFill>
                  <a:srgbClr val="333333"/>
                </a:solidFill>
                <a:effectLst/>
                <a:latin typeface="+mj-lt"/>
              </a:rPr>
              <a:t>Release:</a:t>
            </a:r>
            <a:r>
              <a:rPr lang="en-US" b="0" i="0" dirty="0">
                <a:solidFill>
                  <a:srgbClr val="333333"/>
                </a:solidFill>
                <a:effectLst/>
                <a:latin typeface="+mj-lt"/>
              </a:rPr>
              <a:t> </a:t>
            </a:r>
            <a:r>
              <a:rPr lang="en-US" b="0" i="0" u="none" strike="noStrike" dirty="0">
                <a:solidFill>
                  <a:srgbClr val="48A1FA"/>
                </a:solidFill>
                <a:effectLst/>
                <a:latin typeface="+mj-lt"/>
                <a:hlinkClick r:id="rId2"/>
              </a:rPr>
              <a:t>Supplemental Estimates, Motor Vehicles </a:t>
            </a:r>
            <a:endParaRPr lang="en-US" b="0" i="0" u="none" strike="noStrike" dirty="0">
              <a:solidFill>
                <a:srgbClr val="48A1FA"/>
              </a:solidFill>
              <a:effectLst/>
              <a:latin typeface="+mj-lt"/>
            </a:endParaRPr>
          </a:p>
          <a:p>
            <a:pPr algn="l"/>
            <a:r>
              <a:rPr lang="en-US" b="0" i="0" dirty="0">
                <a:solidFill>
                  <a:srgbClr val="333333"/>
                </a:solidFill>
                <a:effectLst/>
                <a:latin typeface="+mj-lt"/>
              </a:rPr>
              <a:t> </a:t>
            </a:r>
            <a:endParaRPr lang="en-US" b="0" i="0" dirty="0">
              <a:solidFill>
                <a:srgbClr val="333333"/>
              </a:solidFill>
              <a:effectLst/>
              <a:latin typeface="+mj-lt"/>
            </a:endParaRPr>
          </a:p>
          <a:p>
            <a:pPr algn="l"/>
            <a:r>
              <a:rPr lang="en-US" b="1" i="0" dirty="0">
                <a:solidFill>
                  <a:srgbClr val="333333"/>
                </a:solidFill>
                <a:effectLst/>
                <a:latin typeface="+mj-lt"/>
              </a:rPr>
              <a:t>Units:</a:t>
            </a:r>
            <a:r>
              <a:rPr lang="en-US" b="0" i="0" dirty="0">
                <a:solidFill>
                  <a:srgbClr val="333333"/>
                </a:solidFill>
                <a:effectLst/>
                <a:latin typeface="+mj-lt"/>
              </a:rPr>
              <a:t>  </a:t>
            </a:r>
            <a:r>
              <a:rPr lang="en-US" dirty="0">
                <a:solidFill>
                  <a:srgbClr val="333333"/>
                </a:solidFill>
                <a:latin typeface="+mj-lt"/>
              </a:rPr>
              <a:t>Thousands of Units, Not Seasonally Adjusted</a:t>
            </a:r>
            <a:endParaRPr lang="en-US" dirty="0">
              <a:solidFill>
                <a:srgbClr val="333333"/>
              </a:solidFill>
              <a:latin typeface="+mj-lt"/>
            </a:endParaRPr>
          </a:p>
          <a:p>
            <a:pPr algn="l"/>
            <a:endParaRPr lang="en-US" b="0" i="0" dirty="0">
              <a:solidFill>
                <a:srgbClr val="333333"/>
              </a:solidFill>
              <a:effectLst/>
              <a:latin typeface="+mj-lt"/>
            </a:endParaRPr>
          </a:p>
          <a:p>
            <a:pPr algn="l"/>
            <a:r>
              <a:rPr lang="en-US" b="1" i="0" dirty="0">
                <a:solidFill>
                  <a:srgbClr val="333333"/>
                </a:solidFill>
                <a:effectLst/>
                <a:latin typeface="+mj-lt"/>
              </a:rPr>
              <a:t>Frequency:</a:t>
            </a:r>
            <a:r>
              <a:rPr lang="en-US" b="0" i="0" dirty="0">
                <a:solidFill>
                  <a:srgbClr val="333333"/>
                </a:solidFill>
                <a:effectLst/>
                <a:latin typeface="+mj-lt"/>
              </a:rPr>
              <a:t>  </a:t>
            </a:r>
            <a:r>
              <a:rPr lang="en-US" dirty="0">
                <a:solidFill>
                  <a:srgbClr val="333333"/>
                </a:solidFill>
                <a:latin typeface="+mj-lt"/>
              </a:rPr>
              <a:t>Monthly</a:t>
            </a:r>
            <a:endParaRPr lang="en-US" dirty="0">
              <a:solidFill>
                <a:srgbClr val="333333"/>
              </a:solidFill>
              <a:latin typeface="+mj-lt"/>
            </a:endParaRPr>
          </a:p>
          <a:p>
            <a:pPr algn="l"/>
            <a:endParaRPr lang="en-US" b="0" i="0" dirty="0">
              <a:solidFill>
                <a:srgbClr val="333333"/>
              </a:solidFill>
              <a:effectLst/>
              <a:latin typeface="+mj-lt"/>
            </a:endParaRPr>
          </a:p>
          <a:p>
            <a:pPr algn="l"/>
            <a:r>
              <a:rPr lang="en-US" b="1" i="0" dirty="0">
                <a:solidFill>
                  <a:srgbClr val="333333"/>
                </a:solidFill>
                <a:effectLst/>
                <a:latin typeface="+mj-lt"/>
              </a:rPr>
              <a:t>Citation: </a:t>
            </a:r>
            <a:r>
              <a:rPr lang="en-US" b="0" i="0" dirty="0">
                <a:solidFill>
                  <a:srgbClr val="333333"/>
                </a:solidFill>
                <a:effectLst/>
                <a:latin typeface="+mj-lt"/>
              </a:rPr>
              <a:t>U.S. Bureau of Economic Analysis, Light Weight Vehicle Sales [LTOTALNSA], retrieved from FRED, Federal Reserve Bank of St. Louis; https://fred.stlouisfed.org/series/LTOTALNSA, May 23, 2022.</a:t>
            </a:r>
            <a:endParaRPr lang="en-US" b="0" i="0" dirty="0">
              <a:solidFill>
                <a:srgbClr val="333333"/>
              </a:solidFill>
              <a:effectLst/>
              <a:latin typeface="+mj-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225" y="-209550"/>
            <a:ext cx="9779183" cy="1473999"/>
          </a:xfrm>
        </p:spPr>
        <p:txBody>
          <a:bodyPr/>
          <a:lstStyle/>
          <a:p>
            <a:r>
              <a:rPr lang="en-US" dirty="0"/>
              <a:t>Dataset Description</a:t>
            </a:r>
            <a:br>
              <a:rPr lang="en-US" dirty="0"/>
            </a:br>
            <a:endParaRPr lang="en-US" sz="2400" dirty="0">
              <a:solidFill>
                <a:srgbClr val="006C31"/>
              </a:solidFill>
            </a:endParaRPr>
          </a:p>
        </p:txBody>
      </p:sp>
      <p:sp>
        <p:nvSpPr>
          <p:cNvPr id="3" name="Date Placeholder 2"/>
          <p:cNvSpPr>
            <a:spLocks noGrp="1"/>
          </p:cNvSpPr>
          <p:nvPr>
            <p:ph type="dt" sz="half" idx="2"/>
          </p:nvPr>
        </p:nvSpPr>
        <p:spPr>
          <a:xfrm>
            <a:off x="116080" y="6356349"/>
            <a:ext cx="2229956" cy="365125"/>
          </a:xfrm>
        </p:spPr>
        <p:txBody>
          <a:bodyPr/>
          <a:lstStyle/>
          <a:p>
            <a:r>
              <a:rPr lang="en-US" dirty="0"/>
              <a:t>Specialized Models: Time Series and Survival Analysis</a:t>
            </a:r>
            <a:endParaRPr lang="en-US" dirty="0"/>
          </a:p>
        </p:txBody>
      </p:sp>
      <p:sp>
        <p:nvSpPr>
          <p:cNvPr id="7" name="Slide Number Placeholder 6"/>
          <p:cNvSpPr>
            <a:spLocks noGrp="1"/>
          </p:cNvSpPr>
          <p:nvPr>
            <p:ph type="sldNum" sz="quarter" idx="4"/>
          </p:nvPr>
        </p:nvSpPr>
        <p:spPr/>
        <p:txBody>
          <a:bodyPr/>
          <a:lstStyle/>
          <a:p>
            <a:fld id="{294A09A9-5501-47C1-A89A-A340965A2BE2}" type="slidenum">
              <a:rPr lang="en-US" sz="1800" smtClean="0"/>
            </a:fld>
            <a:endParaRPr lang="en-US" sz="2400" dirty="0"/>
          </a:p>
        </p:txBody>
      </p:sp>
      <p:sp>
        <p:nvSpPr>
          <p:cNvPr id="23" name="TextBox 22"/>
          <p:cNvSpPr txBox="1"/>
          <p:nvPr/>
        </p:nvSpPr>
        <p:spPr>
          <a:xfrm>
            <a:off x="764440" y="1331199"/>
            <a:ext cx="8852246" cy="3877985"/>
          </a:xfrm>
          <a:prstGeom prst="rect">
            <a:avLst/>
          </a:prstGeom>
          <a:noFill/>
        </p:spPr>
        <p:txBody>
          <a:bodyPr wrap="square" rtlCol="0">
            <a:spAutoFit/>
          </a:bodyPr>
          <a:lstStyle/>
          <a:p>
            <a:r>
              <a:rPr lang="en-US" dirty="0">
                <a:solidFill>
                  <a:srgbClr val="292929"/>
                </a:solidFill>
              </a:rPr>
              <a:t>The dataset consists of two columns:</a:t>
            </a:r>
            <a:endParaRPr lang="en-US" dirty="0">
              <a:solidFill>
                <a:srgbClr val="292929"/>
              </a:solidFill>
            </a:endParaRPr>
          </a:p>
          <a:p>
            <a:endParaRPr lang="en-US" dirty="0">
              <a:solidFill>
                <a:srgbClr val="292929"/>
              </a:solidFill>
            </a:endParaRPr>
          </a:p>
          <a:p>
            <a:pPr marL="285750" indent="-285750">
              <a:buFont typeface="Arial" panose="020B0604020202020204" pitchFamily="34" charset="0"/>
              <a:buChar char="•"/>
            </a:pPr>
            <a:r>
              <a:rPr lang="en-US" dirty="0">
                <a:solidFill>
                  <a:srgbClr val="292929"/>
                </a:solidFill>
              </a:rPr>
              <a:t>DATE</a:t>
            </a:r>
            <a:endParaRPr lang="en-US" dirty="0">
              <a:solidFill>
                <a:srgbClr val="292929"/>
              </a:solidFill>
            </a:endParaRPr>
          </a:p>
          <a:p>
            <a:pPr marL="285750" indent="-285750">
              <a:buFont typeface="Arial" panose="020B0604020202020204" pitchFamily="34" charset="0"/>
              <a:buChar char="•"/>
            </a:pPr>
            <a:r>
              <a:rPr lang="en-US" dirty="0">
                <a:solidFill>
                  <a:srgbClr val="292929"/>
                </a:solidFill>
              </a:rPr>
              <a:t>LTOTALNSA (relabeled to “SALES”)</a:t>
            </a:r>
            <a:endParaRPr lang="en-US" dirty="0">
              <a:solidFill>
                <a:srgbClr val="292929"/>
              </a:solidFill>
            </a:endParaRPr>
          </a:p>
          <a:p>
            <a:pPr marL="285750" indent="-285750">
              <a:buFont typeface="Arial" panose="020B0604020202020204" pitchFamily="34" charset="0"/>
              <a:buChar char="•"/>
            </a:pPr>
            <a:endParaRPr lang="en-US" dirty="0">
              <a:solidFill>
                <a:srgbClr val="292929"/>
              </a:solidFill>
            </a:endParaRPr>
          </a:p>
          <a:p>
            <a:pPr marL="285750" indent="-285750">
              <a:buFont typeface="Arial" panose="020B0604020202020204" pitchFamily="34" charset="0"/>
              <a:buChar char="•"/>
            </a:pPr>
            <a:endParaRPr lang="en-US" dirty="0">
              <a:solidFill>
                <a:srgbClr val="292929"/>
              </a:solidFill>
            </a:endParaRPr>
          </a:p>
          <a:p>
            <a:r>
              <a:rPr lang="en-US" dirty="0">
                <a:solidFill>
                  <a:srgbClr val="292929"/>
                </a:solidFill>
              </a:rPr>
              <a:t>DATE : contains monthly dates from 1976 – 2022 </a:t>
            </a:r>
            <a:endParaRPr lang="en-US" dirty="0">
              <a:solidFill>
                <a:srgbClr val="292929"/>
              </a:solidFill>
            </a:endParaRPr>
          </a:p>
          <a:p>
            <a:pPr marL="285750" indent="-285750">
              <a:buFont typeface="Arial" panose="020B0604020202020204" pitchFamily="34" charset="0"/>
              <a:buChar char="•"/>
            </a:pPr>
            <a:r>
              <a:rPr lang="en-US" sz="1600" dirty="0">
                <a:solidFill>
                  <a:srgbClr val="48A1FA"/>
                </a:solidFill>
              </a:rPr>
              <a:t>For instance: 1976-04-01 (YYYY-MM-DD)</a:t>
            </a:r>
            <a:endParaRPr lang="en-US" sz="1600" dirty="0">
              <a:solidFill>
                <a:srgbClr val="48A1FA"/>
              </a:solidFill>
            </a:endParaRPr>
          </a:p>
          <a:p>
            <a:endParaRPr lang="en-US" dirty="0">
              <a:solidFill>
                <a:srgbClr val="292929"/>
              </a:solidFill>
            </a:endParaRPr>
          </a:p>
          <a:p>
            <a:r>
              <a:rPr lang="en-US" dirty="0">
                <a:solidFill>
                  <a:srgbClr val="292929"/>
                </a:solidFill>
              </a:rPr>
              <a:t>SALES: contains monthly </a:t>
            </a:r>
            <a:r>
              <a:rPr lang="en-US" dirty="0">
                <a:solidFill>
                  <a:srgbClr val="333333"/>
                </a:solidFill>
                <a:latin typeface="+mj-lt"/>
              </a:rPr>
              <a:t>light weight vehicle sales in thousands of units </a:t>
            </a:r>
            <a:endParaRPr lang="en-US" dirty="0">
              <a:solidFill>
                <a:srgbClr val="333333"/>
              </a:solidFill>
              <a:latin typeface="+mj-lt"/>
            </a:endParaRPr>
          </a:p>
          <a:p>
            <a:pPr marL="285750" indent="-285750">
              <a:buFont typeface="Arial" panose="020B0604020202020204" pitchFamily="34" charset="0"/>
              <a:buChar char="•"/>
            </a:pPr>
            <a:r>
              <a:rPr lang="en-US" sz="1600" dirty="0">
                <a:solidFill>
                  <a:srgbClr val="48A1FA"/>
                </a:solidFill>
              </a:rPr>
              <a:t>For instance :  1163.2 thousand of vehicle (1163200 units) are sold in this date.</a:t>
            </a:r>
            <a:endParaRPr lang="en-US" sz="1600" dirty="0">
              <a:solidFill>
                <a:srgbClr val="48A1FA"/>
              </a:solidFill>
            </a:endParaRPr>
          </a:p>
          <a:p>
            <a:pPr marL="285750" indent="-285750">
              <a:buFont typeface="Arial" panose="020B0604020202020204" pitchFamily="34" charset="0"/>
              <a:buChar char="•"/>
            </a:pPr>
            <a:endParaRPr lang="en-US" sz="1600" dirty="0">
              <a:solidFill>
                <a:srgbClr val="48A1FA"/>
              </a:solidFill>
            </a:endParaRPr>
          </a:p>
          <a:p>
            <a:r>
              <a:rPr lang="en-US" dirty="0">
                <a:solidFill>
                  <a:srgbClr val="292929"/>
                </a:solidFill>
              </a:rPr>
              <a:t>Number of records : </a:t>
            </a:r>
            <a:endParaRPr lang="en-US" dirty="0">
              <a:solidFill>
                <a:srgbClr val="292929"/>
              </a:solidFill>
            </a:endParaRPr>
          </a:p>
          <a:p>
            <a:pPr marL="285750" indent="-285750">
              <a:buFont typeface="Arial" panose="020B0604020202020204" pitchFamily="34" charset="0"/>
              <a:buChar char="•"/>
            </a:pPr>
            <a:r>
              <a:rPr lang="en-US" sz="1600" dirty="0">
                <a:solidFill>
                  <a:srgbClr val="48A1FA"/>
                </a:solidFill>
              </a:rPr>
              <a:t>555 rows</a:t>
            </a:r>
            <a:endParaRPr lang="en-US" sz="1600" dirty="0">
              <a:solidFill>
                <a:srgbClr val="48A1FA"/>
              </a:solidFill>
            </a:endParaRPr>
          </a:p>
        </p:txBody>
      </p:sp>
      <p:sp>
        <p:nvSpPr>
          <p:cNvPr id="18" name="TextBox 17"/>
          <p:cNvSpPr txBox="1"/>
          <p:nvPr/>
        </p:nvSpPr>
        <p:spPr>
          <a:xfrm>
            <a:off x="764440" y="961867"/>
            <a:ext cx="8852246" cy="369332"/>
          </a:xfrm>
          <a:prstGeom prst="rect">
            <a:avLst/>
          </a:prstGeom>
          <a:noFill/>
        </p:spPr>
        <p:txBody>
          <a:bodyPr wrap="square" rtlCol="0">
            <a:spAutoFit/>
          </a:bodyPr>
          <a:lstStyle/>
          <a:p>
            <a:r>
              <a:rPr lang="en-US" b="1" dirty="0">
                <a:solidFill>
                  <a:srgbClr val="48A1FA"/>
                </a:solidFill>
                <a:latin typeface="+mj-lt"/>
              </a:rPr>
              <a:t>Importing the dataset into a data frame &amp; describing the attributes </a:t>
            </a:r>
            <a:endParaRPr lang="en-US" b="1" dirty="0">
              <a:solidFill>
                <a:srgbClr val="48A1FA"/>
              </a:solidFill>
              <a:latin typeface="+mj-lt"/>
            </a:endParaRPr>
          </a:p>
        </p:txBody>
      </p:sp>
      <p:pic>
        <p:nvPicPr>
          <p:cNvPr id="5" name="Picture 4"/>
          <p:cNvPicPr>
            <a:picLocks noChangeAspect="1"/>
          </p:cNvPicPr>
          <p:nvPr/>
        </p:nvPicPr>
        <p:blipFill>
          <a:blip r:embed="rId1"/>
          <a:stretch>
            <a:fillRect/>
          </a:stretch>
        </p:blipFill>
        <p:spPr>
          <a:xfrm>
            <a:off x="8825214" y="1703701"/>
            <a:ext cx="1800225" cy="40481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60134" y="520311"/>
            <a:ext cx="9779183" cy="2155370"/>
          </a:xfrm>
        </p:spPr>
        <p:txBody>
          <a:bodyPr/>
          <a:lstStyle/>
          <a:p>
            <a:r>
              <a:rPr lang="en-US" dirty="0"/>
              <a:t>Main Objective of the analysis:</a:t>
            </a:r>
            <a:br>
              <a:rPr lang="en-US" dirty="0"/>
            </a:br>
            <a:r>
              <a:rPr lang="en-US" dirty="0"/>
              <a:t> </a:t>
            </a:r>
            <a:br>
              <a:rPr lang="en-US" dirty="0"/>
            </a:br>
            <a:endParaRPr lang="en-US" dirty="0"/>
          </a:p>
        </p:txBody>
      </p:sp>
      <p:sp>
        <p:nvSpPr>
          <p:cNvPr id="3" name="Date Placeholder 2"/>
          <p:cNvSpPr>
            <a:spLocks noGrp="1"/>
          </p:cNvSpPr>
          <p:nvPr>
            <p:ph type="dt" sz="half" idx="2"/>
          </p:nvPr>
        </p:nvSpPr>
        <p:spPr>
          <a:xfrm>
            <a:off x="0" y="6337688"/>
            <a:ext cx="2018923" cy="365125"/>
          </a:xfrm>
        </p:spPr>
        <p:txBody>
          <a:bodyPr/>
          <a:lstStyle/>
          <a:p>
            <a:r>
              <a:rPr lang="en-US" dirty="0"/>
              <a:t>Specialized Models: Time Series and Survival Analysis</a:t>
            </a:r>
            <a:endParaRPr lang="en-US" dirty="0"/>
          </a:p>
        </p:txBody>
      </p:sp>
      <p:sp>
        <p:nvSpPr>
          <p:cNvPr id="5" name="Slide Number Placeholder 4"/>
          <p:cNvSpPr>
            <a:spLocks noGrp="1"/>
          </p:cNvSpPr>
          <p:nvPr>
            <p:ph type="sldNum" sz="quarter" idx="4"/>
          </p:nvPr>
        </p:nvSpPr>
        <p:spPr/>
        <p:txBody>
          <a:bodyPr/>
          <a:lstStyle/>
          <a:p>
            <a:fld id="{294A09A9-5501-47C1-A89A-A340965A2BE2}" type="slidenum">
              <a:rPr lang="en-US" smtClean="0"/>
            </a:fld>
            <a:endParaRPr lang="en-US" dirty="0"/>
          </a:p>
        </p:txBody>
      </p:sp>
      <p:sp>
        <p:nvSpPr>
          <p:cNvPr id="30" name="TextBox 29"/>
          <p:cNvSpPr txBox="1"/>
          <p:nvPr/>
        </p:nvSpPr>
        <p:spPr>
          <a:xfrm>
            <a:off x="860134" y="1951672"/>
            <a:ext cx="10244607" cy="2308324"/>
          </a:xfrm>
          <a:prstGeom prst="rect">
            <a:avLst/>
          </a:prstGeom>
          <a:noFill/>
        </p:spPr>
        <p:txBody>
          <a:bodyPr wrap="square" rtlCol="0">
            <a:spAutoFit/>
          </a:bodyPr>
          <a:lstStyle/>
          <a:p>
            <a:pPr algn="just"/>
            <a:r>
              <a:rPr lang="en-US" sz="2400" dirty="0"/>
              <a:t>In this analysis we will explore the dataset of </a:t>
            </a:r>
            <a:r>
              <a:rPr lang="en-US" sz="2400" dirty="0">
                <a:solidFill>
                  <a:srgbClr val="48A1FA"/>
                </a:solidFill>
              </a:rPr>
              <a:t>monthly </a:t>
            </a:r>
            <a:r>
              <a:rPr lang="en-US" sz="2400" dirty="0">
                <a:solidFill>
                  <a:srgbClr val="48A1FA"/>
                </a:solidFill>
                <a:latin typeface="+mj-lt"/>
              </a:rPr>
              <a:t>Lightweight Vehicle Sales </a:t>
            </a:r>
            <a:r>
              <a:rPr lang="en-US" sz="2400" dirty="0">
                <a:solidFill>
                  <a:srgbClr val="48A1FA"/>
                </a:solidFill>
              </a:rPr>
              <a:t>in USA </a:t>
            </a:r>
            <a:r>
              <a:rPr lang="en-US" sz="2400" dirty="0"/>
              <a:t>from </a:t>
            </a:r>
            <a:r>
              <a:rPr lang="en-US" sz="2400" dirty="0">
                <a:solidFill>
                  <a:srgbClr val="48A1FA"/>
                </a:solidFill>
              </a:rPr>
              <a:t>1976</a:t>
            </a:r>
            <a:r>
              <a:rPr lang="en-US" sz="2400" dirty="0"/>
              <a:t> to </a:t>
            </a:r>
            <a:r>
              <a:rPr lang="en-US" sz="2400" dirty="0">
                <a:solidFill>
                  <a:srgbClr val="48A1FA"/>
                </a:solidFill>
              </a:rPr>
              <a:t>2022</a:t>
            </a:r>
            <a:r>
              <a:rPr lang="en-US" sz="2400" dirty="0"/>
              <a:t> in more details for the sake of approaching time series techniques and models in order to help the owners of lightweight vehicles showrooms in USA to draw the conclusions and insights and make the right decision of their business.</a:t>
            </a:r>
            <a:endParaRPr lang="en-US" sz="2400" dirty="0"/>
          </a:p>
          <a:p>
            <a:pPr algn="just"/>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3021" y="1791018"/>
            <a:ext cx="9229020" cy="2810460"/>
          </a:xfrm>
        </p:spPr>
        <p:txBody>
          <a:bodyPr>
            <a:normAutofit/>
          </a:bodyPr>
          <a:lstStyle/>
          <a:p>
            <a:r>
              <a:rPr lang="en-US" sz="4400" dirty="0"/>
              <a:t>Exploratory Data Analysis  (EDA) + Feature Engineering Section</a:t>
            </a:r>
            <a:endParaRPr lang="en-US" sz="4400" dirty="0"/>
          </a:p>
        </p:txBody>
      </p:sp>
      <p:sp>
        <p:nvSpPr>
          <p:cNvPr id="3" name="Date Placeholder 2"/>
          <p:cNvSpPr>
            <a:spLocks noGrp="1"/>
          </p:cNvSpPr>
          <p:nvPr>
            <p:ph type="dt" sz="half" idx="10"/>
          </p:nvPr>
        </p:nvSpPr>
        <p:spPr>
          <a:xfrm>
            <a:off x="381000" y="6356350"/>
            <a:ext cx="3946556" cy="365125"/>
          </a:xfrm>
        </p:spPr>
        <p:txBody>
          <a:bodyPr/>
          <a:lstStyle/>
          <a:p>
            <a:r>
              <a:rPr lang="en-US" dirty="0"/>
              <a:t>Specialized Models: Time Series and Survival Analysis</a:t>
            </a:r>
            <a:endParaRPr lang="en-US" dirty="0"/>
          </a:p>
        </p:txBody>
      </p:sp>
      <p:sp>
        <p:nvSpPr>
          <p:cNvPr id="5" name="Slide Number Placeholder 4"/>
          <p:cNvSpPr>
            <a:spLocks noGrp="1"/>
          </p:cNvSpPr>
          <p:nvPr>
            <p:ph type="sldNum" sz="quarter" idx="12"/>
          </p:nvPr>
        </p:nvSpPr>
        <p:spPr/>
        <p:txBody>
          <a:bodyPr/>
          <a:lstStyle/>
          <a:p>
            <a:fld id="{294A09A9-5501-47C1-A89A-A340965A2BE2}" type="slidenum">
              <a:rPr lang="en-US" sz="1800"/>
            </a:fld>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2"/>
          </p:nvPr>
        </p:nvSpPr>
        <p:spPr>
          <a:xfrm>
            <a:off x="208983" y="6357167"/>
            <a:ext cx="3964665" cy="365125"/>
          </a:xfrm>
        </p:spPr>
        <p:txBody>
          <a:bodyPr/>
          <a:lstStyle/>
          <a:p>
            <a:r>
              <a:rPr lang="en-US" dirty="0"/>
              <a:t>Specialized Models: Time Series and Survival Analysis</a:t>
            </a:r>
            <a:endParaRPr lang="en-US" dirty="0"/>
          </a:p>
        </p:txBody>
      </p:sp>
      <p:sp>
        <p:nvSpPr>
          <p:cNvPr id="8" name="Slide Number Placeholder 7"/>
          <p:cNvSpPr>
            <a:spLocks noGrp="1"/>
          </p:cNvSpPr>
          <p:nvPr>
            <p:ph type="sldNum" sz="quarter" idx="4"/>
          </p:nvPr>
        </p:nvSpPr>
        <p:spPr/>
        <p:txBody>
          <a:bodyPr/>
          <a:lstStyle/>
          <a:p>
            <a:fld id="{294A09A9-5501-47C1-A89A-A340965A2BE2}" type="slidenum">
              <a:rPr lang="en-US" sz="1800"/>
            </a:fld>
            <a:endParaRPr lang="en-US" sz="1800" dirty="0"/>
          </a:p>
        </p:txBody>
      </p:sp>
      <p:sp>
        <p:nvSpPr>
          <p:cNvPr id="5" name="TextBox 4"/>
          <p:cNvSpPr txBox="1"/>
          <p:nvPr/>
        </p:nvSpPr>
        <p:spPr>
          <a:xfrm>
            <a:off x="566179" y="1538931"/>
            <a:ext cx="10196309" cy="4678204"/>
          </a:xfrm>
          <a:prstGeom prst="rect">
            <a:avLst/>
          </a:prstGeom>
          <a:noFill/>
        </p:spPr>
        <p:txBody>
          <a:bodyPr wrap="square">
            <a:spAutoFit/>
          </a:bodyPr>
          <a:lstStyle/>
          <a:p>
            <a:pPr>
              <a:lnSpc>
                <a:spcPct val="90000"/>
              </a:lnSpc>
              <a:spcBef>
                <a:spcPts val="1000"/>
              </a:spcBef>
            </a:pPr>
            <a:r>
              <a:rPr lang="en-US" b="1" dirty="0">
                <a:solidFill>
                  <a:srgbClr val="48A1FA"/>
                </a:solidFill>
                <a:latin typeface="+mj-lt"/>
              </a:rPr>
              <a:t>White Noise: </a:t>
            </a:r>
            <a:endParaRPr lang="en-US" b="1" dirty="0">
              <a:solidFill>
                <a:srgbClr val="48A1FA"/>
              </a:solidFill>
              <a:latin typeface="+mj-lt"/>
            </a:endParaRPr>
          </a:p>
          <a:p>
            <a:pPr>
              <a:lnSpc>
                <a:spcPct val="90000"/>
              </a:lnSpc>
              <a:spcBef>
                <a:spcPts val="1000"/>
              </a:spcBef>
            </a:pPr>
            <a:r>
              <a:rPr lang="en-US" sz="1600" b="1" dirty="0">
                <a:latin typeface="+mj-lt"/>
              </a:rPr>
              <a:t>Time series can be considered as white noise (can’t be modeled for forecasting) if it satisfies three conditions : </a:t>
            </a:r>
            <a:endParaRPr lang="en-US" sz="1600" b="1" dirty="0">
              <a:latin typeface="+mj-lt"/>
            </a:endParaRPr>
          </a:p>
          <a:p>
            <a:pPr marL="342900" indent="-342900">
              <a:lnSpc>
                <a:spcPct val="90000"/>
              </a:lnSpc>
              <a:spcBef>
                <a:spcPts val="1000"/>
              </a:spcBef>
              <a:buFont typeface="+mj-lt"/>
              <a:buAutoNum type="arabicPeriod"/>
            </a:pPr>
            <a:r>
              <a:rPr lang="en-US" sz="1600" b="1" dirty="0">
                <a:latin typeface="+mj-lt"/>
              </a:rPr>
              <a:t>Approximately zero mean over the time series. </a:t>
            </a:r>
            <a:endParaRPr lang="en-US" sz="1600" b="1" dirty="0">
              <a:latin typeface="+mj-lt"/>
            </a:endParaRPr>
          </a:p>
          <a:p>
            <a:pPr marL="342900" indent="-342900">
              <a:lnSpc>
                <a:spcPct val="90000"/>
              </a:lnSpc>
              <a:spcBef>
                <a:spcPts val="1000"/>
              </a:spcBef>
              <a:buFont typeface="+mj-lt"/>
              <a:buAutoNum type="arabicPeriod"/>
            </a:pPr>
            <a:r>
              <a:rPr lang="en-US" sz="1600" b="1" dirty="0">
                <a:latin typeface="+mj-lt"/>
              </a:rPr>
              <a:t>Constant standard deviation over the time series.</a:t>
            </a:r>
            <a:endParaRPr lang="en-US" sz="1600" b="1" dirty="0">
              <a:latin typeface="+mj-lt"/>
            </a:endParaRPr>
          </a:p>
          <a:p>
            <a:pPr marL="342900" indent="-342900">
              <a:lnSpc>
                <a:spcPct val="90000"/>
              </a:lnSpc>
              <a:spcBef>
                <a:spcPts val="1000"/>
              </a:spcBef>
              <a:buFont typeface="+mj-lt"/>
              <a:buAutoNum type="arabicPeriod"/>
            </a:pPr>
            <a:r>
              <a:rPr lang="en-US" sz="1600" b="1" dirty="0">
                <a:latin typeface="+mj-lt"/>
              </a:rPr>
              <a:t>Specific patterns in the correlations between the time series and its lags.  </a:t>
            </a:r>
            <a:endParaRPr lang="en-US" sz="1600" b="1" dirty="0">
              <a:latin typeface="+mj-lt"/>
            </a:endParaRPr>
          </a:p>
          <a:p>
            <a:pPr marL="342900" indent="-342900">
              <a:lnSpc>
                <a:spcPct val="90000"/>
              </a:lnSpc>
              <a:spcBef>
                <a:spcPts val="1000"/>
              </a:spcBef>
              <a:buFont typeface="+mj-lt"/>
              <a:buAutoNum type="arabicPeriod"/>
            </a:pPr>
            <a:endParaRPr lang="en-US" sz="1600" b="1" dirty="0">
              <a:latin typeface="+mj-lt"/>
            </a:endParaRPr>
          </a:p>
          <a:p>
            <a:pPr>
              <a:lnSpc>
                <a:spcPct val="90000"/>
              </a:lnSpc>
              <a:spcBef>
                <a:spcPts val="1000"/>
              </a:spcBef>
            </a:pPr>
            <a:r>
              <a:rPr lang="en-US" b="1" dirty="0">
                <a:solidFill>
                  <a:srgbClr val="48A1FA"/>
                </a:solidFill>
                <a:latin typeface="+mj-lt"/>
              </a:rPr>
              <a:t>Stationarity: </a:t>
            </a:r>
            <a:endParaRPr lang="en-US" b="1" dirty="0">
              <a:solidFill>
                <a:srgbClr val="48A1FA"/>
              </a:solidFill>
              <a:latin typeface="+mj-lt"/>
            </a:endParaRPr>
          </a:p>
          <a:p>
            <a:pPr>
              <a:lnSpc>
                <a:spcPct val="90000"/>
              </a:lnSpc>
              <a:spcBef>
                <a:spcPts val="1000"/>
              </a:spcBef>
            </a:pPr>
            <a:r>
              <a:rPr lang="en-US" sz="1600" b="1" dirty="0">
                <a:latin typeface="+mj-lt"/>
              </a:rPr>
              <a:t>In order a time series data to be stationary, the data must exhibit four properties over time:</a:t>
            </a:r>
            <a:endParaRPr lang="en-US" sz="1600" b="1" dirty="0">
              <a:latin typeface="+mj-lt"/>
            </a:endParaRPr>
          </a:p>
          <a:p>
            <a:pPr marL="342900" indent="-342900">
              <a:lnSpc>
                <a:spcPct val="90000"/>
              </a:lnSpc>
              <a:spcBef>
                <a:spcPts val="1000"/>
              </a:spcBef>
              <a:buFont typeface="+mj-lt"/>
              <a:buAutoNum type="arabicPeriod"/>
            </a:pPr>
            <a:r>
              <a:rPr lang="en-US" sz="1600" b="1" dirty="0">
                <a:latin typeface="+mj-lt"/>
              </a:rPr>
              <a:t>constant mean</a:t>
            </a:r>
            <a:endParaRPr lang="en-US" sz="1600" b="1" dirty="0">
              <a:latin typeface="+mj-lt"/>
            </a:endParaRPr>
          </a:p>
          <a:p>
            <a:pPr marL="342900" indent="-342900">
              <a:lnSpc>
                <a:spcPct val="90000"/>
              </a:lnSpc>
              <a:spcBef>
                <a:spcPts val="1000"/>
              </a:spcBef>
              <a:buFont typeface="+mj-lt"/>
              <a:buAutoNum type="arabicPeriod"/>
            </a:pPr>
            <a:r>
              <a:rPr lang="en-US" sz="1600" b="1" dirty="0">
                <a:latin typeface="+mj-lt"/>
              </a:rPr>
              <a:t>constant variance</a:t>
            </a:r>
            <a:endParaRPr lang="en-US" sz="1600" b="1" dirty="0">
              <a:latin typeface="+mj-lt"/>
            </a:endParaRPr>
          </a:p>
          <a:p>
            <a:pPr marL="342900" indent="-342900">
              <a:lnSpc>
                <a:spcPct val="90000"/>
              </a:lnSpc>
              <a:spcBef>
                <a:spcPts val="1000"/>
              </a:spcBef>
              <a:buFont typeface="+mj-lt"/>
              <a:buAutoNum type="arabicPeriod"/>
            </a:pPr>
            <a:r>
              <a:rPr lang="en-US" sz="1600" b="1" dirty="0">
                <a:latin typeface="+mj-lt"/>
              </a:rPr>
              <a:t>constant autocorrelation structure</a:t>
            </a:r>
            <a:endParaRPr lang="en-US" sz="1600" b="1" dirty="0">
              <a:latin typeface="+mj-lt"/>
            </a:endParaRPr>
          </a:p>
          <a:p>
            <a:pPr marL="342900" indent="-342900">
              <a:lnSpc>
                <a:spcPct val="90000"/>
              </a:lnSpc>
              <a:spcBef>
                <a:spcPts val="1000"/>
              </a:spcBef>
              <a:buFont typeface="+mj-lt"/>
              <a:buAutoNum type="arabicPeriod"/>
            </a:pPr>
            <a:r>
              <a:rPr lang="en-US" sz="1600" b="1" dirty="0">
                <a:latin typeface="+mj-lt"/>
              </a:rPr>
              <a:t>no periodic component</a:t>
            </a:r>
            <a:endParaRPr lang="en-US" sz="1600" b="1" dirty="0">
              <a:latin typeface="+mj-lt"/>
            </a:endParaRPr>
          </a:p>
          <a:p>
            <a:pPr>
              <a:lnSpc>
                <a:spcPct val="90000"/>
              </a:lnSpc>
              <a:spcBef>
                <a:spcPts val="1000"/>
              </a:spcBef>
            </a:pPr>
            <a:endParaRPr lang="en-US" sz="2000" b="1" dirty="0">
              <a:solidFill>
                <a:srgbClr val="48A1FA"/>
              </a:solidFill>
              <a:latin typeface="+mj-lt"/>
            </a:endParaRPr>
          </a:p>
        </p:txBody>
      </p:sp>
      <p:sp>
        <p:nvSpPr>
          <p:cNvPr id="15" name="TextBox 14"/>
          <p:cNvSpPr txBox="1"/>
          <p:nvPr/>
        </p:nvSpPr>
        <p:spPr>
          <a:xfrm>
            <a:off x="443497" y="68569"/>
            <a:ext cx="7762365" cy="757130"/>
          </a:xfrm>
          <a:prstGeom prst="rect">
            <a:avLst/>
          </a:prstGeom>
          <a:noFill/>
        </p:spPr>
        <p:txBody>
          <a:bodyPr wrap="square">
            <a:spAutoFit/>
          </a:bodyPr>
          <a:lstStyle/>
          <a:p>
            <a:pPr>
              <a:lnSpc>
                <a:spcPct val="90000"/>
              </a:lnSpc>
              <a:spcBef>
                <a:spcPct val="0"/>
              </a:spcBef>
            </a:pPr>
            <a:r>
              <a:rPr lang="en-US" sz="4800" b="1" dirty="0">
                <a:latin typeface="+mj-lt"/>
                <a:ea typeface="+mj-ea"/>
                <a:cs typeface="+mj-cs"/>
              </a:rPr>
              <a:t>Exploratory Data Analysis</a:t>
            </a:r>
            <a:endParaRPr lang="en-US" sz="4800" b="1" dirty="0">
              <a:latin typeface="+mj-lt"/>
              <a:ea typeface="+mj-ea"/>
              <a:cs typeface="+mj-cs"/>
            </a:endParaRPr>
          </a:p>
        </p:txBody>
      </p:sp>
      <p:sp>
        <p:nvSpPr>
          <p:cNvPr id="11" name="TextBox 10"/>
          <p:cNvSpPr txBox="1"/>
          <p:nvPr/>
        </p:nvSpPr>
        <p:spPr>
          <a:xfrm>
            <a:off x="566178" y="956467"/>
            <a:ext cx="7507973" cy="369332"/>
          </a:xfrm>
          <a:prstGeom prst="rect">
            <a:avLst/>
          </a:prstGeom>
          <a:noFill/>
        </p:spPr>
        <p:txBody>
          <a:bodyPr wrap="square">
            <a:spAutoFit/>
          </a:bodyPr>
          <a:lstStyle/>
          <a:p>
            <a:pPr>
              <a:lnSpc>
                <a:spcPct val="90000"/>
              </a:lnSpc>
              <a:spcBef>
                <a:spcPts val="1000"/>
              </a:spcBef>
            </a:pPr>
            <a:r>
              <a:rPr lang="en-US" sz="2000" b="1" dirty="0">
                <a:solidFill>
                  <a:srgbClr val="48A1FA"/>
                </a:solidFill>
                <a:latin typeface="+mj-lt"/>
              </a:rPr>
              <a:t>We are going to apply different tests &amp; analysis to check each of : </a:t>
            </a:r>
            <a:endParaRPr lang="en-US" sz="2000" b="1" dirty="0">
              <a:solidFill>
                <a:srgbClr val="48A1FA"/>
              </a:solidFill>
              <a:latin typeface="+mj-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2"/>
          </p:nvPr>
        </p:nvSpPr>
        <p:spPr>
          <a:xfrm>
            <a:off x="380999" y="6356350"/>
            <a:ext cx="3901290" cy="365125"/>
          </a:xfrm>
        </p:spPr>
        <p:txBody>
          <a:bodyPr/>
          <a:lstStyle/>
          <a:p>
            <a:r>
              <a:rPr lang="en-US" dirty="0"/>
              <a:t>Specialized Models: Time Series and Survival Analysis</a:t>
            </a:r>
            <a:endParaRPr lang="en-US" dirty="0"/>
          </a:p>
        </p:txBody>
      </p:sp>
      <p:sp>
        <p:nvSpPr>
          <p:cNvPr id="9" name="Slide Number Placeholder 8"/>
          <p:cNvSpPr>
            <a:spLocks noGrp="1"/>
          </p:cNvSpPr>
          <p:nvPr>
            <p:ph type="sldNum" sz="quarter" idx="4"/>
          </p:nvPr>
        </p:nvSpPr>
        <p:spPr/>
        <p:txBody>
          <a:bodyPr/>
          <a:lstStyle/>
          <a:p>
            <a:fld id="{294A09A9-5501-47C1-A89A-A340965A2BE2}" type="slidenum">
              <a:rPr lang="en-US" sz="1800"/>
            </a:fld>
            <a:endParaRPr lang="en-US" sz="1800" dirty="0"/>
          </a:p>
        </p:txBody>
      </p:sp>
      <p:sp>
        <p:nvSpPr>
          <p:cNvPr id="10" name="Title 1"/>
          <p:cNvSpPr txBox="1"/>
          <p:nvPr/>
        </p:nvSpPr>
        <p:spPr>
          <a:xfrm>
            <a:off x="868103" y="466855"/>
            <a:ext cx="9779183" cy="619154"/>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800" b="1" kern="1200">
                <a:solidFill>
                  <a:schemeClr val="tx1"/>
                </a:solidFill>
                <a:latin typeface="+mj-lt"/>
                <a:ea typeface="+mj-ea"/>
                <a:cs typeface="+mj-cs"/>
              </a:defRPr>
            </a:lvl1pPr>
          </a:lstStyle>
          <a:p>
            <a:r>
              <a:rPr lang="en-US" dirty="0"/>
              <a:t>Exploratory Data Analysis</a:t>
            </a:r>
            <a:endParaRPr lang="en-US" dirty="0"/>
          </a:p>
        </p:txBody>
      </p:sp>
      <p:pic>
        <p:nvPicPr>
          <p:cNvPr id="3" name="Picture 2"/>
          <p:cNvPicPr>
            <a:picLocks noChangeAspect="1"/>
          </p:cNvPicPr>
          <p:nvPr/>
        </p:nvPicPr>
        <p:blipFill>
          <a:blip r:embed="rId1"/>
          <a:stretch>
            <a:fillRect/>
          </a:stretch>
        </p:blipFill>
        <p:spPr>
          <a:xfrm>
            <a:off x="1140228" y="2020916"/>
            <a:ext cx="8792845" cy="3400526"/>
          </a:xfrm>
          <a:prstGeom prst="rect">
            <a:avLst/>
          </a:prstGeom>
        </p:spPr>
      </p:pic>
      <p:sp>
        <p:nvSpPr>
          <p:cNvPr id="8" name="TextBox 7"/>
          <p:cNvSpPr txBox="1"/>
          <p:nvPr/>
        </p:nvSpPr>
        <p:spPr>
          <a:xfrm>
            <a:off x="3738170" y="1649321"/>
            <a:ext cx="5122303" cy="338554"/>
          </a:xfrm>
          <a:prstGeom prst="rect">
            <a:avLst/>
          </a:prstGeom>
          <a:noFill/>
        </p:spPr>
        <p:txBody>
          <a:bodyPr wrap="square" rtlCol="0">
            <a:spAutoFit/>
          </a:bodyPr>
          <a:lstStyle/>
          <a:p>
            <a:pPr algn="just"/>
            <a:r>
              <a:rPr lang="en-US" sz="1600" dirty="0">
                <a:solidFill>
                  <a:srgbClr val="292929"/>
                </a:solidFill>
              </a:rPr>
              <a:t>LTOTALNSA </a:t>
            </a:r>
            <a:r>
              <a:rPr lang="en-US" sz="1600" dirty="0"/>
              <a:t>Timeseries Visualization </a:t>
            </a:r>
            <a:endParaRPr lang="en-US" sz="1600" dirty="0"/>
          </a:p>
        </p:txBody>
      </p:sp>
      <p:sp>
        <p:nvSpPr>
          <p:cNvPr id="11" name="TextBox 10"/>
          <p:cNvSpPr txBox="1"/>
          <p:nvPr/>
        </p:nvSpPr>
        <p:spPr>
          <a:xfrm>
            <a:off x="970524" y="1086008"/>
            <a:ext cx="8852246" cy="400110"/>
          </a:xfrm>
          <a:prstGeom prst="rect">
            <a:avLst/>
          </a:prstGeom>
          <a:noFill/>
        </p:spPr>
        <p:txBody>
          <a:bodyPr wrap="square" rtlCol="0">
            <a:spAutoFit/>
          </a:bodyPr>
          <a:lstStyle/>
          <a:p>
            <a:r>
              <a:rPr lang="en-US" sz="2000" b="1" dirty="0">
                <a:solidFill>
                  <a:srgbClr val="48A1FA"/>
                </a:solidFill>
                <a:latin typeface="+mj-lt"/>
              </a:rPr>
              <a:t>Time series visualization </a:t>
            </a:r>
            <a:endParaRPr lang="en-US" sz="2000" b="1" dirty="0">
              <a:solidFill>
                <a:srgbClr val="48A1FA"/>
              </a:solidFill>
              <a:latin typeface="+mj-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2"/>
          </p:nvPr>
        </p:nvSpPr>
        <p:spPr>
          <a:xfrm>
            <a:off x="380999" y="6356350"/>
            <a:ext cx="3901290" cy="365125"/>
          </a:xfrm>
        </p:spPr>
        <p:txBody>
          <a:bodyPr/>
          <a:lstStyle/>
          <a:p>
            <a:r>
              <a:rPr lang="en-US" dirty="0"/>
              <a:t>Specialized Models: Time Series and Survival Analysis</a:t>
            </a:r>
            <a:endParaRPr lang="en-US" dirty="0"/>
          </a:p>
        </p:txBody>
      </p:sp>
      <p:sp>
        <p:nvSpPr>
          <p:cNvPr id="9" name="Slide Number Placeholder 8"/>
          <p:cNvSpPr>
            <a:spLocks noGrp="1"/>
          </p:cNvSpPr>
          <p:nvPr>
            <p:ph type="sldNum" sz="quarter" idx="4"/>
          </p:nvPr>
        </p:nvSpPr>
        <p:spPr/>
        <p:txBody>
          <a:bodyPr/>
          <a:lstStyle/>
          <a:p>
            <a:fld id="{294A09A9-5501-47C1-A89A-A340965A2BE2}" type="slidenum">
              <a:rPr lang="en-US" sz="1800"/>
            </a:fld>
            <a:endParaRPr lang="en-US" sz="1800" dirty="0"/>
          </a:p>
        </p:txBody>
      </p:sp>
      <p:sp>
        <p:nvSpPr>
          <p:cNvPr id="10" name="Title 1"/>
          <p:cNvSpPr txBox="1"/>
          <p:nvPr/>
        </p:nvSpPr>
        <p:spPr>
          <a:xfrm>
            <a:off x="868103" y="466855"/>
            <a:ext cx="9779183" cy="619154"/>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800" b="1" kern="1200">
                <a:solidFill>
                  <a:schemeClr val="tx1"/>
                </a:solidFill>
                <a:latin typeface="+mj-lt"/>
                <a:ea typeface="+mj-ea"/>
                <a:cs typeface="+mj-cs"/>
              </a:defRPr>
            </a:lvl1pPr>
          </a:lstStyle>
          <a:p>
            <a:r>
              <a:rPr lang="en-US" dirty="0"/>
              <a:t>Exploratory Data Analysis</a:t>
            </a:r>
            <a:endParaRPr lang="en-US" dirty="0"/>
          </a:p>
        </p:txBody>
      </p:sp>
      <p:pic>
        <p:nvPicPr>
          <p:cNvPr id="3" name="Picture 2"/>
          <p:cNvPicPr>
            <a:picLocks noChangeAspect="1"/>
          </p:cNvPicPr>
          <p:nvPr/>
        </p:nvPicPr>
        <p:blipFill>
          <a:blip r:embed="rId1"/>
          <a:stretch>
            <a:fillRect/>
          </a:stretch>
        </p:blipFill>
        <p:spPr>
          <a:xfrm>
            <a:off x="5349240" y="1824231"/>
            <a:ext cx="6376078" cy="2952374"/>
          </a:xfrm>
          <a:prstGeom prst="rect">
            <a:avLst/>
          </a:prstGeom>
        </p:spPr>
      </p:pic>
      <p:sp>
        <p:nvSpPr>
          <p:cNvPr id="13" name="TextBox 12"/>
          <p:cNvSpPr txBox="1"/>
          <p:nvPr/>
        </p:nvSpPr>
        <p:spPr>
          <a:xfrm>
            <a:off x="868103" y="1167063"/>
            <a:ext cx="6097554" cy="369332"/>
          </a:xfrm>
          <a:prstGeom prst="rect">
            <a:avLst/>
          </a:prstGeom>
          <a:noFill/>
        </p:spPr>
        <p:txBody>
          <a:bodyPr wrap="square">
            <a:spAutoFit/>
          </a:bodyPr>
          <a:lstStyle/>
          <a:p>
            <a:r>
              <a:rPr lang="en-US" sz="1800" b="1" dirty="0">
                <a:solidFill>
                  <a:srgbClr val="48A1FA"/>
                </a:solidFill>
                <a:latin typeface="+mj-lt"/>
              </a:rPr>
              <a:t>Time Series General Features :  </a:t>
            </a:r>
            <a:endParaRPr lang="en-US" sz="1800" b="1" dirty="0">
              <a:solidFill>
                <a:srgbClr val="48A1FA"/>
              </a:solidFill>
              <a:latin typeface="+mj-lt"/>
            </a:endParaRPr>
          </a:p>
        </p:txBody>
      </p:sp>
      <p:sp>
        <p:nvSpPr>
          <p:cNvPr id="14" name="TextBox 13"/>
          <p:cNvSpPr txBox="1"/>
          <p:nvPr/>
        </p:nvSpPr>
        <p:spPr>
          <a:xfrm>
            <a:off x="868103" y="1720840"/>
            <a:ext cx="4179736" cy="3416320"/>
          </a:xfrm>
          <a:prstGeom prst="rect">
            <a:avLst/>
          </a:prstGeom>
          <a:noFill/>
        </p:spPr>
        <p:txBody>
          <a:bodyPr wrap="square" rtlCol="0">
            <a:spAutoFit/>
          </a:bodyPr>
          <a:lstStyle/>
          <a:p>
            <a:pPr algn="just"/>
            <a:r>
              <a:rPr lang="en-US" dirty="0"/>
              <a:t>we can extract from the graph the following features: </a:t>
            </a:r>
            <a:endParaRPr lang="en-US" dirty="0"/>
          </a:p>
          <a:p>
            <a:pPr algn="just"/>
            <a:endParaRPr lang="en-US" dirty="0"/>
          </a:p>
          <a:p>
            <a:pPr marL="342900" indent="-342900" algn="just">
              <a:buFont typeface="+mj-lt"/>
              <a:buAutoNum type="arabicPeriod"/>
            </a:pPr>
            <a:r>
              <a:rPr lang="en-US" dirty="0"/>
              <a:t>There is no trend in other words Stationary trend which indicates a constant mean.</a:t>
            </a:r>
            <a:endParaRPr lang="en-US" dirty="0"/>
          </a:p>
          <a:p>
            <a:pPr marL="342900" indent="-342900" algn="just">
              <a:buFont typeface="+mj-lt"/>
              <a:buAutoNum type="arabicPeriod"/>
            </a:pPr>
            <a:endParaRPr lang="en-US" dirty="0">
              <a:solidFill>
                <a:srgbClr val="48A1FA"/>
              </a:solidFill>
            </a:endParaRPr>
          </a:p>
          <a:p>
            <a:pPr marL="342900" indent="-342900" algn="just">
              <a:buFont typeface="+mj-lt"/>
              <a:buAutoNum type="arabicPeriod"/>
            </a:pPr>
            <a:r>
              <a:rPr lang="en-US" dirty="0"/>
              <a:t>The variance is constant.</a:t>
            </a:r>
            <a:endParaRPr lang="en-US" dirty="0"/>
          </a:p>
          <a:p>
            <a:pPr marL="342900" indent="-342900" algn="just">
              <a:buFont typeface="+mj-lt"/>
              <a:buAutoNum type="arabicPeriod"/>
            </a:pPr>
            <a:endParaRPr lang="en-US" dirty="0"/>
          </a:p>
          <a:p>
            <a:pPr marL="342900" indent="-342900" algn="just">
              <a:buFont typeface="+mj-lt"/>
              <a:buAutoNum type="arabicPeriod"/>
            </a:pPr>
            <a:r>
              <a:rPr lang="en-US" dirty="0"/>
              <a:t>The graph does not show a periodic component (no seasonality)</a:t>
            </a:r>
            <a:endParaRPr lang="en-US" dirty="0"/>
          </a:p>
          <a:p>
            <a:pPr algn="just"/>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2"/>
          </p:nvPr>
        </p:nvSpPr>
        <p:spPr>
          <a:xfrm>
            <a:off x="208983" y="6357167"/>
            <a:ext cx="3964665" cy="365125"/>
          </a:xfrm>
        </p:spPr>
        <p:txBody>
          <a:bodyPr/>
          <a:lstStyle/>
          <a:p>
            <a:r>
              <a:rPr lang="en-US" dirty="0"/>
              <a:t>Specialized Models: Time Series and Survival Analysis</a:t>
            </a:r>
            <a:endParaRPr lang="en-US" dirty="0"/>
          </a:p>
        </p:txBody>
      </p:sp>
      <p:sp>
        <p:nvSpPr>
          <p:cNvPr id="8" name="Slide Number Placeholder 7"/>
          <p:cNvSpPr>
            <a:spLocks noGrp="1"/>
          </p:cNvSpPr>
          <p:nvPr>
            <p:ph type="sldNum" sz="quarter" idx="4"/>
          </p:nvPr>
        </p:nvSpPr>
        <p:spPr/>
        <p:txBody>
          <a:bodyPr/>
          <a:lstStyle/>
          <a:p>
            <a:fld id="{294A09A9-5501-47C1-A89A-A340965A2BE2}" type="slidenum">
              <a:rPr lang="en-US" sz="1800"/>
            </a:fld>
            <a:endParaRPr lang="en-US" sz="1800" dirty="0"/>
          </a:p>
        </p:txBody>
      </p:sp>
      <p:sp>
        <p:nvSpPr>
          <p:cNvPr id="5" name="TextBox 4"/>
          <p:cNvSpPr txBox="1"/>
          <p:nvPr/>
        </p:nvSpPr>
        <p:spPr>
          <a:xfrm>
            <a:off x="538747" y="774463"/>
            <a:ext cx="10196309" cy="719171"/>
          </a:xfrm>
          <a:prstGeom prst="rect">
            <a:avLst/>
          </a:prstGeom>
          <a:noFill/>
        </p:spPr>
        <p:txBody>
          <a:bodyPr wrap="square">
            <a:spAutoFit/>
          </a:bodyPr>
          <a:lstStyle/>
          <a:p>
            <a:pPr>
              <a:lnSpc>
                <a:spcPct val="90000"/>
              </a:lnSpc>
              <a:spcBef>
                <a:spcPts val="1000"/>
              </a:spcBef>
            </a:pPr>
            <a:r>
              <a:rPr lang="en-US" sz="2000" b="1" dirty="0">
                <a:solidFill>
                  <a:srgbClr val="48A1FA"/>
                </a:solidFill>
                <a:latin typeface="+mj-lt"/>
              </a:rPr>
              <a:t>Timeseries Decomposition : </a:t>
            </a:r>
            <a:endParaRPr lang="en-US" sz="2000" b="1" dirty="0">
              <a:solidFill>
                <a:srgbClr val="48A1FA"/>
              </a:solidFill>
              <a:latin typeface="+mj-lt"/>
            </a:endParaRPr>
          </a:p>
          <a:p>
            <a:pPr>
              <a:lnSpc>
                <a:spcPct val="90000"/>
              </a:lnSpc>
              <a:spcBef>
                <a:spcPts val="1000"/>
              </a:spcBef>
            </a:pPr>
            <a:r>
              <a:rPr lang="en-US" sz="1600" dirty="0"/>
              <a:t>the decomposition process has the same results if it is either done by additive or multiplicative model. </a:t>
            </a:r>
            <a:endParaRPr lang="en-US" sz="1600" dirty="0"/>
          </a:p>
        </p:txBody>
      </p:sp>
      <p:sp>
        <p:nvSpPr>
          <p:cNvPr id="15" name="TextBox 14"/>
          <p:cNvSpPr txBox="1"/>
          <p:nvPr/>
        </p:nvSpPr>
        <p:spPr>
          <a:xfrm>
            <a:off x="443497" y="68569"/>
            <a:ext cx="7762365" cy="757130"/>
          </a:xfrm>
          <a:prstGeom prst="rect">
            <a:avLst/>
          </a:prstGeom>
          <a:noFill/>
        </p:spPr>
        <p:txBody>
          <a:bodyPr wrap="square">
            <a:spAutoFit/>
          </a:bodyPr>
          <a:lstStyle/>
          <a:p>
            <a:pPr>
              <a:lnSpc>
                <a:spcPct val="90000"/>
              </a:lnSpc>
              <a:spcBef>
                <a:spcPct val="0"/>
              </a:spcBef>
            </a:pPr>
            <a:r>
              <a:rPr lang="en-US" sz="4800" b="1" dirty="0">
                <a:latin typeface="+mj-lt"/>
                <a:ea typeface="+mj-ea"/>
                <a:cs typeface="+mj-cs"/>
              </a:rPr>
              <a:t>Exploratory Data Analysis</a:t>
            </a:r>
            <a:endParaRPr lang="en-US" sz="4800" b="1" dirty="0">
              <a:latin typeface="+mj-lt"/>
              <a:ea typeface="+mj-ea"/>
              <a:cs typeface="+mj-cs"/>
            </a:endParaRPr>
          </a:p>
        </p:txBody>
      </p:sp>
      <p:pic>
        <p:nvPicPr>
          <p:cNvPr id="10" name="Picture 9"/>
          <p:cNvPicPr>
            <a:picLocks noChangeAspect="1"/>
          </p:cNvPicPr>
          <p:nvPr/>
        </p:nvPicPr>
        <p:blipFill>
          <a:blip r:embed="rId1"/>
          <a:stretch>
            <a:fillRect/>
          </a:stretch>
        </p:blipFill>
        <p:spPr>
          <a:xfrm>
            <a:off x="740664" y="1563529"/>
            <a:ext cx="7670102" cy="3791736"/>
          </a:xfrm>
          <a:prstGeom prst="rect">
            <a:avLst/>
          </a:prstGeom>
        </p:spPr>
      </p:pic>
      <p:sp>
        <p:nvSpPr>
          <p:cNvPr id="13" name="TextBox 12"/>
          <p:cNvSpPr txBox="1"/>
          <p:nvPr/>
        </p:nvSpPr>
        <p:spPr>
          <a:xfrm>
            <a:off x="8867587" y="2782669"/>
            <a:ext cx="2788653" cy="646331"/>
          </a:xfrm>
          <a:prstGeom prst="rect">
            <a:avLst/>
          </a:prstGeom>
          <a:noFill/>
        </p:spPr>
        <p:txBody>
          <a:bodyPr wrap="square" rtlCol="0">
            <a:spAutoFit/>
          </a:bodyPr>
          <a:lstStyle/>
          <a:p>
            <a:r>
              <a:rPr lang="en-US" dirty="0">
                <a:solidFill>
                  <a:srgbClr val="E87C39"/>
                </a:solidFill>
              </a:rPr>
              <a:t>Trend: there is no trend (stationary trend )</a:t>
            </a:r>
            <a:endParaRPr lang="en-US" dirty="0">
              <a:solidFill>
                <a:srgbClr val="E87C39"/>
              </a:solidFill>
            </a:endParaRPr>
          </a:p>
        </p:txBody>
      </p:sp>
      <p:sp>
        <p:nvSpPr>
          <p:cNvPr id="9" name="TextBox 8"/>
          <p:cNvSpPr txBox="1"/>
          <p:nvPr/>
        </p:nvSpPr>
        <p:spPr>
          <a:xfrm>
            <a:off x="8867587" y="3630931"/>
            <a:ext cx="2788653" cy="923330"/>
          </a:xfrm>
          <a:prstGeom prst="rect">
            <a:avLst/>
          </a:prstGeom>
          <a:noFill/>
        </p:spPr>
        <p:txBody>
          <a:bodyPr wrap="square" rtlCol="0">
            <a:spAutoFit/>
          </a:bodyPr>
          <a:lstStyle/>
          <a:p>
            <a:r>
              <a:rPr lang="en-US" dirty="0">
                <a:solidFill>
                  <a:srgbClr val="38C8A2"/>
                </a:solidFill>
              </a:rPr>
              <a:t>Seasonality: It is estimated as an additive seasonality  </a:t>
            </a:r>
            <a:endParaRPr lang="en-US" dirty="0">
              <a:solidFill>
                <a:srgbClr val="38C8A2"/>
              </a:solidFill>
            </a:endParaRPr>
          </a:p>
        </p:txBody>
      </p:sp>
      <p:sp>
        <p:nvSpPr>
          <p:cNvPr id="11" name="TextBox 10"/>
          <p:cNvSpPr txBox="1"/>
          <p:nvPr/>
        </p:nvSpPr>
        <p:spPr>
          <a:xfrm>
            <a:off x="740664" y="5472544"/>
            <a:ext cx="11070335" cy="646331"/>
          </a:xfrm>
          <a:prstGeom prst="rect">
            <a:avLst/>
          </a:prstGeom>
          <a:noFill/>
        </p:spPr>
        <p:txBody>
          <a:bodyPr wrap="square" rtlCol="0">
            <a:spAutoFit/>
          </a:bodyPr>
          <a:lstStyle/>
          <a:p>
            <a:pPr algn="just"/>
            <a:r>
              <a:rPr lang="en-US" dirty="0"/>
              <a:t>Note: The decomposition model estimates the existence of a seasonality or a seasonal component, but this doesn’t mean it has one (it is better to extract the seasonality from the original series in the cyan color).</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2"/>
          </p:nvPr>
        </p:nvSpPr>
        <p:spPr>
          <a:xfrm>
            <a:off x="208983" y="6357167"/>
            <a:ext cx="3874130" cy="365125"/>
          </a:xfrm>
        </p:spPr>
        <p:txBody>
          <a:bodyPr/>
          <a:lstStyle/>
          <a:p>
            <a:r>
              <a:rPr lang="en-US" dirty="0"/>
              <a:t>Specialized Models: Time Series and Survival Analysis</a:t>
            </a:r>
            <a:endParaRPr lang="en-US" dirty="0"/>
          </a:p>
        </p:txBody>
      </p:sp>
      <p:sp>
        <p:nvSpPr>
          <p:cNvPr id="8" name="Slide Number Placeholder 7"/>
          <p:cNvSpPr>
            <a:spLocks noGrp="1"/>
          </p:cNvSpPr>
          <p:nvPr>
            <p:ph type="sldNum" sz="quarter" idx="4"/>
          </p:nvPr>
        </p:nvSpPr>
        <p:spPr/>
        <p:txBody>
          <a:bodyPr/>
          <a:lstStyle/>
          <a:p>
            <a:fld id="{294A09A9-5501-47C1-A89A-A340965A2BE2}" type="slidenum">
              <a:rPr lang="en-US" sz="1800"/>
            </a:fld>
            <a:endParaRPr lang="en-US" sz="1800" dirty="0"/>
          </a:p>
        </p:txBody>
      </p:sp>
      <p:sp>
        <p:nvSpPr>
          <p:cNvPr id="5" name="TextBox 4"/>
          <p:cNvSpPr txBox="1"/>
          <p:nvPr/>
        </p:nvSpPr>
        <p:spPr>
          <a:xfrm>
            <a:off x="538747" y="1042921"/>
            <a:ext cx="8477237" cy="369332"/>
          </a:xfrm>
          <a:prstGeom prst="rect">
            <a:avLst/>
          </a:prstGeom>
          <a:noFill/>
        </p:spPr>
        <p:txBody>
          <a:bodyPr wrap="square">
            <a:spAutoFit/>
          </a:bodyPr>
          <a:lstStyle/>
          <a:p>
            <a:pPr>
              <a:lnSpc>
                <a:spcPct val="90000"/>
              </a:lnSpc>
              <a:spcBef>
                <a:spcPts val="1000"/>
              </a:spcBef>
            </a:pPr>
            <a:r>
              <a:rPr lang="en-US" sz="2000" b="1" dirty="0">
                <a:solidFill>
                  <a:srgbClr val="48A1FA"/>
                </a:solidFill>
                <a:latin typeface="+mj-lt"/>
              </a:rPr>
              <a:t>Plotting Time Series Values as Histogram Graph</a:t>
            </a:r>
            <a:endParaRPr lang="en-US" sz="2000" b="1" dirty="0">
              <a:solidFill>
                <a:srgbClr val="48A1FA"/>
              </a:solidFill>
              <a:latin typeface="+mj-lt"/>
            </a:endParaRPr>
          </a:p>
        </p:txBody>
      </p:sp>
      <p:sp>
        <p:nvSpPr>
          <p:cNvPr id="15" name="TextBox 14"/>
          <p:cNvSpPr txBox="1"/>
          <p:nvPr/>
        </p:nvSpPr>
        <p:spPr>
          <a:xfrm>
            <a:off x="433972" y="226507"/>
            <a:ext cx="7762365" cy="757130"/>
          </a:xfrm>
          <a:prstGeom prst="rect">
            <a:avLst/>
          </a:prstGeom>
          <a:noFill/>
        </p:spPr>
        <p:txBody>
          <a:bodyPr wrap="square">
            <a:spAutoFit/>
          </a:bodyPr>
          <a:lstStyle/>
          <a:p>
            <a:pPr>
              <a:lnSpc>
                <a:spcPct val="90000"/>
              </a:lnSpc>
              <a:spcBef>
                <a:spcPct val="0"/>
              </a:spcBef>
            </a:pPr>
            <a:r>
              <a:rPr lang="en-US" sz="4800" b="1" dirty="0">
                <a:latin typeface="+mj-lt"/>
                <a:ea typeface="+mj-ea"/>
                <a:cs typeface="+mj-cs"/>
              </a:rPr>
              <a:t>Exploratory Data Analysis</a:t>
            </a:r>
            <a:endParaRPr lang="en-US" sz="4800" b="1" dirty="0">
              <a:latin typeface="+mj-lt"/>
              <a:ea typeface="+mj-ea"/>
              <a:cs typeface="+mj-cs"/>
            </a:endParaRPr>
          </a:p>
        </p:txBody>
      </p:sp>
      <p:sp>
        <p:nvSpPr>
          <p:cNvPr id="12" name="TextBox 11"/>
          <p:cNvSpPr txBox="1"/>
          <p:nvPr/>
        </p:nvSpPr>
        <p:spPr>
          <a:xfrm>
            <a:off x="642366" y="4575046"/>
            <a:ext cx="10677906" cy="1477328"/>
          </a:xfrm>
          <a:prstGeom prst="rect">
            <a:avLst/>
          </a:prstGeom>
          <a:noFill/>
        </p:spPr>
        <p:txBody>
          <a:bodyPr wrap="square">
            <a:spAutoFit/>
          </a:bodyPr>
          <a:lstStyle/>
          <a:p>
            <a:r>
              <a:rPr lang="en-US" dirty="0"/>
              <a:t>Plotting a histogram of the time series gives important clues into its underlying structure. A Normal distribution gives confidence that mean, and variance are constant. It's certainly not definitive but gives you a good indication. </a:t>
            </a:r>
            <a:endParaRPr lang="en-US" dirty="0"/>
          </a:p>
          <a:p>
            <a:br>
              <a:rPr lang="en-US" dirty="0"/>
            </a:br>
            <a:endParaRPr lang="en-US" dirty="0"/>
          </a:p>
        </p:txBody>
      </p:sp>
      <p:pic>
        <p:nvPicPr>
          <p:cNvPr id="6" name="Picture 5"/>
          <p:cNvPicPr>
            <a:picLocks noChangeAspect="1"/>
          </p:cNvPicPr>
          <p:nvPr/>
        </p:nvPicPr>
        <p:blipFill>
          <a:blip r:embed="rId1"/>
          <a:stretch>
            <a:fillRect/>
          </a:stretch>
        </p:blipFill>
        <p:spPr>
          <a:xfrm>
            <a:off x="2618232" y="1593474"/>
            <a:ext cx="5467350" cy="28003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2"/>
          </p:nvPr>
        </p:nvSpPr>
        <p:spPr>
          <a:xfrm>
            <a:off x="208983" y="6357167"/>
            <a:ext cx="3874130" cy="365125"/>
          </a:xfrm>
        </p:spPr>
        <p:txBody>
          <a:bodyPr/>
          <a:lstStyle/>
          <a:p>
            <a:r>
              <a:rPr lang="en-US" dirty="0"/>
              <a:t>Specialized Models: Time Series and Survival Analysis</a:t>
            </a:r>
            <a:endParaRPr lang="en-US" dirty="0"/>
          </a:p>
        </p:txBody>
      </p:sp>
      <p:sp>
        <p:nvSpPr>
          <p:cNvPr id="8" name="Slide Number Placeholder 7"/>
          <p:cNvSpPr>
            <a:spLocks noGrp="1"/>
          </p:cNvSpPr>
          <p:nvPr>
            <p:ph type="sldNum" sz="quarter" idx="4"/>
          </p:nvPr>
        </p:nvSpPr>
        <p:spPr/>
        <p:txBody>
          <a:bodyPr/>
          <a:lstStyle/>
          <a:p>
            <a:fld id="{294A09A9-5501-47C1-A89A-A340965A2BE2}" type="slidenum">
              <a:rPr lang="en-US" sz="1800"/>
            </a:fld>
            <a:endParaRPr lang="en-US" sz="1800" dirty="0"/>
          </a:p>
        </p:txBody>
      </p:sp>
      <p:sp>
        <p:nvSpPr>
          <p:cNvPr id="5" name="TextBox 4"/>
          <p:cNvSpPr txBox="1"/>
          <p:nvPr/>
        </p:nvSpPr>
        <p:spPr>
          <a:xfrm>
            <a:off x="538747" y="1042921"/>
            <a:ext cx="8477237" cy="369332"/>
          </a:xfrm>
          <a:prstGeom prst="rect">
            <a:avLst/>
          </a:prstGeom>
          <a:noFill/>
        </p:spPr>
        <p:txBody>
          <a:bodyPr wrap="square">
            <a:spAutoFit/>
          </a:bodyPr>
          <a:lstStyle/>
          <a:p>
            <a:pPr>
              <a:lnSpc>
                <a:spcPct val="90000"/>
              </a:lnSpc>
              <a:spcBef>
                <a:spcPts val="1000"/>
              </a:spcBef>
            </a:pPr>
            <a:r>
              <a:rPr lang="en-US" sz="2000" b="1" dirty="0">
                <a:solidFill>
                  <a:srgbClr val="48A1FA"/>
                </a:solidFill>
                <a:latin typeface="+mj-lt"/>
              </a:rPr>
              <a:t>Finding means &amp; standard deviations of time series chunks: </a:t>
            </a:r>
            <a:endParaRPr lang="en-US" sz="2000" b="1" dirty="0">
              <a:solidFill>
                <a:srgbClr val="48A1FA"/>
              </a:solidFill>
              <a:latin typeface="+mj-lt"/>
            </a:endParaRPr>
          </a:p>
        </p:txBody>
      </p:sp>
      <p:sp>
        <p:nvSpPr>
          <p:cNvPr id="15" name="TextBox 14"/>
          <p:cNvSpPr txBox="1"/>
          <p:nvPr/>
        </p:nvSpPr>
        <p:spPr>
          <a:xfrm>
            <a:off x="433972" y="226507"/>
            <a:ext cx="7762365" cy="757130"/>
          </a:xfrm>
          <a:prstGeom prst="rect">
            <a:avLst/>
          </a:prstGeom>
          <a:noFill/>
        </p:spPr>
        <p:txBody>
          <a:bodyPr wrap="square">
            <a:spAutoFit/>
          </a:bodyPr>
          <a:lstStyle/>
          <a:p>
            <a:pPr>
              <a:lnSpc>
                <a:spcPct val="90000"/>
              </a:lnSpc>
              <a:spcBef>
                <a:spcPct val="0"/>
              </a:spcBef>
            </a:pPr>
            <a:r>
              <a:rPr lang="en-US" sz="4800" b="1" dirty="0">
                <a:latin typeface="+mj-lt"/>
                <a:ea typeface="+mj-ea"/>
                <a:cs typeface="+mj-cs"/>
              </a:rPr>
              <a:t>Exploratory Data Analysis</a:t>
            </a:r>
            <a:endParaRPr lang="en-US" sz="4800" b="1" dirty="0">
              <a:latin typeface="+mj-lt"/>
              <a:ea typeface="+mj-ea"/>
              <a:cs typeface="+mj-cs"/>
            </a:endParaRPr>
          </a:p>
        </p:txBody>
      </p:sp>
      <p:pic>
        <p:nvPicPr>
          <p:cNvPr id="10" name="Picture 9"/>
          <p:cNvPicPr>
            <a:picLocks noChangeAspect="1"/>
          </p:cNvPicPr>
          <p:nvPr/>
        </p:nvPicPr>
        <p:blipFill rotWithShape="1">
          <a:blip r:embed="rId1"/>
          <a:srcRect t="-1" b="2257"/>
          <a:stretch>
            <a:fillRect/>
          </a:stretch>
        </p:blipFill>
        <p:spPr>
          <a:xfrm>
            <a:off x="3117355" y="1600614"/>
            <a:ext cx="7657590" cy="2868747"/>
          </a:xfrm>
          <a:prstGeom prst="rect">
            <a:avLst/>
          </a:prstGeom>
        </p:spPr>
      </p:pic>
      <p:sp>
        <p:nvSpPr>
          <p:cNvPr id="11" name="TextBox 10"/>
          <p:cNvSpPr txBox="1"/>
          <p:nvPr/>
        </p:nvSpPr>
        <p:spPr>
          <a:xfrm>
            <a:off x="815292" y="4707915"/>
            <a:ext cx="10955261" cy="923330"/>
          </a:xfrm>
          <a:prstGeom prst="rect">
            <a:avLst/>
          </a:prstGeom>
          <a:noFill/>
        </p:spPr>
        <p:txBody>
          <a:bodyPr wrap="square" rtlCol="0">
            <a:spAutoFit/>
          </a:bodyPr>
          <a:lstStyle/>
          <a:p>
            <a:pPr algn="just"/>
            <a:r>
              <a:rPr lang="en-US" dirty="0"/>
              <a:t>As shown all chunks have approximately closed mean values where they range between </a:t>
            </a:r>
            <a:r>
              <a:rPr lang="en-US" dirty="0">
                <a:solidFill>
                  <a:srgbClr val="48A1FA"/>
                </a:solidFill>
              </a:rPr>
              <a:t>1100 &amp; 1400 (non-zero mean) </a:t>
            </a:r>
            <a:r>
              <a:rPr lang="en-US" dirty="0"/>
              <a:t>which refers to a time series does not behave as white noise, standard deviations range mostly between 140 &amp; 160 with existence of a little bit of variance.</a:t>
            </a:r>
            <a:endParaRPr lang="en-US" dirty="0">
              <a:solidFill>
                <a:srgbClr val="48A1FA"/>
              </a:solidFill>
            </a:endParaRPr>
          </a:p>
        </p:txBody>
      </p:sp>
      <p:pic>
        <p:nvPicPr>
          <p:cNvPr id="13" name="Picture 12"/>
          <p:cNvPicPr>
            <a:picLocks noChangeAspect="1"/>
          </p:cNvPicPr>
          <p:nvPr/>
        </p:nvPicPr>
        <p:blipFill>
          <a:blip r:embed="rId2"/>
          <a:stretch>
            <a:fillRect/>
          </a:stretch>
        </p:blipFill>
        <p:spPr>
          <a:xfrm>
            <a:off x="815292" y="1667246"/>
            <a:ext cx="1699857" cy="273548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6203" y="210253"/>
            <a:ext cx="9779183" cy="753679"/>
          </a:xfrm>
        </p:spPr>
        <p:txBody>
          <a:bodyPr/>
          <a:lstStyle/>
          <a:p>
            <a:r>
              <a:rPr lang="en-US" dirty="0"/>
              <a:t>Exploratory Data Analysis</a:t>
            </a:r>
            <a:endParaRPr lang="en-US" dirty="0"/>
          </a:p>
        </p:txBody>
      </p:sp>
      <p:sp>
        <p:nvSpPr>
          <p:cNvPr id="7" name="Date Placeholder 6"/>
          <p:cNvSpPr>
            <a:spLocks noGrp="1"/>
          </p:cNvSpPr>
          <p:nvPr>
            <p:ph type="dt" sz="half" idx="2"/>
          </p:nvPr>
        </p:nvSpPr>
        <p:spPr>
          <a:xfrm>
            <a:off x="380999" y="6356350"/>
            <a:ext cx="3774542" cy="365125"/>
          </a:xfrm>
        </p:spPr>
        <p:txBody>
          <a:bodyPr/>
          <a:lstStyle/>
          <a:p>
            <a:r>
              <a:rPr lang="en-US" dirty="0"/>
              <a:t>Specialized Models: Time Series and Survival Analysis</a:t>
            </a:r>
            <a:endParaRPr lang="en-US" dirty="0"/>
          </a:p>
        </p:txBody>
      </p:sp>
      <p:sp>
        <p:nvSpPr>
          <p:cNvPr id="9" name="Slide Number Placeholder 8"/>
          <p:cNvSpPr>
            <a:spLocks noGrp="1"/>
          </p:cNvSpPr>
          <p:nvPr>
            <p:ph type="sldNum" sz="quarter" idx="4"/>
          </p:nvPr>
        </p:nvSpPr>
        <p:spPr/>
        <p:txBody>
          <a:bodyPr/>
          <a:lstStyle/>
          <a:p>
            <a:fld id="{294A09A9-5501-47C1-A89A-A340965A2BE2}" type="slidenum">
              <a:rPr lang="en-US" sz="1800"/>
            </a:fld>
            <a:endParaRPr lang="en-US" sz="1800" dirty="0"/>
          </a:p>
        </p:txBody>
      </p:sp>
      <p:sp>
        <p:nvSpPr>
          <p:cNvPr id="10" name="TextBox 9"/>
          <p:cNvSpPr txBox="1"/>
          <p:nvPr/>
        </p:nvSpPr>
        <p:spPr>
          <a:xfrm>
            <a:off x="906203" y="1033777"/>
            <a:ext cx="8477237" cy="369332"/>
          </a:xfrm>
          <a:prstGeom prst="rect">
            <a:avLst/>
          </a:prstGeom>
          <a:noFill/>
        </p:spPr>
        <p:txBody>
          <a:bodyPr wrap="square">
            <a:spAutoFit/>
          </a:bodyPr>
          <a:lstStyle/>
          <a:p>
            <a:pPr>
              <a:lnSpc>
                <a:spcPct val="90000"/>
              </a:lnSpc>
              <a:spcBef>
                <a:spcPts val="1000"/>
              </a:spcBef>
            </a:pPr>
            <a:r>
              <a:rPr lang="en-US" sz="2000" b="1" dirty="0">
                <a:solidFill>
                  <a:srgbClr val="48A1FA"/>
                </a:solidFill>
                <a:latin typeface="+mj-lt"/>
              </a:rPr>
              <a:t>Autocorrelation plots: </a:t>
            </a:r>
            <a:endParaRPr lang="en-US" sz="2000" b="1" dirty="0">
              <a:solidFill>
                <a:srgbClr val="48A1FA"/>
              </a:solidFill>
              <a:latin typeface="+mj-lt"/>
            </a:endParaRPr>
          </a:p>
        </p:txBody>
      </p:sp>
      <p:sp>
        <p:nvSpPr>
          <p:cNvPr id="16" name="TextBox 15"/>
          <p:cNvSpPr txBox="1"/>
          <p:nvPr/>
        </p:nvSpPr>
        <p:spPr>
          <a:xfrm>
            <a:off x="1015931" y="4493636"/>
            <a:ext cx="9236189" cy="923330"/>
          </a:xfrm>
          <a:prstGeom prst="rect">
            <a:avLst/>
          </a:prstGeom>
          <a:noFill/>
        </p:spPr>
        <p:txBody>
          <a:bodyPr wrap="square" rtlCol="0">
            <a:spAutoFit/>
          </a:bodyPr>
          <a:lstStyle/>
          <a:p>
            <a:pPr algn="just"/>
            <a:r>
              <a:rPr lang="en-US" dirty="0"/>
              <a:t>As shown in the plot above the most majority of the correlations between the time series lags are statistically significant since it is out of the confidence interval (shaded area), and they are decreasing gradually. </a:t>
            </a:r>
            <a:endParaRPr lang="en-US" dirty="0"/>
          </a:p>
        </p:txBody>
      </p:sp>
      <p:pic>
        <p:nvPicPr>
          <p:cNvPr id="6" name="Picture 5"/>
          <p:cNvPicPr>
            <a:picLocks noChangeAspect="1"/>
          </p:cNvPicPr>
          <p:nvPr/>
        </p:nvPicPr>
        <p:blipFill>
          <a:blip r:embed="rId1"/>
          <a:stretch>
            <a:fillRect/>
          </a:stretch>
        </p:blipFill>
        <p:spPr>
          <a:xfrm>
            <a:off x="906203" y="1403109"/>
            <a:ext cx="8173593" cy="309052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6203" y="210253"/>
            <a:ext cx="9779183" cy="753679"/>
          </a:xfrm>
        </p:spPr>
        <p:txBody>
          <a:bodyPr/>
          <a:lstStyle/>
          <a:p>
            <a:r>
              <a:rPr lang="en-US" dirty="0"/>
              <a:t>Exploratory Data Analysis</a:t>
            </a:r>
            <a:endParaRPr lang="en-US" dirty="0"/>
          </a:p>
        </p:txBody>
      </p:sp>
      <p:sp>
        <p:nvSpPr>
          <p:cNvPr id="7" name="Date Placeholder 6"/>
          <p:cNvSpPr>
            <a:spLocks noGrp="1"/>
          </p:cNvSpPr>
          <p:nvPr>
            <p:ph type="dt" sz="half" idx="2"/>
          </p:nvPr>
        </p:nvSpPr>
        <p:spPr>
          <a:xfrm>
            <a:off x="380999" y="6356350"/>
            <a:ext cx="3774542" cy="365125"/>
          </a:xfrm>
        </p:spPr>
        <p:txBody>
          <a:bodyPr/>
          <a:lstStyle/>
          <a:p>
            <a:r>
              <a:rPr lang="en-US" dirty="0"/>
              <a:t>Specialized Models: Time Series and Survival Analysis</a:t>
            </a:r>
            <a:endParaRPr lang="en-US" dirty="0"/>
          </a:p>
        </p:txBody>
      </p:sp>
      <p:sp>
        <p:nvSpPr>
          <p:cNvPr id="9" name="Slide Number Placeholder 8"/>
          <p:cNvSpPr>
            <a:spLocks noGrp="1"/>
          </p:cNvSpPr>
          <p:nvPr>
            <p:ph type="sldNum" sz="quarter" idx="4"/>
          </p:nvPr>
        </p:nvSpPr>
        <p:spPr/>
        <p:txBody>
          <a:bodyPr/>
          <a:lstStyle/>
          <a:p>
            <a:fld id="{294A09A9-5501-47C1-A89A-A340965A2BE2}" type="slidenum">
              <a:rPr lang="en-US" sz="1800"/>
            </a:fld>
            <a:endParaRPr lang="en-US" sz="1800" dirty="0"/>
          </a:p>
        </p:txBody>
      </p:sp>
      <p:sp>
        <p:nvSpPr>
          <p:cNvPr id="10" name="TextBox 9"/>
          <p:cNvSpPr txBox="1"/>
          <p:nvPr/>
        </p:nvSpPr>
        <p:spPr>
          <a:xfrm>
            <a:off x="739915" y="1033777"/>
            <a:ext cx="8477237" cy="369332"/>
          </a:xfrm>
          <a:prstGeom prst="rect">
            <a:avLst/>
          </a:prstGeom>
          <a:noFill/>
        </p:spPr>
        <p:txBody>
          <a:bodyPr wrap="square">
            <a:spAutoFit/>
          </a:bodyPr>
          <a:lstStyle/>
          <a:p>
            <a:pPr>
              <a:lnSpc>
                <a:spcPct val="90000"/>
              </a:lnSpc>
              <a:spcBef>
                <a:spcPts val="1000"/>
              </a:spcBef>
            </a:pPr>
            <a:r>
              <a:rPr lang="en-US" sz="2000" b="1" dirty="0">
                <a:solidFill>
                  <a:srgbClr val="48A1FA"/>
                </a:solidFill>
                <a:latin typeface="+mj-lt"/>
              </a:rPr>
              <a:t>Partial Autocorrelation plot </a:t>
            </a:r>
            <a:endParaRPr lang="en-US" sz="2000" b="1" dirty="0">
              <a:solidFill>
                <a:srgbClr val="48A1FA"/>
              </a:solidFill>
              <a:latin typeface="+mj-lt"/>
            </a:endParaRPr>
          </a:p>
        </p:txBody>
      </p:sp>
      <p:pic>
        <p:nvPicPr>
          <p:cNvPr id="4" name="Picture 3"/>
          <p:cNvPicPr>
            <a:picLocks noChangeAspect="1"/>
          </p:cNvPicPr>
          <p:nvPr/>
        </p:nvPicPr>
        <p:blipFill>
          <a:blip r:embed="rId1"/>
          <a:stretch>
            <a:fillRect/>
          </a:stretch>
        </p:blipFill>
        <p:spPr>
          <a:xfrm>
            <a:off x="739915" y="1403109"/>
            <a:ext cx="9016733" cy="3359820"/>
          </a:xfrm>
          <a:prstGeom prst="rect">
            <a:avLst/>
          </a:prstGeom>
        </p:spPr>
      </p:pic>
      <p:sp>
        <p:nvSpPr>
          <p:cNvPr id="5" name="TextBox 4"/>
          <p:cNvSpPr txBox="1"/>
          <p:nvPr/>
        </p:nvSpPr>
        <p:spPr>
          <a:xfrm>
            <a:off x="906203" y="4762929"/>
            <a:ext cx="7372596" cy="369332"/>
          </a:xfrm>
          <a:prstGeom prst="rect">
            <a:avLst/>
          </a:prstGeom>
          <a:noFill/>
        </p:spPr>
        <p:txBody>
          <a:bodyPr wrap="none" rtlCol="0">
            <a:spAutoFit/>
          </a:bodyPr>
          <a:lstStyle/>
          <a:p>
            <a:r>
              <a:rPr lang="en-US" dirty="0"/>
              <a:t>We have a moderate correlation between original time series and lag 12</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6203" y="210253"/>
            <a:ext cx="9779183" cy="753679"/>
          </a:xfrm>
        </p:spPr>
        <p:txBody>
          <a:bodyPr/>
          <a:lstStyle/>
          <a:p>
            <a:r>
              <a:rPr lang="en-US" dirty="0"/>
              <a:t>Exploratory Data Analysis</a:t>
            </a:r>
            <a:endParaRPr lang="en-US" dirty="0"/>
          </a:p>
        </p:txBody>
      </p:sp>
      <p:sp>
        <p:nvSpPr>
          <p:cNvPr id="7" name="Date Placeholder 6"/>
          <p:cNvSpPr>
            <a:spLocks noGrp="1"/>
          </p:cNvSpPr>
          <p:nvPr>
            <p:ph type="dt" sz="half" idx="2"/>
          </p:nvPr>
        </p:nvSpPr>
        <p:spPr>
          <a:xfrm>
            <a:off x="380999" y="6356350"/>
            <a:ext cx="3774542" cy="365125"/>
          </a:xfrm>
        </p:spPr>
        <p:txBody>
          <a:bodyPr/>
          <a:lstStyle/>
          <a:p>
            <a:r>
              <a:rPr lang="en-US" dirty="0"/>
              <a:t>Specialized Models: Time Series and Survival Analysis</a:t>
            </a:r>
            <a:endParaRPr lang="en-US" dirty="0"/>
          </a:p>
        </p:txBody>
      </p:sp>
      <p:sp>
        <p:nvSpPr>
          <p:cNvPr id="9" name="Slide Number Placeholder 8"/>
          <p:cNvSpPr>
            <a:spLocks noGrp="1"/>
          </p:cNvSpPr>
          <p:nvPr>
            <p:ph type="sldNum" sz="quarter" idx="4"/>
          </p:nvPr>
        </p:nvSpPr>
        <p:spPr/>
        <p:txBody>
          <a:bodyPr/>
          <a:lstStyle/>
          <a:p>
            <a:fld id="{294A09A9-5501-47C1-A89A-A340965A2BE2}" type="slidenum">
              <a:rPr lang="en-US" sz="1800"/>
            </a:fld>
            <a:endParaRPr lang="en-US" sz="1800" dirty="0"/>
          </a:p>
        </p:txBody>
      </p:sp>
      <p:sp>
        <p:nvSpPr>
          <p:cNvPr id="10" name="TextBox 9"/>
          <p:cNvSpPr txBox="1"/>
          <p:nvPr/>
        </p:nvSpPr>
        <p:spPr>
          <a:xfrm>
            <a:off x="1014235" y="963932"/>
            <a:ext cx="8477237" cy="400110"/>
          </a:xfrm>
          <a:prstGeom prst="rect">
            <a:avLst/>
          </a:prstGeom>
          <a:noFill/>
        </p:spPr>
        <p:txBody>
          <a:bodyPr wrap="square">
            <a:spAutoFit/>
          </a:bodyPr>
          <a:lstStyle/>
          <a:p>
            <a:r>
              <a:rPr lang="en-US" sz="2000" b="1" dirty="0">
                <a:solidFill>
                  <a:srgbClr val="48A1FA"/>
                </a:solidFill>
              </a:rPr>
              <a:t>Augmented Dickey-Fuller Test</a:t>
            </a:r>
            <a:endParaRPr lang="en-US" sz="2000" b="1" dirty="0">
              <a:solidFill>
                <a:srgbClr val="48A1FA"/>
              </a:solidFill>
            </a:endParaRPr>
          </a:p>
        </p:txBody>
      </p:sp>
      <p:sp>
        <p:nvSpPr>
          <p:cNvPr id="13" name="TextBox 12"/>
          <p:cNvSpPr txBox="1"/>
          <p:nvPr/>
        </p:nvSpPr>
        <p:spPr>
          <a:xfrm>
            <a:off x="1108302" y="1571857"/>
            <a:ext cx="9690761" cy="3416320"/>
          </a:xfrm>
          <a:prstGeom prst="rect">
            <a:avLst/>
          </a:prstGeom>
          <a:noFill/>
        </p:spPr>
        <p:txBody>
          <a:bodyPr wrap="square">
            <a:spAutoFit/>
          </a:bodyPr>
          <a:lstStyle/>
          <a:p>
            <a:r>
              <a:rPr lang="en-US" dirty="0"/>
              <a:t>This is a statistical procedure to discover whether a time series is stationary or not. </a:t>
            </a:r>
            <a:endParaRPr lang="en-US" dirty="0"/>
          </a:p>
          <a:p>
            <a:endParaRPr lang="en-US" dirty="0"/>
          </a:p>
          <a:p>
            <a:r>
              <a:rPr lang="en-US" dirty="0"/>
              <a:t>We won't go into all the nitty gritty details but here's what you need to know:</a:t>
            </a:r>
            <a:endParaRPr lang="en-US" dirty="0"/>
          </a:p>
          <a:p>
            <a:pPr marL="342900" indent="-342900">
              <a:buAutoNum type="arabicPeriod"/>
            </a:pPr>
            <a:r>
              <a:rPr lang="en-US" dirty="0">
                <a:solidFill>
                  <a:srgbClr val="48A1FA"/>
                </a:solidFill>
              </a:rPr>
              <a:t>Null hypothesis: </a:t>
            </a:r>
            <a:r>
              <a:rPr lang="en-US" dirty="0"/>
              <a:t>the series is nonstationary.</a:t>
            </a:r>
            <a:endParaRPr lang="en-US" dirty="0"/>
          </a:p>
          <a:p>
            <a:r>
              <a:rPr lang="en-US" dirty="0">
                <a:solidFill>
                  <a:srgbClr val="48A1FA"/>
                </a:solidFill>
              </a:rPr>
              <a:t>2.  Alternative hypothesis: </a:t>
            </a:r>
            <a:r>
              <a:rPr lang="en-US" dirty="0"/>
              <a:t>the series is stationary.</a:t>
            </a:r>
            <a:endParaRPr lang="en-US" dirty="0"/>
          </a:p>
          <a:p>
            <a:endParaRPr lang="en-US" dirty="0"/>
          </a:p>
          <a:p>
            <a:r>
              <a:rPr lang="en-US" dirty="0"/>
              <a:t>Like any statistical test you should set a significance level or threshold that determines whether you should accept or reject the null. </a:t>
            </a:r>
            <a:endParaRPr lang="en-US" dirty="0"/>
          </a:p>
          <a:p>
            <a:endParaRPr lang="en-US" dirty="0"/>
          </a:p>
          <a:p>
            <a:pPr marL="285750" indent="-285750">
              <a:buFont typeface="Arial" panose="020B0604020202020204" pitchFamily="34" charset="0"/>
              <a:buChar char="•"/>
            </a:pPr>
            <a:r>
              <a:rPr lang="en-US" dirty="0"/>
              <a:t>The value 0.05 is common but depends upon numerous factors.</a:t>
            </a:r>
            <a:endParaRPr lang="en-US" dirty="0"/>
          </a:p>
          <a:p>
            <a:endParaRPr lang="en-US" dirty="0"/>
          </a:p>
          <a:p>
            <a:r>
              <a:rPr lang="en-US" dirty="0"/>
              <a:t>Let's see the result in the next slides.</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6203" y="210253"/>
            <a:ext cx="9779183" cy="753679"/>
          </a:xfrm>
        </p:spPr>
        <p:txBody>
          <a:bodyPr/>
          <a:lstStyle/>
          <a:p>
            <a:r>
              <a:rPr lang="en-US" dirty="0"/>
              <a:t>Exploratory Data Analysis</a:t>
            </a:r>
            <a:endParaRPr lang="en-US" dirty="0"/>
          </a:p>
        </p:txBody>
      </p:sp>
      <p:sp>
        <p:nvSpPr>
          <p:cNvPr id="7" name="Date Placeholder 6"/>
          <p:cNvSpPr>
            <a:spLocks noGrp="1"/>
          </p:cNvSpPr>
          <p:nvPr>
            <p:ph type="dt" sz="half" idx="2"/>
          </p:nvPr>
        </p:nvSpPr>
        <p:spPr>
          <a:xfrm>
            <a:off x="380999" y="6356350"/>
            <a:ext cx="3774542" cy="365125"/>
          </a:xfrm>
        </p:spPr>
        <p:txBody>
          <a:bodyPr/>
          <a:lstStyle/>
          <a:p>
            <a:r>
              <a:rPr lang="en-US" dirty="0"/>
              <a:t>Specialized Models: Time Series and Survival Analysis</a:t>
            </a:r>
            <a:endParaRPr lang="en-US" dirty="0"/>
          </a:p>
        </p:txBody>
      </p:sp>
      <p:sp>
        <p:nvSpPr>
          <p:cNvPr id="9" name="Slide Number Placeholder 8"/>
          <p:cNvSpPr>
            <a:spLocks noGrp="1"/>
          </p:cNvSpPr>
          <p:nvPr>
            <p:ph type="sldNum" sz="quarter" idx="4"/>
          </p:nvPr>
        </p:nvSpPr>
        <p:spPr/>
        <p:txBody>
          <a:bodyPr/>
          <a:lstStyle/>
          <a:p>
            <a:fld id="{294A09A9-5501-47C1-A89A-A340965A2BE2}" type="slidenum">
              <a:rPr lang="en-US" sz="1800"/>
            </a:fld>
            <a:endParaRPr lang="en-US" sz="1800" dirty="0"/>
          </a:p>
        </p:txBody>
      </p:sp>
      <p:sp>
        <p:nvSpPr>
          <p:cNvPr id="10" name="TextBox 9"/>
          <p:cNvSpPr txBox="1"/>
          <p:nvPr/>
        </p:nvSpPr>
        <p:spPr>
          <a:xfrm>
            <a:off x="1014235" y="963932"/>
            <a:ext cx="8477237" cy="400110"/>
          </a:xfrm>
          <a:prstGeom prst="rect">
            <a:avLst/>
          </a:prstGeom>
          <a:noFill/>
        </p:spPr>
        <p:txBody>
          <a:bodyPr wrap="square">
            <a:spAutoFit/>
          </a:bodyPr>
          <a:lstStyle/>
          <a:p>
            <a:r>
              <a:rPr lang="en-US" sz="2000" b="1" dirty="0">
                <a:solidFill>
                  <a:srgbClr val="48A1FA"/>
                </a:solidFill>
              </a:rPr>
              <a:t>Augmented Dickey-Fuller Test</a:t>
            </a:r>
            <a:endParaRPr lang="en-US" sz="2000" b="1" dirty="0">
              <a:solidFill>
                <a:srgbClr val="48A1FA"/>
              </a:solidFill>
            </a:endParaRPr>
          </a:p>
        </p:txBody>
      </p:sp>
      <p:pic>
        <p:nvPicPr>
          <p:cNvPr id="4" name="Picture 3"/>
          <p:cNvPicPr>
            <a:picLocks noChangeAspect="1"/>
          </p:cNvPicPr>
          <p:nvPr/>
        </p:nvPicPr>
        <p:blipFill rotWithShape="1">
          <a:blip r:embed="rId1"/>
          <a:srcRect r="5244"/>
          <a:stretch>
            <a:fillRect/>
          </a:stretch>
        </p:blipFill>
        <p:spPr>
          <a:xfrm>
            <a:off x="1188720" y="1512045"/>
            <a:ext cx="5184648" cy="892097"/>
          </a:xfrm>
          <a:prstGeom prst="rect">
            <a:avLst/>
          </a:prstGeom>
        </p:spPr>
      </p:pic>
      <p:sp>
        <p:nvSpPr>
          <p:cNvPr id="12" name="TextBox 11"/>
          <p:cNvSpPr txBox="1"/>
          <p:nvPr/>
        </p:nvSpPr>
        <p:spPr>
          <a:xfrm>
            <a:off x="1188720" y="2552145"/>
            <a:ext cx="9674352" cy="4616648"/>
          </a:xfrm>
          <a:prstGeom prst="rect">
            <a:avLst/>
          </a:prstGeom>
          <a:noFill/>
        </p:spPr>
        <p:txBody>
          <a:bodyPr wrap="square">
            <a:spAutoFit/>
          </a:bodyPr>
          <a:lstStyle/>
          <a:p>
            <a:pPr algn="l"/>
            <a:r>
              <a:rPr lang="en-US" sz="1400" b="1" dirty="0">
                <a:solidFill>
                  <a:srgbClr val="48A1FA"/>
                </a:solidFill>
              </a:rPr>
              <a:t>adf = -2.829277524541586 </a:t>
            </a:r>
            <a:endParaRPr lang="en-US" sz="1400" b="1" dirty="0">
              <a:solidFill>
                <a:srgbClr val="48A1FA"/>
              </a:solidFill>
            </a:endParaRPr>
          </a:p>
          <a:p>
            <a:pPr algn="l"/>
            <a:endParaRPr lang="en-US" sz="1400" dirty="0"/>
          </a:p>
          <a:p>
            <a:pPr algn="l"/>
            <a:r>
              <a:rPr lang="en-US" sz="1400" dirty="0"/>
              <a:t>First, adf is the value of the test statistic. The more negative the value, the more confident we can be that the series is stationary. Here we see a value of -2.83. That may not mean anything to you just yet, but the p-value should.</a:t>
            </a:r>
            <a:endParaRPr lang="en-US" sz="1400" dirty="0"/>
          </a:p>
          <a:p>
            <a:pPr algn="l"/>
            <a:r>
              <a:rPr lang="en-US" sz="1400" dirty="0"/>
              <a:t>A brief discussion about the important outputs from the ADF test is in order.</a:t>
            </a:r>
            <a:endParaRPr lang="en-US" sz="1400" dirty="0"/>
          </a:p>
          <a:p>
            <a:pPr algn="l"/>
            <a:endParaRPr lang="en-US" sz="1400" dirty="0"/>
          </a:p>
          <a:p>
            <a:pPr algn="l"/>
            <a:r>
              <a:rPr lang="en-US" sz="1400" b="1" dirty="0">
                <a:solidFill>
                  <a:srgbClr val="48A1FA"/>
                </a:solidFill>
              </a:rPr>
              <a:t>Pvalue = 0.05421184907221919</a:t>
            </a:r>
            <a:endParaRPr lang="en-US" sz="1400" b="1" dirty="0">
              <a:solidFill>
                <a:srgbClr val="48A1FA"/>
              </a:solidFill>
            </a:endParaRPr>
          </a:p>
          <a:p>
            <a:pPr algn="l"/>
            <a:endParaRPr lang="en-US" sz="1400" b="1" dirty="0">
              <a:solidFill>
                <a:srgbClr val="48A1FA"/>
              </a:solidFill>
            </a:endParaRPr>
          </a:p>
          <a:p>
            <a:r>
              <a:rPr lang="en-US" sz="1400" dirty="0"/>
              <a:t>p-value is interpreted like any p-value. Once we set a threshold, we can compare this p-value to that threshold. Either we reject or fail to reject the null. Here p-value is very close to zero “0.054” so we reject the null that this data is nonstationary, and we can conclude that it is a stationary time series.</a:t>
            </a:r>
            <a:endParaRPr lang="en-US" sz="1400" dirty="0"/>
          </a:p>
          <a:p>
            <a:endParaRPr lang="en-US" sz="1400" dirty="0"/>
          </a:p>
          <a:p>
            <a:r>
              <a:rPr lang="en-US" sz="1400" b="1" dirty="0">
                <a:solidFill>
                  <a:srgbClr val="48A1FA"/>
                </a:solidFill>
              </a:rPr>
              <a:t>critical_values = {'1%': -3.442609129942274, '5%': -2.866947348175723, '10%': -2.569649926626197}</a:t>
            </a:r>
            <a:endParaRPr lang="en-US" sz="1400" b="1" dirty="0">
              <a:solidFill>
                <a:srgbClr val="48A1FA"/>
              </a:solidFill>
            </a:endParaRPr>
          </a:p>
          <a:p>
            <a:endParaRPr lang="en-US" sz="1400" b="1" dirty="0">
              <a:solidFill>
                <a:srgbClr val="48A1FA"/>
              </a:solidFill>
            </a:endParaRPr>
          </a:p>
          <a:p>
            <a:r>
              <a:rPr lang="en-US" sz="1400" dirty="0"/>
              <a:t>Finally, the critical_values variable provides test statistic thresholds </a:t>
            </a:r>
            <a:endParaRPr lang="en-US" sz="1400" dirty="0"/>
          </a:p>
          <a:p>
            <a:r>
              <a:rPr lang="en-US" sz="1400" dirty="0"/>
              <a:t>for common significant levels. Here we see a test statistic of roughly -2.86</a:t>
            </a:r>
            <a:endParaRPr lang="en-US" sz="1400" dirty="0"/>
          </a:p>
          <a:p>
            <a:r>
              <a:rPr lang="en-US" sz="1400" dirty="0"/>
              <a:t>and lower is sufficient to reject the null using a significance level of 5%.</a:t>
            </a:r>
            <a:endParaRPr lang="en-US" sz="1400" dirty="0"/>
          </a:p>
          <a:p>
            <a:endParaRPr lang="en-US" sz="1400" dirty="0"/>
          </a:p>
          <a:p>
            <a:pPr algn="l"/>
            <a:endParaRPr lang="en-US" sz="1400" dirty="0"/>
          </a:p>
          <a:p>
            <a:br>
              <a:rPr lang="en-US" sz="1400" dirty="0"/>
            </a:b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6203" y="210253"/>
            <a:ext cx="9779183" cy="753679"/>
          </a:xfrm>
        </p:spPr>
        <p:txBody>
          <a:bodyPr/>
          <a:lstStyle/>
          <a:p>
            <a:r>
              <a:rPr lang="en-US" dirty="0"/>
              <a:t>Exploratory Data Analysis</a:t>
            </a:r>
            <a:endParaRPr lang="en-US" dirty="0"/>
          </a:p>
        </p:txBody>
      </p:sp>
      <p:sp>
        <p:nvSpPr>
          <p:cNvPr id="7" name="Date Placeholder 6"/>
          <p:cNvSpPr>
            <a:spLocks noGrp="1"/>
          </p:cNvSpPr>
          <p:nvPr>
            <p:ph type="dt" sz="half" idx="2"/>
          </p:nvPr>
        </p:nvSpPr>
        <p:spPr>
          <a:xfrm>
            <a:off x="380999" y="6356350"/>
            <a:ext cx="3774542" cy="365125"/>
          </a:xfrm>
        </p:spPr>
        <p:txBody>
          <a:bodyPr/>
          <a:lstStyle/>
          <a:p>
            <a:r>
              <a:rPr lang="en-US" dirty="0"/>
              <a:t>Specialized Models: Time Series and Survival Analysis</a:t>
            </a:r>
            <a:endParaRPr lang="en-US" dirty="0"/>
          </a:p>
        </p:txBody>
      </p:sp>
      <p:sp>
        <p:nvSpPr>
          <p:cNvPr id="9" name="Slide Number Placeholder 8"/>
          <p:cNvSpPr>
            <a:spLocks noGrp="1"/>
          </p:cNvSpPr>
          <p:nvPr>
            <p:ph type="sldNum" sz="quarter" idx="4"/>
          </p:nvPr>
        </p:nvSpPr>
        <p:spPr/>
        <p:txBody>
          <a:bodyPr/>
          <a:lstStyle/>
          <a:p>
            <a:fld id="{294A09A9-5501-47C1-A89A-A340965A2BE2}" type="slidenum">
              <a:rPr lang="en-US" sz="1800"/>
            </a:fld>
            <a:endParaRPr lang="en-US" sz="1800" dirty="0"/>
          </a:p>
        </p:txBody>
      </p:sp>
      <p:sp>
        <p:nvSpPr>
          <p:cNvPr id="10" name="TextBox 9"/>
          <p:cNvSpPr txBox="1"/>
          <p:nvPr/>
        </p:nvSpPr>
        <p:spPr>
          <a:xfrm>
            <a:off x="906203" y="940098"/>
            <a:ext cx="8477237" cy="369332"/>
          </a:xfrm>
          <a:prstGeom prst="rect">
            <a:avLst/>
          </a:prstGeom>
          <a:noFill/>
        </p:spPr>
        <p:txBody>
          <a:bodyPr wrap="square">
            <a:spAutoFit/>
          </a:bodyPr>
          <a:lstStyle/>
          <a:p>
            <a:pPr>
              <a:lnSpc>
                <a:spcPct val="90000"/>
              </a:lnSpc>
              <a:spcBef>
                <a:spcPts val="1000"/>
              </a:spcBef>
            </a:pPr>
            <a:r>
              <a:rPr lang="en-US" sz="2000" b="1" dirty="0">
                <a:solidFill>
                  <a:srgbClr val="48A1FA"/>
                </a:solidFill>
                <a:latin typeface="+mj-lt"/>
              </a:rPr>
              <a:t>Analysis Summary: </a:t>
            </a:r>
            <a:endParaRPr lang="en-US" sz="2000" b="1" dirty="0">
              <a:solidFill>
                <a:srgbClr val="48A1FA"/>
              </a:solidFill>
              <a:latin typeface="+mj-lt"/>
            </a:endParaRPr>
          </a:p>
        </p:txBody>
      </p:sp>
      <p:sp>
        <p:nvSpPr>
          <p:cNvPr id="11" name="TextBox 10"/>
          <p:cNvSpPr txBox="1"/>
          <p:nvPr/>
        </p:nvSpPr>
        <p:spPr>
          <a:xfrm>
            <a:off x="906203" y="1383707"/>
            <a:ext cx="10196309" cy="4917244"/>
          </a:xfrm>
          <a:prstGeom prst="rect">
            <a:avLst/>
          </a:prstGeom>
          <a:noFill/>
        </p:spPr>
        <p:txBody>
          <a:bodyPr wrap="square">
            <a:spAutoFit/>
          </a:bodyPr>
          <a:lstStyle/>
          <a:p>
            <a:pPr>
              <a:lnSpc>
                <a:spcPct val="90000"/>
              </a:lnSpc>
              <a:spcBef>
                <a:spcPts val="1000"/>
              </a:spcBef>
            </a:pPr>
            <a:r>
              <a:rPr lang="en-US" b="1" dirty="0">
                <a:solidFill>
                  <a:srgbClr val="48A1FA"/>
                </a:solidFill>
                <a:latin typeface="+mj-lt"/>
              </a:rPr>
              <a:t>White Noise: </a:t>
            </a:r>
            <a:endParaRPr lang="en-US" b="1" dirty="0">
              <a:solidFill>
                <a:srgbClr val="48A1FA"/>
              </a:solidFill>
              <a:latin typeface="+mj-lt"/>
            </a:endParaRPr>
          </a:p>
          <a:p>
            <a:pPr>
              <a:lnSpc>
                <a:spcPct val="90000"/>
              </a:lnSpc>
              <a:spcBef>
                <a:spcPts val="1000"/>
              </a:spcBef>
            </a:pPr>
            <a:r>
              <a:rPr lang="en-US" sz="1600" b="1" dirty="0">
                <a:latin typeface="+mj-lt"/>
              </a:rPr>
              <a:t>Time series can be considered as white noise (can’t be modeled) if it satisfies three conditions : </a:t>
            </a:r>
            <a:endParaRPr lang="en-US" sz="1600" b="1" dirty="0">
              <a:latin typeface="+mj-lt"/>
            </a:endParaRPr>
          </a:p>
          <a:p>
            <a:pPr marL="342900" indent="-342900">
              <a:lnSpc>
                <a:spcPct val="90000"/>
              </a:lnSpc>
              <a:spcBef>
                <a:spcPts val="1000"/>
              </a:spcBef>
              <a:buFont typeface="+mj-lt"/>
              <a:buAutoNum type="arabicPeriod"/>
            </a:pPr>
            <a:r>
              <a:rPr lang="en-US" sz="1600" b="1" dirty="0">
                <a:latin typeface="+mj-lt"/>
              </a:rPr>
              <a:t>Approximately zero or exactly zero mean over the time series. </a:t>
            </a:r>
            <a:r>
              <a:rPr lang="en-US" sz="1600" b="1" dirty="0">
                <a:solidFill>
                  <a:srgbClr val="A83242"/>
                </a:solidFill>
                <a:latin typeface="+mj-lt"/>
              </a:rPr>
              <a:t>[not satisfied]</a:t>
            </a:r>
            <a:endParaRPr lang="en-US" sz="1600" b="1" dirty="0">
              <a:solidFill>
                <a:srgbClr val="A83242"/>
              </a:solidFill>
              <a:latin typeface="+mj-lt"/>
            </a:endParaRPr>
          </a:p>
          <a:p>
            <a:pPr marL="342900" indent="-342900">
              <a:lnSpc>
                <a:spcPct val="90000"/>
              </a:lnSpc>
              <a:spcBef>
                <a:spcPts val="1000"/>
              </a:spcBef>
              <a:buFont typeface="+mj-lt"/>
              <a:buAutoNum type="arabicPeriod"/>
            </a:pPr>
            <a:r>
              <a:rPr lang="en-US" sz="1600" b="1" dirty="0">
                <a:latin typeface="+mj-lt"/>
              </a:rPr>
              <a:t>Constant standard deviation over the time series. </a:t>
            </a:r>
            <a:r>
              <a:rPr lang="en-US" sz="1600" b="1" dirty="0">
                <a:solidFill>
                  <a:srgbClr val="00863D"/>
                </a:solidFill>
                <a:latin typeface="+mj-lt"/>
              </a:rPr>
              <a:t>[satisfied]</a:t>
            </a:r>
            <a:endParaRPr lang="en-US" sz="1600" b="1" dirty="0">
              <a:solidFill>
                <a:srgbClr val="00863D"/>
              </a:solidFill>
              <a:latin typeface="+mj-lt"/>
            </a:endParaRPr>
          </a:p>
          <a:p>
            <a:pPr marL="342900" indent="-342900">
              <a:lnSpc>
                <a:spcPct val="90000"/>
              </a:lnSpc>
              <a:spcBef>
                <a:spcPts val="1000"/>
              </a:spcBef>
              <a:buFont typeface="+mj-lt"/>
              <a:buAutoNum type="arabicPeriod"/>
            </a:pPr>
            <a:r>
              <a:rPr lang="en-US" sz="1600" b="1" dirty="0">
                <a:latin typeface="+mj-lt"/>
              </a:rPr>
              <a:t>correlations between the time series and its lags are not statistically significant. </a:t>
            </a:r>
            <a:r>
              <a:rPr lang="en-US" sz="1600" b="1" dirty="0">
                <a:solidFill>
                  <a:srgbClr val="A83242"/>
                </a:solidFill>
                <a:latin typeface="+mj-lt"/>
              </a:rPr>
              <a:t>[not satisfied]</a:t>
            </a:r>
            <a:endParaRPr lang="en-US" sz="1600" b="1" dirty="0">
              <a:latin typeface="+mj-lt"/>
            </a:endParaRPr>
          </a:p>
          <a:p>
            <a:pPr>
              <a:lnSpc>
                <a:spcPct val="90000"/>
              </a:lnSpc>
              <a:spcBef>
                <a:spcPts val="1000"/>
              </a:spcBef>
            </a:pPr>
            <a:r>
              <a:rPr lang="en-US" sz="1600" b="1" dirty="0">
                <a:solidFill>
                  <a:schemeClr val="bg1"/>
                </a:solidFill>
                <a:highlight>
                  <a:srgbClr val="48A1FA"/>
                </a:highlight>
                <a:latin typeface="+mj-lt"/>
              </a:rPr>
              <a:t>Final Decision: Time series is not considered a white noise. </a:t>
            </a:r>
            <a:endParaRPr lang="en-US" sz="1600" b="1" dirty="0">
              <a:solidFill>
                <a:schemeClr val="bg1"/>
              </a:solidFill>
              <a:highlight>
                <a:srgbClr val="48A1FA"/>
              </a:highlight>
              <a:latin typeface="+mj-lt"/>
            </a:endParaRPr>
          </a:p>
          <a:p>
            <a:pPr marL="342900" indent="-342900">
              <a:lnSpc>
                <a:spcPct val="90000"/>
              </a:lnSpc>
              <a:spcBef>
                <a:spcPts val="1000"/>
              </a:spcBef>
              <a:buFont typeface="+mj-lt"/>
              <a:buAutoNum type="arabicPeriod"/>
            </a:pPr>
            <a:endParaRPr lang="en-US" sz="1600" b="1" dirty="0">
              <a:latin typeface="+mj-lt"/>
            </a:endParaRPr>
          </a:p>
          <a:p>
            <a:pPr>
              <a:lnSpc>
                <a:spcPct val="90000"/>
              </a:lnSpc>
              <a:spcBef>
                <a:spcPts val="1000"/>
              </a:spcBef>
            </a:pPr>
            <a:r>
              <a:rPr lang="en-US" b="1" dirty="0">
                <a:solidFill>
                  <a:srgbClr val="48A1FA"/>
                </a:solidFill>
                <a:latin typeface="+mj-lt"/>
              </a:rPr>
              <a:t>Stationarity: </a:t>
            </a:r>
            <a:endParaRPr lang="en-US" b="1" dirty="0">
              <a:solidFill>
                <a:srgbClr val="48A1FA"/>
              </a:solidFill>
              <a:latin typeface="+mj-lt"/>
            </a:endParaRPr>
          </a:p>
          <a:p>
            <a:pPr>
              <a:lnSpc>
                <a:spcPct val="90000"/>
              </a:lnSpc>
              <a:spcBef>
                <a:spcPts val="1000"/>
              </a:spcBef>
            </a:pPr>
            <a:r>
              <a:rPr lang="en-US" sz="1600" b="1" dirty="0">
                <a:latin typeface="+mj-lt"/>
              </a:rPr>
              <a:t>In order a time series data to be stationary, the data must exhibit four properties over time:</a:t>
            </a:r>
            <a:endParaRPr lang="en-US" sz="1600" b="1" dirty="0">
              <a:latin typeface="+mj-lt"/>
            </a:endParaRPr>
          </a:p>
          <a:p>
            <a:pPr marL="342900" indent="-342900">
              <a:lnSpc>
                <a:spcPct val="90000"/>
              </a:lnSpc>
              <a:spcBef>
                <a:spcPts val="1000"/>
              </a:spcBef>
              <a:buFont typeface="+mj-lt"/>
              <a:buAutoNum type="arabicPeriod"/>
            </a:pPr>
            <a:r>
              <a:rPr lang="en-US" sz="1600" b="1" dirty="0">
                <a:latin typeface="+mj-lt"/>
              </a:rPr>
              <a:t>constant mean </a:t>
            </a:r>
            <a:r>
              <a:rPr lang="en-US" sz="1600" b="1" dirty="0">
                <a:solidFill>
                  <a:srgbClr val="00863D"/>
                </a:solidFill>
                <a:latin typeface="+mj-lt"/>
              </a:rPr>
              <a:t>[satisfied]</a:t>
            </a:r>
            <a:endParaRPr lang="en-US" sz="1600" b="1" dirty="0">
              <a:latin typeface="+mj-lt"/>
            </a:endParaRPr>
          </a:p>
          <a:p>
            <a:pPr marL="342900" indent="-342900">
              <a:lnSpc>
                <a:spcPct val="90000"/>
              </a:lnSpc>
              <a:spcBef>
                <a:spcPts val="1000"/>
              </a:spcBef>
              <a:buFont typeface="+mj-lt"/>
              <a:buAutoNum type="arabicPeriod"/>
            </a:pPr>
            <a:r>
              <a:rPr lang="en-US" sz="1600" b="1" dirty="0">
                <a:latin typeface="+mj-lt"/>
              </a:rPr>
              <a:t>constant variance </a:t>
            </a:r>
            <a:r>
              <a:rPr lang="en-US" sz="1600" b="1" dirty="0">
                <a:solidFill>
                  <a:srgbClr val="00863D"/>
                </a:solidFill>
                <a:latin typeface="+mj-lt"/>
              </a:rPr>
              <a:t>[satisfied]</a:t>
            </a:r>
            <a:endParaRPr lang="en-US" sz="1600" b="1" dirty="0">
              <a:latin typeface="+mj-lt"/>
            </a:endParaRPr>
          </a:p>
          <a:p>
            <a:pPr marL="342900" indent="-342900">
              <a:lnSpc>
                <a:spcPct val="90000"/>
              </a:lnSpc>
              <a:spcBef>
                <a:spcPts val="1000"/>
              </a:spcBef>
              <a:buFont typeface="+mj-lt"/>
              <a:buAutoNum type="arabicPeriod"/>
            </a:pPr>
            <a:r>
              <a:rPr lang="en-US" sz="1600" b="1" dirty="0">
                <a:latin typeface="+mj-lt"/>
              </a:rPr>
              <a:t>constant autocorrelation structure </a:t>
            </a:r>
            <a:r>
              <a:rPr lang="en-US" sz="1600" b="1" dirty="0">
                <a:solidFill>
                  <a:srgbClr val="00863D"/>
                </a:solidFill>
                <a:latin typeface="+mj-lt"/>
              </a:rPr>
              <a:t>[satisfied]</a:t>
            </a:r>
            <a:endParaRPr lang="en-US" sz="1600" b="1" dirty="0">
              <a:latin typeface="+mj-lt"/>
            </a:endParaRPr>
          </a:p>
          <a:p>
            <a:pPr marL="342900" indent="-342900">
              <a:lnSpc>
                <a:spcPct val="90000"/>
              </a:lnSpc>
              <a:spcBef>
                <a:spcPts val="1000"/>
              </a:spcBef>
              <a:buFont typeface="+mj-lt"/>
              <a:buAutoNum type="arabicPeriod"/>
            </a:pPr>
            <a:r>
              <a:rPr lang="en-US" sz="1600" b="1" dirty="0">
                <a:latin typeface="+mj-lt"/>
              </a:rPr>
              <a:t>no periodic component </a:t>
            </a:r>
            <a:r>
              <a:rPr lang="en-US" sz="1600" b="1" dirty="0">
                <a:solidFill>
                  <a:srgbClr val="00863D"/>
                </a:solidFill>
                <a:latin typeface="+mj-lt"/>
              </a:rPr>
              <a:t>[satisfied]</a:t>
            </a:r>
            <a:endParaRPr lang="en-US" sz="1600" b="1" dirty="0">
              <a:solidFill>
                <a:srgbClr val="00863D"/>
              </a:solidFill>
              <a:latin typeface="+mj-lt"/>
            </a:endParaRPr>
          </a:p>
          <a:p>
            <a:pPr>
              <a:lnSpc>
                <a:spcPct val="90000"/>
              </a:lnSpc>
              <a:spcBef>
                <a:spcPts val="1000"/>
              </a:spcBef>
            </a:pPr>
            <a:r>
              <a:rPr lang="en-US" sz="1600" b="1" dirty="0">
                <a:solidFill>
                  <a:schemeClr val="bg1"/>
                </a:solidFill>
                <a:highlight>
                  <a:srgbClr val="48A1FA"/>
                </a:highlight>
                <a:latin typeface="+mj-lt"/>
              </a:rPr>
              <a:t>Final Decision: Time series is considered stationary.</a:t>
            </a:r>
            <a:endParaRPr lang="en-US" sz="1600" b="1" dirty="0">
              <a:solidFill>
                <a:schemeClr val="bg1"/>
              </a:solidFill>
              <a:highlight>
                <a:srgbClr val="48A1FA"/>
              </a:highlight>
              <a:latin typeface="+mj-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2"/>
          </p:nvPr>
        </p:nvSpPr>
        <p:spPr>
          <a:xfrm>
            <a:off x="380999" y="6356350"/>
            <a:ext cx="3801701" cy="365125"/>
          </a:xfrm>
        </p:spPr>
        <p:txBody>
          <a:bodyPr/>
          <a:lstStyle/>
          <a:p>
            <a:r>
              <a:rPr lang="en-US" dirty="0"/>
              <a:t>Specialized Models: Time Series and Survival Analysis</a:t>
            </a:r>
            <a:endParaRPr lang="en-US" dirty="0"/>
          </a:p>
        </p:txBody>
      </p:sp>
      <p:sp>
        <p:nvSpPr>
          <p:cNvPr id="8" name="Slide Number Placeholder 7"/>
          <p:cNvSpPr>
            <a:spLocks noGrp="1"/>
          </p:cNvSpPr>
          <p:nvPr>
            <p:ph type="sldNum" sz="quarter" idx="4"/>
          </p:nvPr>
        </p:nvSpPr>
        <p:spPr/>
        <p:txBody>
          <a:bodyPr/>
          <a:lstStyle/>
          <a:p>
            <a:fld id="{294A09A9-5501-47C1-A89A-A340965A2BE2}" type="slidenum">
              <a:rPr lang="en-US" sz="1800"/>
            </a:fld>
            <a:endParaRPr lang="en-US" sz="1800" dirty="0"/>
          </a:p>
        </p:txBody>
      </p:sp>
      <p:sp>
        <p:nvSpPr>
          <p:cNvPr id="15" name="TextBox 14"/>
          <p:cNvSpPr txBox="1"/>
          <p:nvPr/>
        </p:nvSpPr>
        <p:spPr>
          <a:xfrm>
            <a:off x="443497" y="68569"/>
            <a:ext cx="7762365" cy="757130"/>
          </a:xfrm>
          <a:prstGeom prst="rect">
            <a:avLst/>
          </a:prstGeom>
          <a:noFill/>
        </p:spPr>
        <p:txBody>
          <a:bodyPr wrap="square">
            <a:spAutoFit/>
          </a:bodyPr>
          <a:lstStyle/>
          <a:p>
            <a:pPr>
              <a:lnSpc>
                <a:spcPct val="90000"/>
              </a:lnSpc>
              <a:spcBef>
                <a:spcPct val="0"/>
              </a:spcBef>
            </a:pPr>
            <a:r>
              <a:rPr lang="en-US" sz="4800" b="1" dirty="0">
                <a:latin typeface="+mj-lt"/>
                <a:ea typeface="+mj-ea"/>
                <a:cs typeface="+mj-cs"/>
              </a:rPr>
              <a:t>Feature Engineering</a:t>
            </a:r>
            <a:endParaRPr lang="en-US" sz="4800" b="1" dirty="0">
              <a:latin typeface="+mj-lt"/>
              <a:ea typeface="+mj-ea"/>
              <a:cs typeface="+mj-cs"/>
            </a:endParaRPr>
          </a:p>
        </p:txBody>
      </p:sp>
      <p:sp>
        <p:nvSpPr>
          <p:cNvPr id="9" name="TextBox 8"/>
          <p:cNvSpPr txBox="1"/>
          <p:nvPr/>
        </p:nvSpPr>
        <p:spPr>
          <a:xfrm>
            <a:off x="906203" y="940098"/>
            <a:ext cx="8477237" cy="774571"/>
          </a:xfrm>
          <a:prstGeom prst="rect">
            <a:avLst/>
          </a:prstGeom>
          <a:noFill/>
        </p:spPr>
        <p:txBody>
          <a:bodyPr wrap="square">
            <a:spAutoFit/>
          </a:bodyPr>
          <a:lstStyle/>
          <a:p>
            <a:pPr>
              <a:lnSpc>
                <a:spcPct val="90000"/>
              </a:lnSpc>
              <a:spcBef>
                <a:spcPts val="1000"/>
              </a:spcBef>
            </a:pPr>
            <a:r>
              <a:rPr lang="en-US" sz="2000" b="1" dirty="0">
                <a:solidFill>
                  <a:srgbClr val="48A1FA"/>
                </a:solidFill>
                <a:latin typeface="+mj-lt"/>
              </a:rPr>
              <a:t>Smoothing Time Series </a:t>
            </a:r>
            <a:endParaRPr lang="en-US" sz="2000" b="1" dirty="0">
              <a:solidFill>
                <a:srgbClr val="48A1FA"/>
              </a:solidFill>
              <a:latin typeface="+mj-lt"/>
            </a:endParaRPr>
          </a:p>
          <a:p>
            <a:pPr>
              <a:lnSpc>
                <a:spcPct val="90000"/>
              </a:lnSpc>
              <a:spcBef>
                <a:spcPts val="1000"/>
              </a:spcBef>
            </a:pPr>
            <a:r>
              <a:rPr lang="en-US" b="1" dirty="0">
                <a:latin typeface="+mj-lt"/>
              </a:rPr>
              <a:t>1 -Simple Smoothing</a:t>
            </a:r>
            <a:endParaRPr lang="en-US" b="1" dirty="0">
              <a:latin typeface="+mj-lt"/>
            </a:endParaRPr>
          </a:p>
        </p:txBody>
      </p:sp>
      <p:pic>
        <p:nvPicPr>
          <p:cNvPr id="4" name="Picture 3"/>
          <p:cNvPicPr>
            <a:picLocks noChangeAspect="1"/>
          </p:cNvPicPr>
          <p:nvPr/>
        </p:nvPicPr>
        <p:blipFill rotWithShape="1">
          <a:blip r:embed="rId1"/>
          <a:srcRect l="224"/>
          <a:stretch>
            <a:fillRect/>
          </a:stretch>
        </p:blipFill>
        <p:spPr>
          <a:xfrm>
            <a:off x="997446" y="1807802"/>
            <a:ext cx="9371850" cy="3335530"/>
          </a:xfrm>
          <a:prstGeom prst="rect">
            <a:avLst/>
          </a:prstGeom>
        </p:spPr>
      </p:pic>
      <p:pic>
        <p:nvPicPr>
          <p:cNvPr id="10" name="Picture 9"/>
          <p:cNvPicPr>
            <a:picLocks noChangeAspect="1"/>
          </p:cNvPicPr>
          <p:nvPr/>
        </p:nvPicPr>
        <p:blipFill>
          <a:blip r:embed="rId2"/>
          <a:stretch>
            <a:fillRect/>
          </a:stretch>
        </p:blipFill>
        <p:spPr>
          <a:xfrm>
            <a:off x="1086421" y="5439948"/>
            <a:ext cx="3362325" cy="4762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2"/>
          </p:nvPr>
        </p:nvSpPr>
        <p:spPr>
          <a:xfrm>
            <a:off x="380999" y="6356350"/>
            <a:ext cx="3801701" cy="365125"/>
          </a:xfrm>
        </p:spPr>
        <p:txBody>
          <a:bodyPr/>
          <a:lstStyle/>
          <a:p>
            <a:r>
              <a:rPr lang="en-US" dirty="0"/>
              <a:t>Specialized Models: Time Series and Survival Analysis</a:t>
            </a:r>
            <a:endParaRPr lang="en-US" dirty="0"/>
          </a:p>
        </p:txBody>
      </p:sp>
      <p:sp>
        <p:nvSpPr>
          <p:cNvPr id="8" name="Slide Number Placeholder 7"/>
          <p:cNvSpPr>
            <a:spLocks noGrp="1"/>
          </p:cNvSpPr>
          <p:nvPr>
            <p:ph type="sldNum" sz="quarter" idx="4"/>
          </p:nvPr>
        </p:nvSpPr>
        <p:spPr/>
        <p:txBody>
          <a:bodyPr/>
          <a:lstStyle/>
          <a:p>
            <a:fld id="{294A09A9-5501-47C1-A89A-A340965A2BE2}" type="slidenum">
              <a:rPr lang="en-US" sz="1800"/>
            </a:fld>
            <a:endParaRPr lang="en-US" sz="1800" dirty="0"/>
          </a:p>
        </p:txBody>
      </p:sp>
      <p:sp>
        <p:nvSpPr>
          <p:cNvPr id="15" name="TextBox 14"/>
          <p:cNvSpPr txBox="1"/>
          <p:nvPr/>
        </p:nvSpPr>
        <p:spPr>
          <a:xfrm>
            <a:off x="443497" y="68569"/>
            <a:ext cx="7762365" cy="757130"/>
          </a:xfrm>
          <a:prstGeom prst="rect">
            <a:avLst/>
          </a:prstGeom>
          <a:noFill/>
        </p:spPr>
        <p:txBody>
          <a:bodyPr wrap="square">
            <a:spAutoFit/>
          </a:bodyPr>
          <a:lstStyle/>
          <a:p>
            <a:pPr>
              <a:lnSpc>
                <a:spcPct val="90000"/>
              </a:lnSpc>
              <a:spcBef>
                <a:spcPct val="0"/>
              </a:spcBef>
            </a:pPr>
            <a:r>
              <a:rPr lang="en-US" sz="4800" b="1" dirty="0">
                <a:latin typeface="+mj-lt"/>
                <a:ea typeface="+mj-ea"/>
                <a:cs typeface="+mj-cs"/>
              </a:rPr>
              <a:t>Feature Engineering</a:t>
            </a:r>
            <a:endParaRPr lang="en-US" sz="4800" b="1" dirty="0">
              <a:latin typeface="+mj-lt"/>
              <a:ea typeface="+mj-ea"/>
              <a:cs typeface="+mj-cs"/>
            </a:endParaRPr>
          </a:p>
        </p:txBody>
      </p:sp>
      <p:sp>
        <p:nvSpPr>
          <p:cNvPr id="9" name="TextBox 8"/>
          <p:cNvSpPr txBox="1"/>
          <p:nvPr/>
        </p:nvSpPr>
        <p:spPr>
          <a:xfrm>
            <a:off x="906203" y="940098"/>
            <a:ext cx="8477237" cy="774571"/>
          </a:xfrm>
          <a:prstGeom prst="rect">
            <a:avLst/>
          </a:prstGeom>
          <a:noFill/>
        </p:spPr>
        <p:txBody>
          <a:bodyPr wrap="square">
            <a:spAutoFit/>
          </a:bodyPr>
          <a:lstStyle/>
          <a:p>
            <a:pPr>
              <a:lnSpc>
                <a:spcPct val="90000"/>
              </a:lnSpc>
              <a:spcBef>
                <a:spcPts val="1000"/>
              </a:spcBef>
            </a:pPr>
            <a:r>
              <a:rPr lang="en-US" sz="2000" b="1" dirty="0">
                <a:solidFill>
                  <a:srgbClr val="48A1FA"/>
                </a:solidFill>
                <a:latin typeface="+mj-lt"/>
              </a:rPr>
              <a:t>Smoothing Time Series </a:t>
            </a:r>
            <a:endParaRPr lang="en-US" sz="2000" b="1" dirty="0">
              <a:solidFill>
                <a:srgbClr val="48A1FA"/>
              </a:solidFill>
              <a:latin typeface="+mj-lt"/>
            </a:endParaRPr>
          </a:p>
          <a:p>
            <a:pPr>
              <a:lnSpc>
                <a:spcPct val="90000"/>
              </a:lnSpc>
              <a:spcBef>
                <a:spcPts val="1000"/>
              </a:spcBef>
            </a:pPr>
            <a:r>
              <a:rPr lang="en-US" b="1" dirty="0">
                <a:latin typeface="+mj-lt"/>
              </a:rPr>
              <a:t>2 - Moving Average Smoothing</a:t>
            </a:r>
            <a:endParaRPr lang="en-US" b="1" dirty="0">
              <a:latin typeface="+mj-lt"/>
            </a:endParaRPr>
          </a:p>
        </p:txBody>
      </p:sp>
      <p:pic>
        <p:nvPicPr>
          <p:cNvPr id="5" name="Picture 4"/>
          <p:cNvPicPr>
            <a:picLocks noChangeAspect="1"/>
          </p:cNvPicPr>
          <p:nvPr/>
        </p:nvPicPr>
        <p:blipFill>
          <a:blip r:embed="rId1"/>
          <a:stretch>
            <a:fillRect/>
          </a:stretch>
        </p:blipFill>
        <p:spPr>
          <a:xfrm>
            <a:off x="1189482" y="1714669"/>
            <a:ext cx="8759190" cy="3432656"/>
          </a:xfrm>
          <a:prstGeom prst="rect">
            <a:avLst/>
          </a:prstGeom>
        </p:spPr>
      </p:pic>
      <p:pic>
        <p:nvPicPr>
          <p:cNvPr id="7" name="Picture 6"/>
          <p:cNvPicPr>
            <a:picLocks noChangeAspect="1"/>
          </p:cNvPicPr>
          <p:nvPr/>
        </p:nvPicPr>
        <p:blipFill>
          <a:blip r:embed="rId2"/>
          <a:stretch>
            <a:fillRect/>
          </a:stretch>
        </p:blipFill>
        <p:spPr>
          <a:xfrm>
            <a:off x="1189482" y="5456430"/>
            <a:ext cx="3305175" cy="4191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2"/>
          </p:nvPr>
        </p:nvSpPr>
        <p:spPr>
          <a:xfrm>
            <a:off x="380999" y="6356350"/>
            <a:ext cx="3801701" cy="365125"/>
          </a:xfrm>
        </p:spPr>
        <p:txBody>
          <a:bodyPr/>
          <a:lstStyle/>
          <a:p>
            <a:r>
              <a:rPr lang="en-US" dirty="0"/>
              <a:t>Specialized Models: Time Series and Survival Analysis</a:t>
            </a:r>
            <a:endParaRPr lang="en-US" dirty="0"/>
          </a:p>
        </p:txBody>
      </p:sp>
      <p:sp>
        <p:nvSpPr>
          <p:cNvPr id="8" name="Slide Number Placeholder 7"/>
          <p:cNvSpPr>
            <a:spLocks noGrp="1"/>
          </p:cNvSpPr>
          <p:nvPr>
            <p:ph type="sldNum" sz="quarter" idx="4"/>
          </p:nvPr>
        </p:nvSpPr>
        <p:spPr/>
        <p:txBody>
          <a:bodyPr/>
          <a:lstStyle/>
          <a:p>
            <a:fld id="{294A09A9-5501-47C1-A89A-A340965A2BE2}" type="slidenum">
              <a:rPr lang="en-US" sz="1800"/>
            </a:fld>
            <a:endParaRPr lang="en-US" sz="1800" dirty="0"/>
          </a:p>
        </p:txBody>
      </p:sp>
      <p:sp>
        <p:nvSpPr>
          <p:cNvPr id="15" name="TextBox 14"/>
          <p:cNvSpPr txBox="1"/>
          <p:nvPr/>
        </p:nvSpPr>
        <p:spPr>
          <a:xfrm>
            <a:off x="443497" y="68569"/>
            <a:ext cx="7762365" cy="757130"/>
          </a:xfrm>
          <a:prstGeom prst="rect">
            <a:avLst/>
          </a:prstGeom>
          <a:noFill/>
        </p:spPr>
        <p:txBody>
          <a:bodyPr wrap="square">
            <a:spAutoFit/>
          </a:bodyPr>
          <a:lstStyle/>
          <a:p>
            <a:pPr>
              <a:lnSpc>
                <a:spcPct val="90000"/>
              </a:lnSpc>
              <a:spcBef>
                <a:spcPct val="0"/>
              </a:spcBef>
            </a:pPr>
            <a:r>
              <a:rPr lang="en-US" sz="4800" b="1" dirty="0">
                <a:latin typeface="+mj-lt"/>
                <a:ea typeface="+mj-ea"/>
                <a:cs typeface="+mj-cs"/>
              </a:rPr>
              <a:t>Feature Engineering</a:t>
            </a:r>
            <a:endParaRPr lang="en-US" sz="4800" b="1" dirty="0">
              <a:latin typeface="+mj-lt"/>
              <a:ea typeface="+mj-ea"/>
              <a:cs typeface="+mj-cs"/>
            </a:endParaRPr>
          </a:p>
        </p:txBody>
      </p:sp>
      <p:sp>
        <p:nvSpPr>
          <p:cNvPr id="9" name="TextBox 8"/>
          <p:cNvSpPr txBox="1"/>
          <p:nvPr/>
        </p:nvSpPr>
        <p:spPr>
          <a:xfrm>
            <a:off x="906203" y="940098"/>
            <a:ext cx="8477237" cy="774571"/>
          </a:xfrm>
          <a:prstGeom prst="rect">
            <a:avLst/>
          </a:prstGeom>
          <a:noFill/>
        </p:spPr>
        <p:txBody>
          <a:bodyPr wrap="square">
            <a:spAutoFit/>
          </a:bodyPr>
          <a:lstStyle/>
          <a:p>
            <a:pPr>
              <a:lnSpc>
                <a:spcPct val="90000"/>
              </a:lnSpc>
              <a:spcBef>
                <a:spcPts val="1000"/>
              </a:spcBef>
            </a:pPr>
            <a:r>
              <a:rPr lang="en-US" sz="2000" b="1" dirty="0">
                <a:solidFill>
                  <a:srgbClr val="48A1FA"/>
                </a:solidFill>
                <a:latin typeface="+mj-lt"/>
              </a:rPr>
              <a:t>Smoothing Time Series </a:t>
            </a:r>
            <a:endParaRPr lang="en-US" sz="2000" b="1" dirty="0">
              <a:solidFill>
                <a:srgbClr val="48A1FA"/>
              </a:solidFill>
              <a:latin typeface="+mj-lt"/>
            </a:endParaRPr>
          </a:p>
          <a:p>
            <a:pPr>
              <a:lnSpc>
                <a:spcPct val="90000"/>
              </a:lnSpc>
              <a:spcBef>
                <a:spcPts val="1000"/>
              </a:spcBef>
            </a:pPr>
            <a:r>
              <a:rPr lang="en-US" b="1" dirty="0">
                <a:latin typeface="+mj-lt"/>
              </a:rPr>
              <a:t>3 - Exponential Smoothing</a:t>
            </a:r>
            <a:endParaRPr lang="en-US" b="1" dirty="0">
              <a:latin typeface="+mj-lt"/>
            </a:endParaRPr>
          </a:p>
        </p:txBody>
      </p:sp>
      <p:pic>
        <p:nvPicPr>
          <p:cNvPr id="4" name="Picture 3"/>
          <p:cNvPicPr>
            <a:picLocks noChangeAspect="1"/>
          </p:cNvPicPr>
          <p:nvPr/>
        </p:nvPicPr>
        <p:blipFill>
          <a:blip r:embed="rId1"/>
          <a:stretch>
            <a:fillRect/>
          </a:stretch>
        </p:blipFill>
        <p:spPr>
          <a:xfrm>
            <a:off x="997643" y="1714669"/>
            <a:ext cx="9886950" cy="3819525"/>
          </a:xfrm>
          <a:prstGeom prst="rect">
            <a:avLst/>
          </a:prstGeom>
        </p:spPr>
      </p:pic>
      <p:pic>
        <p:nvPicPr>
          <p:cNvPr id="10" name="Picture 9"/>
          <p:cNvPicPr>
            <a:picLocks noChangeAspect="1"/>
          </p:cNvPicPr>
          <p:nvPr/>
        </p:nvPicPr>
        <p:blipFill>
          <a:blip r:embed="rId2"/>
          <a:stretch>
            <a:fillRect/>
          </a:stretch>
        </p:blipFill>
        <p:spPr>
          <a:xfrm>
            <a:off x="997643" y="5809951"/>
            <a:ext cx="3345757" cy="46627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9961" y="1791018"/>
            <a:ext cx="8412079" cy="2810460"/>
          </a:xfrm>
        </p:spPr>
        <p:txBody>
          <a:bodyPr>
            <a:normAutofit/>
          </a:bodyPr>
          <a:lstStyle/>
          <a:p>
            <a:r>
              <a:rPr lang="en-US" sz="4800" dirty="0"/>
              <a:t>Time series Forecasting &amp; ML/DL Analysis and Findings </a:t>
            </a:r>
            <a:endParaRPr lang="en-US" sz="4800" dirty="0"/>
          </a:p>
        </p:txBody>
      </p:sp>
      <p:sp>
        <p:nvSpPr>
          <p:cNvPr id="3" name="Date Placeholder 2"/>
          <p:cNvSpPr>
            <a:spLocks noGrp="1"/>
          </p:cNvSpPr>
          <p:nvPr>
            <p:ph type="dt" sz="half" idx="10"/>
          </p:nvPr>
        </p:nvSpPr>
        <p:spPr>
          <a:xfrm>
            <a:off x="381000" y="6356350"/>
            <a:ext cx="4326802" cy="365125"/>
          </a:xfrm>
        </p:spPr>
        <p:txBody>
          <a:bodyPr/>
          <a:lstStyle/>
          <a:p>
            <a:r>
              <a:rPr lang="en-US" dirty="0"/>
              <a:t>Specialized Models: Time Series and Survival Analysis</a:t>
            </a:r>
            <a:endParaRPr lang="en-US" dirty="0"/>
          </a:p>
        </p:txBody>
      </p:sp>
      <p:sp>
        <p:nvSpPr>
          <p:cNvPr id="5" name="Slide Number Placeholder 4"/>
          <p:cNvSpPr>
            <a:spLocks noGrp="1"/>
          </p:cNvSpPr>
          <p:nvPr>
            <p:ph type="sldNum" sz="quarter" idx="12"/>
          </p:nvPr>
        </p:nvSpPr>
        <p:spPr/>
        <p:txBody>
          <a:bodyPr/>
          <a:lstStyle/>
          <a:p>
            <a:fld id="{294A09A9-5501-47C1-A89A-A340965A2BE2}" type="slidenum">
              <a:rPr lang="en-US" sz="1800"/>
            </a:fld>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565" y="283644"/>
            <a:ext cx="9779183" cy="1325563"/>
          </a:xfrm>
        </p:spPr>
        <p:txBody>
          <a:bodyPr/>
          <a:lstStyle/>
          <a:p>
            <a:r>
              <a:rPr lang="en-US" sz="4400" dirty="0"/>
              <a:t>Machine Learning Analysis &amp; Findings</a:t>
            </a:r>
            <a:endParaRPr lang="en-US" sz="4400" dirty="0"/>
          </a:p>
        </p:txBody>
      </p:sp>
      <p:sp>
        <p:nvSpPr>
          <p:cNvPr id="3" name="Content Placeholder 2"/>
          <p:cNvSpPr>
            <a:spLocks noGrp="1"/>
          </p:cNvSpPr>
          <p:nvPr>
            <p:ph type="body" idx="1"/>
          </p:nvPr>
        </p:nvSpPr>
        <p:spPr>
          <a:xfrm>
            <a:off x="380999" y="2601892"/>
            <a:ext cx="11430001" cy="3436483"/>
          </a:xfrm>
        </p:spPr>
        <p:txBody>
          <a:bodyPr vert="horz" lIns="91440" tIns="45720" rIns="91440" bIns="45720" rtlCol="0" anchor="t">
            <a:normAutofit/>
          </a:bodyPr>
          <a:lstStyle/>
          <a:p>
            <a:pPr algn="just"/>
            <a:r>
              <a:rPr lang="en-US" dirty="0"/>
              <a:t>In the following slides we will test different forecasting techniques to predict the time series starting from smoothing, ML techniques and ending with deep learning.</a:t>
            </a:r>
            <a:endParaRPr lang="en-US" dirty="0"/>
          </a:p>
          <a:p>
            <a:pPr algn="just"/>
            <a:r>
              <a:rPr lang="en-US" dirty="0"/>
              <a:t>Then we will choose the best technique to be adopted as forecasting model for our light weight vehicles sales dataset. </a:t>
            </a:r>
            <a:endParaRPr lang="en-US" dirty="0"/>
          </a:p>
        </p:txBody>
      </p:sp>
      <p:sp>
        <p:nvSpPr>
          <p:cNvPr id="4" name="Date Placeholder 3"/>
          <p:cNvSpPr>
            <a:spLocks noGrp="1"/>
          </p:cNvSpPr>
          <p:nvPr>
            <p:ph type="dt" sz="half" idx="10"/>
          </p:nvPr>
        </p:nvSpPr>
        <p:spPr>
          <a:xfrm>
            <a:off x="380999" y="6356350"/>
            <a:ext cx="4082359" cy="365125"/>
          </a:xfrm>
        </p:spPr>
        <p:txBody>
          <a:bodyPr/>
          <a:lstStyle/>
          <a:p>
            <a:r>
              <a:rPr lang="en-US" dirty="0"/>
              <a:t>Specialized Models: Time Series and Survival Analysis</a:t>
            </a:r>
            <a:endParaRPr lang="en-US" dirty="0"/>
          </a:p>
        </p:txBody>
      </p:sp>
      <p:sp>
        <p:nvSpPr>
          <p:cNvPr id="6" name="Slide Number Placeholder 5"/>
          <p:cNvSpPr>
            <a:spLocks noGrp="1"/>
          </p:cNvSpPr>
          <p:nvPr>
            <p:ph type="sldNum" sz="quarter" idx="12"/>
          </p:nvPr>
        </p:nvSpPr>
        <p:spPr/>
        <p:txBody>
          <a:bodyPr/>
          <a:lstStyle/>
          <a:p>
            <a:fld id="{294A09A9-5501-47C1-A89A-A340965A2BE2}" type="slidenum">
              <a:rPr lang="en-US" sz="1800" smtClean="0"/>
            </a:fld>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6203" y="210142"/>
            <a:ext cx="9779183" cy="753679"/>
          </a:xfrm>
        </p:spPr>
        <p:txBody>
          <a:bodyPr/>
          <a:lstStyle/>
          <a:p>
            <a:r>
              <a:rPr lang="en-US" sz="2800" dirty="0"/>
              <a:t>Time series Forecasting &amp; ML/DL Analysis and Findings </a:t>
            </a:r>
            <a:endParaRPr lang="en-US" sz="1050" dirty="0">
              <a:solidFill>
                <a:srgbClr val="006C31"/>
              </a:solidFill>
              <a:ea typeface="+mn-ea"/>
              <a:cs typeface="+mn-cs"/>
            </a:endParaRPr>
          </a:p>
        </p:txBody>
      </p:sp>
      <p:sp>
        <p:nvSpPr>
          <p:cNvPr id="7" name="Date Placeholder 6"/>
          <p:cNvSpPr>
            <a:spLocks noGrp="1"/>
          </p:cNvSpPr>
          <p:nvPr>
            <p:ph type="dt" sz="half" idx="2"/>
          </p:nvPr>
        </p:nvSpPr>
        <p:spPr>
          <a:xfrm>
            <a:off x="380999" y="6356350"/>
            <a:ext cx="4057216" cy="365125"/>
          </a:xfrm>
        </p:spPr>
        <p:txBody>
          <a:bodyPr/>
          <a:lstStyle/>
          <a:p>
            <a:r>
              <a:rPr lang="en-US" dirty="0"/>
              <a:t>Specialized Models: Time Series and Survival Analysis</a:t>
            </a:r>
            <a:endParaRPr lang="en-US" dirty="0"/>
          </a:p>
        </p:txBody>
      </p:sp>
      <p:sp>
        <p:nvSpPr>
          <p:cNvPr id="9" name="Slide Number Placeholder 8"/>
          <p:cNvSpPr>
            <a:spLocks noGrp="1"/>
          </p:cNvSpPr>
          <p:nvPr>
            <p:ph type="sldNum" sz="quarter" idx="4"/>
          </p:nvPr>
        </p:nvSpPr>
        <p:spPr/>
        <p:txBody>
          <a:bodyPr/>
          <a:lstStyle/>
          <a:p>
            <a:fld id="{294A09A9-5501-47C1-A89A-A340965A2BE2}" type="slidenum">
              <a:rPr lang="en-US" sz="1800"/>
            </a:fld>
            <a:endParaRPr lang="en-US" sz="1800" dirty="0"/>
          </a:p>
        </p:txBody>
      </p:sp>
      <p:sp>
        <p:nvSpPr>
          <p:cNvPr id="20" name="TextBox 19"/>
          <p:cNvSpPr txBox="1"/>
          <p:nvPr/>
        </p:nvSpPr>
        <p:spPr>
          <a:xfrm>
            <a:off x="6772275" y="1219200"/>
            <a:ext cx="245580" cy="369332"/>
          </a:xfrm>
          <a:prstGeom prst="rect">
            <a:avLst/>
          </a:prstGeom>
          <a:noFill/>
        </p:spPr>
        <p:txBody>
          <a:bodyPr wrap="none" rtlCol="0">
            <a:spAutoFit/>
          </a:bodyPr>
          <a:lstStyle/>
          <a:p>
            <a:r>
              <a:rPr lang="en-US" dirty="0"/>
              <a:t> </a:t>
            </a:r>
            <a:endParaRPr lang="en-US" dirty="0"/>
          </a:p>
        </p:txBody>
      </p:sp>
      <p:sp>
        <p:nvSpPr>
          <p:cNvPr id="10" name="TextBox 9"/>
          <p:cNvSpPr txBox="1"/>
          <p:nvPr/>
        </p:nvSpPr>
        <p:spPr>
          <a:xfrm>
            <a:off x="906203" y="1350594"/>
            <a:ext cx="7512761" cy="341632"/>
          </a:xfrm>
          <a:prstGeom prst="rect">
            <a:avLst/>
          </a:prstGeom>
          <a:noFill/>
        </p:spPr>
        <p:txBody>
          <a:bodyPr wrap="square">
            <a:spAutoFit/>
          </a:bodyPr>
          <a:lstStyle/>
          <a:p>
            <a:pPr>
              <a:lnSpc>
                <a:spcPct val="90000"/>
              </a:lnSpc>
              <a:spcBef>
                <a:spcPts val="1000"/>
              </a:spcBef>
            </a:pPr>
            <a:r>
              <a:rPr lang="en-US" b="1" dirty="0">
                <a:latin typeface="+mj-lt"/>
              </a:rPr>
              <a:t>Splitting the data into train and test sets.</a:t>
            </a:r>
            <a:endParaRPr lang="en-US" b="1" dirty="0">
              <a:latin typeface="+mj-lt"/>
            </a:endParaRPr>
          </a:p>
        </p:txBody>
      </p:sp>
      <p:sp>
        <p:nvSpPr>
          <p:cNvPr id="108" name="TextBox 107"/>
          <p:cNvSpPr txBox="1"/>
          <p:nvPr/>
        </p:nvSpPr>
        <p:spPr>
          <a:xfrm>
            <a:off x="906203" y="940098"/>
            <a:ext cx="8477237" cy="369332"/>
          </a:xfrm>
          <a:prstGeom prst="rect">
            <a:avLst/>
          </a:prstGeom>
          <a:noFill/>
        </p:spPr>
        <p:txBody>
          <a:bodyPr wrap="square">
            <a:spAutoFit/>
          </a:bodyPr>
          <a:lstStyle/>
          <a:p>
            <a:pPr>
              <a:lnSpc>
                <a:spcPct val="90000"/>
              </a:lnSpc>
              <a:spcBef>
                <a:spcPts val="1000"/>
              </a:spcBef>
            </a:pPr>
            <a:r>
              <a:rPr lang="en-US" sz="2000" b="1" dirty="0">
                <a:solidFill>
                  <a:srgbClr val="48A1FA"/>
                </a:solidFill>
                <a:latin typeface="+mj-lt"/>
              </a:rPr>
              <a:t>1- Forecasting using Smoothing</a:t>
            </a:r>
            <a:endParaRPr lang="en-US" sz="2000" b="1" dirty="0">
              <a:solidFill>
                <a:srgbClr val="48A1FA"/>
              </a:solidFill>
              <a:latin typeface="+mj-lt"/>
            </a:endParaRPr>
          </a:p>
        </p:txBody>
      </p:sp>
      <p:sp>
        <p:nvSpPr>
          <p:cNvPr id="6" name="TextBox 5"/>
          <p:cNvSpPr txBox="1"/>
          <p:nvPr/>
        </p:nvSpPr>
        <p:spPr>
          <a:xfrm>
            <a:off x="1033272" y="4375824"/>
            <a:ext cx="3291029" cy="646331"/>
          </a:xfrm>
          <a:prstGeom prst="rect">
            <a:avLst/>
          </a:prstGeom>
          <a:noFill/>
        </p:spPr>
        <p:txBody>
          <a:bodyPr wrap="none" rtlCol="0">
            <a:spAutoFit/>
          </a:bodyPr>
          <a:lstStyle/>
          <a:p>
            <a:r>
              <a:rPr lang="en-US" dirty="0"/>
              <a:t>Training set : 502 observations.</a:t>
            </a:r>
            <a:endParaRPr lang="en-US" dirty="0"/>
          </a:p>
          <a:p>
            <a:r>
              <a:rPr lang="en-US" dirty="0"/>
              <a:t>Testing set : 50 observations.</a:t>
            </a:r>
            <a:endParaRPr lang="en-US" dirty="0"/>
          </a:p>
        </p:txBody>
      </p:sp>
      <p:pic>
        <p:nvPicPr>
          <p:cNvPr id="16" name="Picture 15"/>
          <p:cNvPicPr>
            <a:picLocks noChangeAspect="1"/>
          </p:cNvPicPr>
          <p:nvPr/>
        </p:nvPicPr>
        <p:blipFill>
          <a:blip r:embed="rId1"/>
          <a:stretch>
            <a:fillRect/>
          </a:stretch>
        </p:blipFill>
        <p:spPr>
          <a:xfrm>
            <a:off x="1033272" y="2032472"/>
            <a:ext cx="9059590" cy="194347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280" y="145255"/>
            <a:ext cx="9779183" cy="753679"/>
          </a:xfrm>
        </p:spPr>
        <p:txBody>
          <a:bodyPr/>
          <a:lstStyle/>
          <a:p>
            <a:r>
              <a:rPr lang="en-US" sz="2800" dirty="0"/>
              <a:t>Time series Forecasting &amp; ML/DL Analysis and Findings </a:t>
            </a:r>
            <a:endParaRPr lang="en-US" sz="1050" dirty="0">
              <a:solidFill>
                <a:srgbClr val="006C31"/>
              </a:solidFill>
              <a:ea typeface="+mn-ea"/>
              <a:cs typeface="+mn-cs"/>
            </a:endParaRPr>
          </a:p>
        </p:txBody>
      </p:sp>
      <p:sp>
        <p:nvSpPr>
          <p:cNvPr id="7" name="Date Placeholder 6"/>
          <p:cNvSpPr>
            <a:spLocks noGrp="1"/>
          </p:cNvSpPr>
          <p:nvPr>
            <p:ph type="dt" sz="half" idx="2"/>
          </p:nvPr>
        </p:nvSpPr>
        <p:spPr>
          <a:xfrm>
            <a:off x="380999" y="6356350"/>
            <a:ext cx="4057216" cy="365125"/>
          </a:xfrm>
        </p:spPr>
        <p:txBody>
          <a:bodyPr/>
          <a:lstStyle/>
          <a:p>
            <a:r>
              <a:rPr lang="en-US" dirty="0"/>
              <a:t>Specialized Models: Time Series and Survival Analysis</a:t>
            </a:r>
            <a:endParaRPr lang="en-US" dirty="0"/>
          </a:p>
        </p:txBody>
      </p:sp>
      <p:sp>
        <p:nvSpPr>
          <p:cNvPr id="9" name="Slide Number Placeholder 8"/>
          <p:cNvSpPr>
            <a:spLocks noGrp="1"/>
          </p:cNvSpPr>
          <p:nvPr>
            <p:ph type="sldNum" sz="quarter" idx="4"/>
          </p:nvPr>
        </p:nvSpPr>
        <p:spPr/>
        <p:txBody>
          <a:bodyPr/>
          <a:lstStyle/>
          <a:p>
            <a:fld id="{294A09A9-5501-47C1-A89A-A340965A2BE2}" type="slidenum">
              <a:rPr lang="en-US" sz="1800"/>
            </a:fld>
            <a:endParaRPr lang="en-US" sz="1800" dirty="0"/>
          </a:p>
        </p:txBody>
      </p:sp>
      <p:sp>
        <p:nvSpPr>
          <p:cNvPr id="20" name="TextBox 19"/>
          <p:cNvSpPr txBox="1"/>
          <p:nvPr/>
        </p:nvSpPr>
        <p:spPr>
          <a:xfrm>
            <a:off x="6772275" y="1219200"/>
            <a:ext cx="245580" cy="369332"/>
          </a:xfrm>
          <a:prstGeom prst="rect">
            <a:avLst/>
          </a:prstGeom>
          <a:noFill/>
        </p:spPr>
        <p:txBody>
          <a:bodyPr wrap="none" rtlCol="0">
            <a:spAutoFit/>
          </a:bodyPr>
          <a:lstStyle/>
          <a:p>
            <a:r>
              <a:rPr lang="en-US" dirty="0"/>
              <a:t> </a:t>
            </a:r>
            <a:endParaRPr lang="en-US" dirty="0"/>
          </a:p>
        </p:txBody>
      </p:sp>
      <p:sp>
        <p:nvSpPr>
          <p:cNvPr id="10" name="TextBox 9"/>
          <p:cNvSpPr txBox="1"/>
          <p:nvPr/>
        </p:nvSpPr>
        <p:spPr>
          <a:xfrm>
            <a:off x="906203" y="1350594"/>
            <a:ext cx="7512761" cy="341632"/>
          </a:xfrm>
          <a:prstGeom prst="rect">
            <a:avLst/>
          </a:prstGeom>
          <a:noFill/>
        </p:spPr>
        <p:txBody>
          <a:bodyPr wrap="square">
            <a:spAutoFit/>
          </a:bodyPr>
          <a:lstStyle/>
          <a:p>
            <a:pPr>
              <a:lnSpc>
                <a:spcPct val="90000"/>
              </a:lnSpc>
              <a:spcBef>
                <a:spcPts val="1000"/>
              </a:spcBef>
            </a:pPr>
            <a:r>
              <a:rPr lang="en-US" b="1" dirty="0">
                <a:latin typeface="+mj-lt"/>
              </a:rPr>
              <a:t>1.1 Forecasting by Simple Average </a:t>
            </a:r>
            <a:endParaRPr lang="en-US" b="1" dirty="0">
              <a:latin typeface="+mj-lt"/>
            </a:endParaRPr>
          </a:p>
        </p:txBody>
      </p:sp>
      <p:sp>
        <p:nvSpPr>
          <p:cNvPr id="108" name="TextBox 107"/>
          <p:cNvSpPr txBox="1"/>
          <p:nvPr/>
        </p:nvSpPr>
        <p:spPr>
          <a:xfrm>
            <a:off x="906203" y="940098"/>
            <a:ext cx="8477237" cy="369332"/>
          </a:xfrm>
          <a:prstGeom prst="rect">
            <a:avLst/>
          </a:prstGeom>
          <a:noFill/>
        </p:spPr>
        <p:txBody>
          <a:bodyPr wrap="square">
            <a:spAutoFit/>
          </a:bodyPr>
          <a:lstStyle/>
          <a:p>
            <a:pPr>
              <a:lnSpc>
                <a:spcPct val="90000"/>
              </a:lnSpc>
              <a:spcBef>
                <a:spcPts val="1000"/>
              </a:spcBef>
            </a:pPr>
            <a:r>
              <a:rPr lang="en-US" sz="2000" b="1" dirty="0">
                <a:solidFill>
                  <a:srgbClr val="48A1FA"/>
                </a:solidFill>
                <a:latin typeface="+mj-lt"/>
              </a:rPr>
              <a:t>1- Forecasting using Smoothing</a:t>
            </a:r>
            <a:endParaRPr lang="en-US" sz="2000" b="1" dirty="0">
              <a:solidFill>
                <a:srgbClr val="48A1FA"/>
              </a:solidFill>
              <a:latin typeface="+mj-lt"/>
            </a:endParaRPr>
          </a:p>
        </p:txBody>
      </p:sp>
      <p:pic>
        <p:nvPicPr>
          <p:cNvPr id="11" name="Picture 10"/>
          <p:cNvPicPr>
            <a:picLocks noChangeAspect="1"/>
          </p:cNvPicPr>
          <p:nvPr/>
        </p:nvPicPr>
        <p:blipFill>
          <a:blip r:embed="rId1"/>
          <a:stretch>
            <a:fillRect/>
          </a:stretch>
        </p:blipFill>
        <p:spPr>
          <a:xfrm>
            <a:off x="9168772" y="1588532"/>
            <a:ext cx="2209800" cy="3552825"/>
          </a:xfrm>
          <a:prstGeom prst="rect">
            <a:avLst/>
          </a:prstGeom>
        </p:spPr>
      </p:pic>
      <p:pic>
        <p:nvPicPr>
          <p:cNvPr id="15" name="Picture 14"/>
          <p:cNvPicPr>
            <a:picLocks noChangeAspect="1"/>
          </p:cNvPicPr>
          <p:nvPr/>
        </p:nvPicPr>
        <p:blipFill>
          <a:blip r:embed="rId2"/>
          <a:stretch>
            <a:fillRect/>
          </a:stretch>
        </p:blipFill>
        <p:spPr>
          <a:xfrm>
            <a:off x="866280" y="1733390"/>
            <a:ext cx="7692065" cy="2514191"/>
          </a:xfrm>
          <a:prstGeom prst="rect">
            <a:avLst/>
          </a:prstGeom>
        </p:spPr>
      </p:pic>
      <p:sp>
        <p:nvSpPr>
          <p:cNvPr id="16" name="TextBox 15"/>
          <p:cNvSpPr txBox="1"/>
          <p:nvPr/>
        </p:nvSpPr>
        <p:spPr>
          <a:xfrm>
            <a:off x="1005840" y="4389120"/>
            <a:ext cx="7910114" cy="923330"/>
          </a:xfrm>
          <a:prstGeom prst="rect">
            <a:avLst/>
          </a:prstGeom>
          <a:noFill/>
        </p:spPr>
        <p:txBody>
          <a:bodyPr wrap="none" rtlCol="0">
            <a:spAutoFit/>
          </a:bodyPr>
          <a:lstStyle/>
          <a:p>
            <a:r>
              <a:rPr lang="en-US" dirty="0"/>
              <a:t>Obviously, we can see a high error between the predictions and actual values.</a:t>
            </a:r>
            <a:endParaRPr lang="en-US" dirty="0"/>
          </a:p>
          <a:p>
            <a:endParaRPr lang="en-US" dirty="0"/>
          </a:p>
          <a:p>
            <a:r>
              <a:rPr lang="en-US" dirty="0"/>
              <a:t>Mean Square Error : 2533501 ! </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9168771" y="1588531"/>
            <a:ext cx="2209799" cy="3552825"/>
          </a:xfrm>
          <a:prstGeom prst="rect">
            <a:avLst/>
          </a:prstGeom>
        </p:spPr>
      </p:pic>
      <p:sp>
        <p:nvSpPr>
          <p:cNvPr id="7" name="Date Placeholder 6"/>
          <p:cNvSpPr>
            <a:spLocks noGrp="1"/>
          </p:cNvSpPr>
          <p:nvPr>
            <p:ph type="dt" sz="half" idx="2"/>
          </p:nvPr>
        </p:nvSpPr>
        <p:spPr>
          <a:xfrm>
            <a:off x="380999" y="6356350"/>
            <a:ext cx="4057216" cy="365125"/>
          </a:xfrm>
        </p:spPr>
        <p:txBody>
          <a:bodyPr/>
          <a:lstStyle/>
          <a:p>
            <a:r>
              <a:rPr lang="en-US" dirty="0"/>
              <a:t>Specialized Models: Time Series and Survival Analysis</a:t>
            </a:r>
            <a:endParaRPr lang="en-US" dirty="0"/>
          </a:p>
        </p:txBody>
      </p:sp>
      <p:sp>
        <p:nvSpPr>
          <p:cNvPr id="9" name="Slide Number Placeholder 8"/>
          <p:cNvSpPr>
            <a:spLocks noGrp="1"/>
          </p:cNvSpPr>
          <p:nvPr>
            <p:ph type="sldNum" sz="quarter" idx="4"/>
          </p:nvPr>
        </p:nvSpPr>
        <p:spPr/>
        <p:txBody>
          <a:bodyPr/>
          <a:lstStyle/>
          <a:p>
            <a:fld id="{294A09A9-5501-47C1-A89A-A340965A2BE2}" type="slidenum">
              <a:rPr lang="en-US" sz="1800"/>
            </a:fld>
            <a:endParaRPr lang="en-US" sz="1800" dirty="0"/>
          </a:p>
        </p:txBody>
      </p:sp>
      <p:sp>
        <p:nvSpPr>
          <p:cNvPr id="20" name="TextBox 19"/>
          <p:cNvSpPr txBox="1"/>
          <p:nvPr/>
        </p:nvSpPr>
        <p:spPr>
          <a:xfrm>
            <a:off x="6772275" y="1219200"/>
            <a:ext cx="245580" cy="369332"/>
          </a:xfrm>
          <a:prstGeom prst="rect">
            <a:avLst/>
          </a:prstGeom>
          <a:noFill/>
        </p:spPr>
        <p:txBody>
          <a:bodyPr wrap="none" rtlCol="0">
            <a:spAutoFit/>
          </a:bodyPr>
          <a:lstStyle/>
          <a:p>
            <a:r>
              <a:rPr lang="en-US" dirty="0"/>
              <a:t> </a:t>
            </a:r>
            <a:endParaRPr lang="en-US" dirty="0"/>
          </a:p>
        </p:txBody>
      </p:sp>
      <p:sp>
        <p:nvSpPr>
          <p:cNvPr id="10" name="TextBox 9"/>
          <p:cNvSpPr txBox="1"/>
          <p:nvPr/>
        </p:nvSpPr>
        <p:spPr>
          <a:xfrm>
            <a:off x="906203" y="1350594"/>
            <a:ext cx="7512761" cy="341632"/>
          </a:xfrm>
          <a:prstGeom prst="rect">
            <a:avLst/>
          </a:prstGeom>
          <a:noFill/>
        </p:spPr>
        <p:txBody>
          <a:bodyPr wrap="square">
            <a:spAutoFit/>
          </a:bodyPr>
          <a:lstStyle/>
          <a:p>
            <a:pPr>
              <a:lnSpc>
                <a:spcPct val="90000"/>
              </a:lnSpc>
              <a:spcBef>
                <a:spcPts val="1000"/>
              </a:spcBef>
            </a:pPr>
            <a:r>
              <a:rPr lang="en-US" b="1" dirty="0">
                <a:latin typeface="+mj-lt"/>
              </a:rPr>
              <a:t>1.2 Forecasting by Single Exponential</a:t>
            </a:r>
            <a:endParaRPr lang="en-US" b="1" dirty="0">
              <a:latin typeface="+mj-lt"/>
            </a:endParaRPr>
          </a:p>
        </p:txBody>
      </p:sp>
      <p:sp>
        <p:nvSpPr>
          <p:cNvPr id="108" name="TextBox 107"/>
          <p:cNvSpPr txBox="1"/>
          <p:nvPr/>
        </p:nvSpPr>
        <p:spPr>
          <a:xfrm>
            <a:off x="906203" y="940098"/>
            <a:ext cx="8477237" cy="369332"/>
          </a:xfrm>
          <a:prstGeom prst="rect">
            <a:avLst/>
          </a:prstGeom>
          <a:noFill/>
        </p:spPr>
        <p:txBody>
          <a:bodyPr wrap="square">
            <a:spAutoFit/>
          </a:bodyPr>
          <a:lstStyle/>
          <a:p>
            <a:pPr>
              <a:lnSpc>
                <a:spcPct val="90000"/>
              </a:lnSpc>
              <a:spcBef>
                <a:spcPts val="1000"/>
              </a:spcBef>
            </a:pPr>
            <a:r>
              <a:rPr lang="en-US" sz="2000" b="1" dirty="0">
                <a:solidFill>
                  <a:srgbClr val="48A1FA"/>
                </a:solidFill>
                <a:latin typeface="+mj-lt"/>
              </a:rPr>
              <a:t>1- Forecasting using Smoothing</a:t>
            </a:r>
            <a:endParaRPr lang="en-US" sz="2000" b="1" dirty="0">
              <a:solidFill>
                <a:srgbClr val="48A1FA"/>
              </a:solidFill>
              <a:latin typeface="+mj-lt"/>
            </a:endParaRPr>
          </a:p>
        </p:txBody>
      </p:sp>
      <p:sp>
        <p:nvSpPr>
          <p:cNvPr id="16" name="TextBox 15"/>
          <p:cNvSpPr txBox="1"/>
          <p:nvPr/>
        </p:nvSpPr>
        <p:spPr>
          <a:xfrm>
            <a:off x="1005840" y="4389120"/>
            <a:ext cx="7988982" cy="1200329"/>
          </a:xfrm>
          <a:prstGeom prst="rect">
            <a:avLst/>
          </a:prstGeom>
          <a:noFill/>
        </p:spPr>
        <p:txBody>
          <a:bodyPr wrap="none" rtlCol="0">
            <a:spAutoFit/>
          </a:bodyPr>
          <a:lstStyle/>
          <a:p>
            <a:r>
              <a:rPr lang="en-US" dirty="0"/>
              <a:t>The results enhanced a little bit, but as the same time, we can see a high error</a:t>
            </a:r>
            <a:endParaRPr lang="en-US" dirty="0"/>
          </a:p>
          <a:p>
            <a:r>
              <a:rPr lang="en-US" dirty="0"/>
              <a:t> relatively between the predictions and actual values.</a:t>
            </a:r>
            <a:endParaRPr lang="en-US" dirty="0"/>
          </a:p>
          <a:p>
            <a:endParaRPr lang="en-US" dirty="0"/>
          </a:p>
          <a:p>
            <a:r>
              <a:rPr lang="en-US" dirty="0"/>
              <a:t>Mean Square Error : 2235283 ! </a:t>
            </a:r>
            <a:endParaRPr lang="en-US" dirty="0"/>
          </a:p>
        </p:txBody>
      </p:sp>
      <p:pic>
        <p:nvPicPr>
          <p:cNvPr id="6" name="Picture 5"/>
          <p:cNvPicPr>
            <a:picLocks noChangeAspect="1"/>
          </p:cNvPicPr>
          <p:nvPr/>
        </p:nvPicPr>
        <p:blipFill>
          <a:blip r:embed="rId2"/>
          <a:stretch>
            <a:fillRect/>
          </a:stretch>
        </p:blipFill>
        <p:spPr>
          <a:xfrm>
            <a:off x="800290" y="1762338"/>
            <a:ext cx="8116542" cy="2626782"/>
          </a:xfrm>
          <a:prstGeom prst="rect">
            <a:avLst/>
          </a:prstGeom>
        </p:spPr>
      </p:pic>
      <p:sp>
        <p:nvSpPr>
          <p:cNvPr id="18" name="TextBox 17"/>
          <p:cNvSpPr txBox="1"/>
          <p:nvPr/>
        </p:nvSpPr>
        <p:spPr>
          <a:xfrm>
            <a:off x="906203" y="317058"/>
            <a:ext cx="9437947" cy="480131"/>
          </a:xfrm>
          <a:prstGeom prst="rect">
            <a:avLst/>
          </a:prstGeom>
          <a:noFill/>
        </p:spPr>
        <p:txBody>
          <a:bodyPr wrap="square">
            <a:spAutoFit/>
          </a:bodyPr>
          <a:lstStyle/>
          <a:p>
            <a:pPr>
              <a:lnSpc>
                <a:spcPct val="90000"/>
              </a:lnSpc>
              <a:spcBef>
                <a:spcPct val="0"/>
              </a:spcBef>
            </a:pPr>
            <a:r>
              <a:rPr lang="en-US" sz="2800" b="1" dirty="0">
                <a:latin typeface="+mj-lt"/>
                <a:ea typeface="+mj-ea"/>
                <a:cs typeface="+mj-cs"/>
              </a:rPr>
              <a:t>Time series Forecasting &amp; ML/DL Analysis and Findings </a:t>
            </a:r>
            <a:endParaRPr lang="en-US" sz="2800" b="1" dirty="0">
              <a:latin typeface="+mj-lt"/>
              <a:ea typeface="+mj-ea"/>
              <a:cs typeface="+mj-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1"/>
          <a:stretch>
            <a:fillRect/>
          </a:stretch>
        </p:blipFill>
        <p:spPr>
          <a:xfrm>
            <a:off x="9234709" y="1588531"/>
            <a:ext cx="2157001" cy="3552825"/>
          </a:xfrm>
          <a:prstGeom prst="rect">
            <a:avLst/>
          </a:prstGeom>
        </p:spPr>
      </p:pic>
      <p:sp>
        <p:nvSpPr>
          <p:cNvPr id="2" name="Title 1"/>
          <p:cNvSpPr>
            <a:spLocks noGrp="1"/>
          </p:cNvSpPr>
          <p:nvPr>
            <p:ph type="title"/>
          </p:nvPr>
        </p:nvSpPr>
        <p:spPr>
          <a:xfrm>
            <a:off x="906203" y="134572"/>
            <a:ext cx="9779183" cy="753679"/>
          </a:xfrm>
        </p:spPr>
        <p:txBody>
          <a:bodyPr/>
          <a:lstStyle/>
          <a:p>
            <a:r>
              <a:rPr lang="en-US" sz="2800" dirty="0"/>
              <a:t>Time series Forecasting &amp; ML/DL Analysis and Findings </a:t>
            </a:r>
            <a:endParaRPr lang="en-US" sz="2800" dirty="0"/>
          </a:p>
        </p:txBody>
      </p:sp>
      <p:sp>
        <p:nvSpPr>
          <p:cNvPr id="7" name="Date Placeholder 6"/>
          <p:cNvSpPr>
            <a:spLocks noGrp="1"/>
          </p:cNvSpPr>
          <p:nvPr>
            <p:ph type="dt" sz="half" idx="2"/>
          </p:nvPr>
        </p:nvSpPr>
        <p:spPr>
          <a:xfrm>
            <a:off x="380999" y="6356350"/>
            <a:ext cx="4057216" cy="365125"/>
          </a:xfrm>
        </p:spPr>
        <p:txBody>
          <a:bodyPr/>
          <a:lstStyle/>
          <a:p>
            <a:r>
              <a:rPr lang="en-US" dirty="0"/>
              <a:t>Specialized Models: Time Series and Survival Analysis</a:t>
            </a:r>
            <a:endParaRPr lang="en-US" dirty="0"/>
          </a:p>
        </p:txBody>
      </p:sp>
      <p:sp>
        <p:nvSpPr>
          <p:cNvPr id="9" name="Slide Number Placeholder 8"/>
          <p:cNvSpPr>
            <a:spLocks noGrp="1"/>
          </p:cNvSpPr>
          <p:nvPr>
            <p:ph type="sldNum" sz="quarter" idx="4"/>
          </p:nvPr>
        </p:nvSpPr>
        <p:spPr/>
        <p:txBody>
          <a:bodyPr/>
          <a:lstStyle/>
          <a:p>
            <a:fld id="{294A09A9-5501-47C1-A89A-A340965A2BE2}" type="slidenum">
              <a:rPr lang="en-US" sz="1800"/>
            </a:fld>
            <a:endParaRPr lang="en-US" sz="1800" dirty="0"/>
          </a:p>
        </p:txBody>
      </p:sp>
      <p:sp>
        <p:nvSpPr>
          <p:cNvPr id="20" name="TextBox 19"/>
          <p:cNvSpPr txBox="1"/>
          <p:nvPr/>
        </p:nvSpPr>
        <p:spPr>
          <a:xfrm>
            <a:off x="6772275" y="1219200"/>
            <a:ext cx="245580" cy="369332"/>
          </a:xfrm>
          <a:prstGeom prst="rect">
            <a:avLst/>
          </a:prstGeom>
          <a:noFill/>
        </p:spPr>
        <p:txBody>
          <a:bodyPr wrap="none" rtlCol="0">
            <a:spAutoFit/>
          </a:bodyPr>
          <a:lstStyle/>
          <a:p>
            <a:r>
              <a:rPr lang="en-US" dirty="0"/>
              <a:t> </a:t>
            </a:r>
            <a:endParaRPr lang="en-US" dirty="0"/>
          </a:p>
        </p:txBody>
      </p:sp>
      <p:sp>
        <p:nvSpPr>
          <p:cNvPr id="10" name="TextBox 9"/>
          <p:cNvSpPr txBox="1"/>
          <p:nvPr/>
        </p:nvSpPr>
        <p:spPr>
          <a:xfrm>
            <a:off x="906203" y="1350594"/>
            <a:ext cx="7512761" cy="341632"/>
          </a:xfrm>
          <a:prstGeom prst="rect">
            <a:avLst/>
          </a:prstGeom>
          <a:noFill/>
        </p:spPr>
        <p:txBody>
          <a:bodyPr wrap="square">
            <a:spAutoFit/>
          </a:bodyPr>
          <a:lstStyle/>
          <a:p>
            <a:pPr>
              <a:lnSpc>
                <a:spcPct val="90000"/>
              </a:lnSpc>
              <a:spcBef>
                <a:spcPts val="1000"/>
              </a:spcBef>
            </a:pPr>
            <a:r>
              <a:rPr lang="en-US" b="1" dirty="0">
                <a:latin typeface="+mj-lt"/>
              </a:rPr>
              <a:t>1.3 Forecasting by Double Exponential</a:t>
            </a:r>
            <a:endParaRPr lang="en-US" b="1" dirty="0">
              <a:latin typeface="+mj-lt"/>
            </a:endParaRPr>
          </a:p>
        </p:txBody>
      </p:sp>
      <p:sp>
        <p:nvSpPr>
          <p:cNvPr id="108" name="TextBox 107"/>
          <p:cNvSpPr txBox="1"/>
          <p:nvPr/>
        </p:nvSpPr>
        <p:spPr>
          <a:xfrm>
            <a:off x="906203" y="940098"/>
            <a:ext cx="8477237" cy="369332"/>
          </a:xfrm>
          <a:prstGeom prst="rect">
            <a:avLst/>
          </a:prstGeom>
          <a:noFill/>
        </p:spPr>
        <p:txBody>
          <a:bodyPr wrap="square">
            <a:spAutoFit/>
          </a:bodyPr>
          <a:lstStyle/>
          <a:p>
            <a:pPr>
              <a:lnSpc>
                <a:spcPct val="90000"/>
              </a:lnSpc>
              <a:spcBef>
                <a:spcPts val="1000"/>
              </a:spcBef>
            </a:pPr>
            <a:r>
              <a:rPr lang="en-US" sz="2000" b="1" dirty="0">
                <a:solidFill>
                  <a:srgbClr val="48A1FA"/>
                </a:solidFill>
                <a:latin typeface="+mj-lt"/>
              </a:rPr>
              <a:t>1- Forecasting using Smoothing</a:t>
            </a:r>
            <a:endParaRPr lang="en-US" sz="2000" b="1" dirty="0">
              <a:solidFill>
                <a:srgbClr val="48A1FA"/>
              </a:solidFill>
              <a:latin typeface="+mj-lt"/>
            </a:endParaRPr>
          </a:p>
        </p:txBody>
      </p:sp>
      <p:sp>
        <p:nvSpPr>
          <p:cNvPr id="16" name="TextBox 15"/>
          <p:cNvSpPr txBox="1"/>
          <p:nvPr/>
        </p:nvSpPr>
        <p:spPr>
          <a:xfrm>
            <a:off x="1005840" y="4389120"/>
            <a:ext cx="7525512" cy="1200329"/>
          </a:xfrm>
          <a:prstGeom prst="rect">
            <a:avLst/>
          </a:prstGeom>
          <a:noFill/>
        </p:spPr>
        <p:txBody>
          <a:bodyPr wrap="square" rtlCol="0">
            <a:spAutoFit/>
          </a:bodyPr>
          <a:lstStyle/>
          <a:p>
            <a:r>
              <a:rPr lang="en-US" dirty="0"/>
              <a:t>Same here, we can see the highest error between the predictions and actual values.</a:t>
            </a:r>
            <a:endParaRPr lang="en-US" dirty="0"/>
          </a:p>
          <a:p>
            <a:endParaRPr lang="en-US" dirty="0"/>
          </a:p>
          <a:p>
            <a:r>
              <a:rPr lang="en-US" dirty="0"/>
              <a:t>Mean Square Error : 5197783 ! </a:t>
            </a:r>
            <a:endParaRPr lang="en-US" dirty="0"/>
          </a:p>
        </p:txBody>
      </p:sp>
      <p:pic>
        <p:nvPicPr>
          <p:cNvPr id="6" name="Picture 5"/>
          <p:cNvPicPr>
            <a:picLocks noChangeAspect="1"/>
          </p:cNvPicPr>
          <p:nvPr/>
        </p:nvPicPr>
        <p:blipFill>
          <a:blip r:embed="rId2"/>
          <a:stretch>
            <a:fillRect/>
          </a:stretch>
        </p:blipFill>
        <p:spPr>
          <a:xfrm>
            <a:off x="1005840" y="1733390"/>
            <a:ext cx="7794128" cy="2552036"/>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1"/>
          <a:stretch>
            <a:fillRect/>
          </a:stretch>
        </p:blipFill>
        <p:spPr>
          <a:xfrm>
            <a:off x="9228396" y="1588530"/>
            <a:ext cx="2163313" cy="3552825"/>
          </a:xfrm>
          <a:prstGeom prst="rect">
            <a:avLst/>
          </a:prstGeom>
        </p:spPr>
      </p:pic>
      <p:sp>
        <p:nvSpPr>
          <p:cNvPr id="2" name="Title 1"/>
          <p:cNvSpPr>
            <a:spLocks noGrp="1"/>
          </p:cNvSpPr>
          <p:nvPr>
            <p:ph type="title"/>
          </p:nvPr>
        </p:nvSpPr>
        <p:spPr>
          <a:xfrm>
            <a:off x="906203" y="53626"/>
            <a:ext cx="9779183" cy="753679"/>
          </a:xfrm>
        </p:spPr>
        <p:txBody>
          <a:bodyPr/>
          <a:lstStyle/>
          <a:p>
            <a:r>
              <a:rPr lang="en-US" sz="2800" dirty="0"/>
              <a:t>Time series Forecasting &amp; ML/DL Analysis and Findings </a:t>
            </a:r>
            <a:endParaRPr lang="en-US" sz="1050" dirty="0">
              <a:solidFill>
                <a:srgbClr val="006C31"/>
              </a:solidFill>
              <a:ea typeface="+mn-ea"/>
              <a:cs typeface="+mn-cs"/>
            </a:endParaRPr>
          </a:p>
        </p:txBody>
      </p:sp>
      <p:sp>
        <p:nvSpPr>
          <p:cNvPr id="7" name="Date Placeholder 6"/>
          <p:cNvSpPr>
            <a:spLocks noGrp="1"/>
          </p:cNvSpPr>
          <p:nvPr>
            <p:ph type="dt" sz="half" idx="2"/>
          </p:nvPr>
        </p:nvSpPr>
        <p:spPr>
          <a:xfrm>
            <a:off x="380999" y="6356350"/>
            <a:ext cx="4057216" cy="365125"/>
          </a:xfrm>
        </p:spPr>
        <p:txBody>
          <a:bodyPr/>
          <a:lstStyle/>
          <a:p>
            <a:r>
              <a:rPr lang="en-US" dirty="0"/>
              <a:t>Specialized Models: Time Series and Survival Analysis</a:t>
            </a:r>
            <a:endParaRPr lang="en-US" dirty="0"/>
          </a:p>
        </p:txBody>
      </p:sp>
      <p:sp>
        <p:nvSpPr>
          <p:cNvPr id="9" name="Slide Number Placeholder 8"/>
          <p:cNvSpPr>
            <a:spLocks noGrp="1"/>
          </p:cNvSpPr>
          <p:nvPr>
            <p:ph type="sldNum" sz="quarter" idx="4"/>
          </p:nvPr>
        </p:nvSpPr>
        <p:spPr/>
        <p:txBody>
          <a:bodyPr/>
          <a:lstStyle/>
          <a:p>
            <a:fld id="{294A09A9-5501-47C1-A89A-A340965A2BE2}" type="slidenum">
              <a:rPr lang="en-US" sz="1800"/>
            </a:fld>
            <a:endParaRPr lang="en-US" sz="1800" dirty="0"/>
          </a:p>
        </p:txBody>
      </p:sp>
      <p:sp>
        <p:nvSpPr>
          <p:cNvPr id="20" name="TextBox 19"/>
          <p:cNvSpPr txBox="1"/>
          <p:nvPr/>
        </p:nvSpPr>
        <p:spPr>
          <a:xfrm>
            <a:off x="6772275" y="1219200"/>
            <a:ext cx="245580" cy="369332"/>
          </a:xfrm>
          <a:prstGeom prst="rect">
            <a:avLst/>
          </a:prstGeom>
          <a:noFill/>
        </p:spPr>
        <p:txBody>
          <a:bodyPr wrap="none" rtlCol="0">
            <a:spAutoFit/>
          </a:bodyPr>
          <a:lstStyle/>
          <a:p>
            <a:r>
              <a:rPr lang="en-US" dirty="0"/>
              <a:t> </a:t>
            </a:r>
            <a:endParaRPr lang="en-US" dirty="0"/>
          </a:p>
        </p:txBody>
      </p:sp>
      <p:sp>
        <p:nvSpPr>
          <p:cNvPr id="10" name="TextBox 9"/>
          <p:cNvSpPr txBox="1"/>
          <p:nvPr/>
        </p:nvSpPr>
        <p:spPr>
          <a:xfrm>
            <a:off x="906203" y="1350594"/>
            <a:ext cx="7512761" cy="341632"/>
          </a:xfrm>
          <a:prstGeom prst="rect">
            <a:avLst/>
          </a:prstGeom>
          <a:noFill/>
        </p:spPr>
        <p:txBody>
          <a:bodyPr wrap="square">
            <a:spAutoFit/>
          </a:bodyPr>
          <a:lstStyle/>
          <a:p>
            <a:pPr>
              <a:lnSpc>
                <a:spcPct val="90000"/>
              </a:lnSpc>
              <a:spcBef>
                <a:spcPts val="1000"/>
              </a:spcBef>
            </a:pPr>
            <a:r>
              <a:rPr lang="en-US" b="1" dirty="0">
                <a:latin typeface="+mj-lt"/>
              </a:rPr>
              <a:t>1.4 Forecasting by Triple Exponential</a:t>
            </a:r>
            <a:endParaRPr lang="en-US" b="1" dirty="0">
              <a:latin typeface="+mj-lt"/>
            </a:endParaRPr>
          </a:p>
        </p:txBody>
      </p:sp>
      <p:sp>
        <p:nvSpPr>
          <p:cNvPr id="108" name="TextBox 107"/>
          <p:cNvSpPr txBox="1"/>
          <p:nvPr/>
        </p:nvSpPr>
        <p:spPr>
          <a:xfrm>
            <a:off x="906203" y="940098"/>
            <a:ext cx="8477237" cy="369332"/>
          </a:xfrm>
          <a:prstGeom prst="rect">
            <a:avLst/>
          </a:prstGeom>
          <a:noFill/>
        </p:spPr>
        <p:txBody>
          <a:bodyPr wrap="square">
            <a:spAutoFit/>
          </a:bodyPr>
          <a:lstStyle/>
          <a:p>
            <a:pPr>
              <a:lnSpc>
                <a:spcPct val="90000"/>
              </a:lnSpc>
              <a:spcBef>
                <a:spcPts val="1000"/>
              </a:spcBef>
            </a:pPr>
            <a:r>
              <a:rPr lang="en-US" sz="2000" b="1" dirty="0">
                <a:solidFill>
                  <a:srgbClr val="48A1FA"/>
                </a:solidFill>
                <a:latin typeface="+mj-lt"/>
              </a:rPr>
              <a:t>1- Forecasting using Smoothing</a:t>
            </a:r>
            <a:endParaRPr lang="en-US" sz="2000" b="1" dirty="0">
              <a:solidFill>
                <a:srgbClr val="48A1FA"/>
              </a:solidFill>
              <a:latin typeface="+mj-lt"/>
            </a:endParaRPr>
          </a:p>
        </p:txBody>
      </p:sp>
      <p:sp>
        <p:nvSpPr>
          <p:cNvPr id="16" name="TextBox 15"/>
          <p:cNvSpPr txBox="1"/>
          <p:nvPr/>
        </p:nvSpPr>
        <p:spPr>
          <a:xfrm>
            <a:off x="1005840" y="4389120"/>
            <a:ext cx="7525512" cy="1200329"/>
          </a:xfrm>
          <a:prstGeom prst="rect">
            <a:avLst/>
          </a:prstGeom>
          <a:noFill/>
        </p:spPr>
        <p:txBody>
          <a:bodyPr wrap="square" rtlCol="0">
            <a:spAutoFit/>
          </a:bodyPr>
          <a:lstStyle/>
          <a:p>
            <a:r>
              <a:rPr lang="en-US" dirty="0"/>
              <a:t>Triple exponential technique achieved the same result of single exponential smoothing technique.  </a:t>
            </a:r>
            <a:endParaRPr lang="en-US" dirty="0"/>
          </a:p>
          <a:p>
            <a:endParaRPr lang="en-US" dirty="0"/>
          </a:p>
          <a:p>
            <a:pPr algn="l"/>
            <a:r>
              <a:rPr lang="en-US" dirty="0"/>
              <a:t>Mean Square Error : 2236924 ! </a:t>
            </a:r>
            <a:endParaRPr lang="en-US" dirty="0"/>
          </a:p>
        </p:txBody>
      </p:sp>
      <p:pic>
        <p:nvPicPr>
          <p:cNvPr id="6" name="Picture 5"/>
          <p:cNvPicPr>
            <a:picLocks noChangeAspect="1"/>
          </p:cNvPicPr>
          <p:nvPr/>
        </p:nvPicPr>
        <p:blipFill>
          <a:blip r:embed="rId2"/>
          <a:stretch>
            <a:fillRect/>
          </a:stretch>
        </p:blipFill>
        <p:spPr>
          <a:xfrm>
            <a:off x="800290" y="1762338"/>
            <a:ext cx="8116542" cy="262678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6203" y="73821"/>
            <a:ext cx="9779183" cy="753679"/>
          </a:xfrm>
        </p:spPr>
        <p:txBody>
          <a:bodyPr/>
          <a:lstStyle/>
          <a:p>
            <a:r>
              <a:rPr lang="en-US" sz="2800" dirty="0"/>
              <a:t>Time series Forecasting &amp; ML/DL Analysis and Findings </a:t>
            </a:r>
            <a:endParaRPr lang="en-US" sz="1050" dirty="0">
              <a:solidFill>
                <a:srgbClr val="006C31"/>
              </a:solidFill>
              <a:ea typeface="+mn-ea"/>
              <a:cs typeface="+mn-cs"/>
            </a:endParaRPr>
          </a:p>
        </p:txBody>
      </p:sp>
      <p:sp>
        <p:nvSpPr>
          <p:cNvPr id="7" name="Date Placeholder 6"/>
          <p:cNvSpPr>
            <a:spLocks noGrp="1"/>
          </p:cNvSpPr>
          <p:nvPr>
            <p:ph type="dt" sz="half" idx="2"/>
          </p:nvPr>
        </p:nvSpPr>
        <p:spPr>
          <a:xfrm>
            <a:off x="380999" y="6356350"/>
            <a:ext cx="4057216" cy="365125"/>
          </a:xfrm>
        </p:spPr>
        <p:txBody>
          <a:bodyPr/>
          <a:lstStyle/>
          <a:p>
            <a:r>
              <a:rPr lang="en-US" dirty="0"/>
              <a:t>Specialized Models: Time Series and Survival Analysis</a:t>
            </a:r>
            <a:endParaRPr lang="en-US" dirty="0"/>
          </a:p>
        </p:txBody>
      </p:sp>
      <p:sp>
        <p:nvSpPr>
          <p:cNvPr id="9" name="Slide Number Placeholder 8"/>
          <p:cNvSpPr>
            <a:spLocks noGrp="1"/>
          </p:cNvSpPr>
          <p:nvPr>
            <p:ph type="sldNum" sz="quarter" idx="4"/>
          </p:nvPr>
        </p:nvSpPr>
        <p:spPr/>
        <p:txBody>
          <a:bodyPr/>
          <a:lstStyle/>
          <a:p>
            <a:fld id="{294A09A9-5501-47C1-A89A-A340965A2BE2}" type="slidenum">
              <a:rPr lang="en-US" sz="1800"/>
            </a:fld>
            <a:endParaRPr lang="en-US" sz="1800" dirty="0"/>
          </a:p>
        </p:txBody>
      </p:sp>
      <p:sp>
        <p:nvSpPr>
          <p:cNvPr id="20" name="TextBox 19"/>
          <p:cNvSpPr txBox="1"/>
          <p:nvPr/>
        </p:nvSpPr>
        <p:spPr>
          <a:xfrm>
            <a:off x="6772275" y="1219200"/>
            <a:ext cx="245580" cy="369332"/>
          </a:xfrm>
          <a:prstGeom prst="rect">
            <a:avLst/>
          </a:prstGeom>
          <a:noFill/>
        </p:spPr>
        <p:txBody>
          <a:bodyPr wrap="none" rtlCol="0">
            <a:spAutoFit/>
          </a:bodyPr>
          <a:lstStyle/>
          <a:p>
            <a:r>
              <a:rPr lang="en-US" dirty="0"/>
              <a:t> </a:t>
            </a:r>
            <a:endParaRPr lang="en-US" dirty="0"/>
          </a:p>
        </p:txBody>
      </p:sp>
      <p:sp>
        <p:nvSpPr>
          <p:cNvPr id="108" name="TextBox 107"/>
          <p:cNvSpPr txBox="1"/>
          <p:nvPr/>
        </p:nvSpPr>
        <p:spPr>
          <a:xfrm>
            <a:off x="906203" y="940098"/>
            <a:ext cx="8477237" cy="369332"/>
          </a:xfrm>
          <a:prstGeom prst="rect">
            <a:avLst/>
          </a:prstGeom>
          <a:noFill/>
        </p:spPr>
        <p:txBody>
          <a:bodyPr wrap="square">
            <a:spAutoFit/>
          </a:bodyPr>
          <a:lstStyle/>
          <a:p>
            <a:pPr>
              <a:lnSpc>
                <a:spcPct val="90000"/>
              </a:lnSpc>
              <a:spcBef>
                <a:spcPts val="1000"/>
              </a:spcBef>
            </a:pPr>
            <a:r>
              <a:rPr lang="en-US" sz="2000" b="1" dirty="0">
                <a:solidFill>
                  <a:srgbClr val="48A1FA"/>
                </a:solidFill>
                <a:latin typeface="+mj-lt"/>
              </a:rPr>
              <a:t>Comparison between smoothing techniques predictions.</a:t>
            </a:r>
            <a:endParaRPr lang="en-US" sz="2000" b="1" dirty="0">
              <a:solidFill>
                <a:srgbClr val="48A1FA"/>
              </a:solidFill>
              <a:latin typeface="+mj-lt"/>
            </a:endParaRPr>
          </a:p>
        </p:txBody>
      </p:sp>
      <p:pic>
        <p:nvPicPr>
          <p:cNvPr id="4" name="Picture 3"/>
          <p:cNvPicPr>
            <a:picLocks noChangeAspect="1"/>
          </p:cNvPicPr>
          <p:nvPr/>
        </p:nvPicPr>
        <p:blipFill>
          <a:blip r:embed="rId1"/>
          <a:stretch>
            <a:fillRect/>
          </a:stretch>
        </p:blipFill>
        <p:spPr>
          <a:xfrm>
            <a:off x="6535216" y="2454809"/>
            <a:ext cx="2397021" cy="1948381"/>
          </a:xfrm>
          <a:prstGeom prst="rect">
            <a:avLst/>
          </a:prstGeom>
        </p:spPr>
      </p:pic>
      <p:sp>
        <p:nvSpPr>
          <p:cNvPr id="5" name="TextBox 4"/>
          <p:cNvSpPr txBox="1"/>
          <p:nvPr/>
        </p:nvSpPr>
        <p:spPr>
          <a:xfrm>
            <a:off x="1722256" y="1997839"/>
            <a:ext cx="3729961" cy="2862322"/>
          </a:xfrm>
          <a:prstGeom prst="rect">
            <a:avLst/>
          </a:prstGeom>
          <a:noFill/>
        </p:spPr>
        <p:txBody>
          <a:bodyPr wrap="square" rtlCol="0">
            <a:spAutoFit/>
          </a:bodyPr>
          <a:lstStyle/>
          <a:p>
            <a:pPr algn="just"/>
            <a:r>
              <a:rPr lang="en-US" dirty="0"/>
              <a:t>As shown in the DataFrame on the right, </a:t>
            </a:r>
            <a:r>
              <a:rPr lang="en-US" dirty="0">
                <a:solidFill>
                  <a:srgbClr val="48A1FA"/>
                </a:solidFill>
              </a:rPr>
              <a:t>single</a:t>
            </a:r>
            <a:r>
              <a:rPr lang="en-US" dirty="0"/>
              <a:t> and </a:t>
            </a:r>
            <a:r>
              <a:rPr lang="en-US" dirty="0">
                <a:solidFill>
                  <a:srgbClr val="48A1FA"/>
                </a:solidFill>
              </a:rPr>
              <a:t>triple</a:t>
            </a:r>
            <a:r>
              <a:rPr lang="en-US" dirty="0"/>
              <a:t> exponential achieved the best results, where the worst forecasting was with </a:t>
            </a:r>
            <a:r>
              <a:rPr lang="en-US" dirty="0">
                <a:solidFill>
                  <a:srgbClr val="48A1FA"/>
                </a:solidFill>
              </a:rPr>
              <a:t>double</a:t>
            </a:r>
            <a:r>
              <a:rPr lang="en-US" dirty="0"/>
              <a:t> exponential smoothing, but all these forecasting techniques are considered unreliable since they led to very high error, in the next slides we will use better forecasting models and techniques.   </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6203" y="12092"/>
            <a:ext cx="9779183" cy="753679"/>
          </a:xfrm>
        </p:spPr>
        <p:txBody>
          <a:bodyPr/>
          <a:lstStyle/>
          <a:p>
            <a:r>
              <a:rPr lang="en-US" sz="2800" dirty="0"/>
              <a:t>Time series Forecasting &amp; ML/DL Analysis and Findings </a:t>
            </a:r>
            <a:endParaRPr lang="en-US" sz="1050" dirty="0">
              <a:solidFill>
                <a:srgbClr val="006C31"/>
              </a:solidFill>
              <a:ea typeface="+mn-ea"/>
              <a:cs typeface="+mn-cs"/>
            </a:endParaRPr>
          </a:p>
        </p:txBody>
      </p:sp>
      <p:sp>
        <p:nvSpPr>
          <p:cNvPr id="7" name="Date Placeholder 6"/>
          <p:cNvSpPr>
            <a:spLocks noGrp="1"/>
          </p:cNvSpPr>
          <p:nvPr>
            <p:ph type="dt" sz="half" idx="2"/>
          </p:nvPr>
        </p:nvSpPr>
        <p:spPr>
          <a:xfrm>
            <a:off x="381001" y="6352143"/>
            <a:ext cx="4057216" cy="365125"/>
          </a:xfrm>
        </p:spPr>
        <p:txBody>
          <a:bodyPr/>
          <a:lstStyle/>
          <a:p>
            <a:r>
              <a:rPr lang="en-US" dirty="0"/>
              <a:t>Specialized Models: Time Series and Survival Analysis</a:t>
            </a:r>
            <a:endParaRPr lang="en-US" dirty="0"/>
          </a:p>
        </p:txBody>
      </p:sp>
      <p:sp>
        <p:nvSpPr>
          <p:cNvPr id="9" name="Slide Number Placeholder 8"/>
          <p:cNvSpPr>
            <a:spLocks noGrp="1"/>
          </p:cNvSpPr>
          <p:nvPr>
            <p:ph type="sldNum" sz="quarter" idx="4"/>
          </p:nvPr>
        </p:nvSpPr>
        <p:spPr/>
        <p:txBody>
          <a:bodyPr/>
          <a:lstStyle/>
          <a:p>
            <a:fld id="{294A09A9-5501-47C1-A89A-A340965A2BE2}" type="slidenum">
              <a:rPr lang="en-US" sz="1800"/>
            </a:fld>
            <a:endParaRPr lang="en-US" sz="1800" dirty="0"/>
          </a:p>
        </p:txBody>
      </p:sp>
      <p:sp>
        <p:nvSpPr>
          <p:cNvPr id="20" name="TextBox 19"/>
          <p:cNvSpPr txBox="1"/>
          <p:nvPr/>
        </p:nvSpPr>
        <p:spPr>
          <a:xfrm>
            <a:off x="6772275" y="1219200"/>
            <a:ext cx="245580" cy="369332"/>
          </a:xfrm>
          <a:prstGeom prst="rect">
            <a:avLst/>
          </a:prstGeom>
          <a:noFill/>
        </p:spPr>
        <p:txBody>
          <a:bodyPr wrap="none" rtlCol="0">
            <a:spAutoFit/>
          </a:bodyPr>
          <a:lstStyle/>
          <a:p>
            <a:r>
              <a:rPr lang="en-US" dirty="0"/>
              <a:t> </a:t>
            </a:r>
            <a:endParaRPr lang="en-US" dirty="0"/>
          </a:p>
        </p:txBody>
      </p:sp>
      <p:sp>
        <p:nvSpPr>
          <p:cNvPr id="108" name="TextBox 107"/>
          <p:cNvSpPr txBox="1"/>
          <p:nvPr/>
        </p:nvSpPr>
        <p:spPr>
          <a:xfrm>
            <a:off x="906203" y="940098"/>
            <a:ext cx="8477237" cy="369332"/>
          </a:xfrm>
          <a:prstGeom prst="rect">
            <a:avLst/>
          </a:prstGeom>
          <a:noFill/>
        </p:spPr>
        <p:txBody>
          <a:bodyPr wrap="square">
            <a:spAutoFit/>
          </a:bodyPr>
          <a:lstStyle/>
          <a:p>
            <a:pPr>
              <a:lnSpc>
                <a:spcPct val="90000"/>
              </a:lnSpc>
              <a:spcBef>
                <a:spcPts val="1000"/>
              </a:spcBef>
            </a:pPr>
            <a:r>
              <a:rPr lang="en-US" sz="2000" b="1" dirty="0">
                <a:solidFill>
                  <a:srgbClr val="48A1FA"/>
                </a:solidFill>
                <a:latin typeface="+mj-lt"/>
              </a:rPr>
              <a:t>Using Autocorrelation to choose appropriate model.</a:t>
            </a:r>
            <a:endParaRPr lang="en-US" sz="2000" b="1" dirty="0">
              <a:solidFill>
                <a:srgbClr val="48A1FA"/>
              </a:solidFill>
              <a:latin typeface="+mj-lt"/>
            </a:endParaRPr>
          </a:p>
        </p:txBody>
      </p:sp>
      <p:graphicFrame>
        <p:nvGraphicFramePr>
          <p:cNvPr id="3" name="Table 2"/>
          <p:cNvGraphicFramePr>
            <a:graphicFrameLocks noGrp="1"/>
          </p:cNvGraphicFramePr>
          <p:nvPr/>
        </p:nvGraphicFramePr>
        <p:xfrm>
          <a:off x="1314450" y="1483757"/>
          <a:ext cx="7524750" cy="3352800"/>
        </p:xfrm>
        <a:graphic>
          <a:graphicData uri="http://schemas.openxmlformats.org/drawingml/2006/table">
            <a:tbl>
              <a:tblPr/>
              <a:tblGrid>
                <a:gridCol w="3762375"/>
                <a:gridCol w="3762375"/>
              </a:tblGrid>
              <a:tr h="0">
                <a:tc>
                  <a:txBody>
                    <a:bodyPr/>
                    <a:lstStyle/>
                    <a:p>
                      <a:pPr algn="l"/>
                      <a:r>
                        <a:rPr lang="en-US" b="1" dirty="0">
                          <a:solidFill>
                            <a:schemeClr val="bg1"/>
                          </a:solidFill>
                          <a:effectLst/>
                          <a:latin typeface="Source Sans Pro" panose="020B0503030403020204" pitchFamily="34" charset="0"/>
                        </a:rPr>
                        <a:t>SHAPE</a:t>
                      </a:r>
                      <a:endParaRPr lang="en-US" b="1" dirty="0">
                        <a:solidFill>
                          <a:schemeClr val="bg1"/>
                        </a:solidFill>
                        <a:effectLst/>
                        <a:latin typeface="Source Sans Pro" panose="020B0503030403020204" pitchFamily="34" charset="0"/>
                      </a:endParaRPr>
                    </a:p>
                  </a:txBody>
                  <a:tcPr marL="152400" marR="152400" marT="38100" marB="38100" anchor="ctr">
                    <a:lnL w="9525" cap="flat" cmpd="sng" algn="ctr">
                      <a:solidFill>
                        <a:srgbClr val="48494A"/>
                      </a:solidFill>
                      <a:prstDash val="solid"/>
                      <a:round/>
                      <a:headEnd type="none" w="med" len="med"/>
                      <a:tailEnd type="none" w="med" len="med"/>
                    </a:lnL>
                    <a:lnR w="9525" cap="flat" cmpd="sng" algn="ctr">
                      <a:solidFill>
                        <a:srgbClr val="48494A"/>
                      </a:solidFill>
                      <a:prstDash val="solid"/>
                      <a:round/>
                      <a:headEnd type="none" w="med" len="med"/>
                      <a:tailEnd type="none" w="med" len="med"/>
                    </a:lnR>
                    <a:lnT w="9525" cap="flat" cmpd="sng" algn="ctr">
                      <a:solidFill>
                        <a:srgbClr val="48494A"/>
                      </a:solidFill>
                      <a:prstDash val="solid"/>
                      <a:round/>
                      <a:headEnd type="none" w="med" len="med"/>
                      <a:tailEnd type="none" w="med" len="med"/>
                    </a:lnT>
                    <a:lnB w="9525" cap="flat" cmpd="sng" algn="ctr">
                      <a:solidFill>
                        <a:srgbClr val="E5E7E8"/>
                      </a:solidFill>
                      <a:prstDash val="solid"/>
                      <a:round/>
                      <a:headEnd type="none" w="med" len="med"/>
                      <a:tailEnd type="none" w="med" len="med"/>
                    </a:lnB>
                    <a:solidFill>
                      <a:srgbClr val="48A1FA"/>
                    </a:solidFill>
                  </a:tcPr>
                </a:tc>
                <a:tc>
                  <a:txBody>
                    <a:bodyPr/>
                    <a:lstStyle/>
                    <a:p>
                      <a:pPr algn="l"/>
                      <a:r>
                        <a:rPr lang="en-US" b="1" dirty="0">
                          <a:solidFill>
                            <a:schemeClr val="bg1"/>
                          </a:solidFill>
                          <a:effectLst/>
                          <a:latin typeface="Source Sans Pro" panose="020B0503030403020204" pitchFamily="34" charset="0"/>
                        </a:rPr>
                        <a:t>MODEL</a:t>
                      </a:r>
                      <a:endParaRPr lang="en-US" b="1" dirty="0">
                        <a:solidFill>
                          <a:schemeClr val="bg1"/>
                        </a:solidFill>
                        <a:effectLst/>
                        <a:latin typeface="Source Sans Pro" panose="020B0503030403020204" pitchFamily="34" charset="0"/>
                      </a:endParaRPr>
                    </a:p>
                  </a:txBody>
                  <a:tcPr marL="152400" marR="152400" marT="38100" marB="38100" anchor="ctr">
                    <a:lnL w="9525" cap="flat" cmpd="sng" algn="ctr">
                      <a:solidFill>
                        <a:srgbClr val="48494A"/>
                      </a:solidFill>
                      <a:prstDash val="solid"/>
                      <a:round/>
                      <a:headEnd type="none" w="med" len="med"/>
                      <a:tailEnd type="none" w="med" len="med"/>
                    </a:lnL>
                    <a:lnR w="9525" cap="flat" cmpd="sng" algn="ctr">
                      <a:solidFill>
                        <a:srgbClr val="48494A"/>
                      </a:solidFill>
                      <a:prstDash val="solid"/>
                      <a:round/>
                      <a:headEnd type="none" w="med" len="med"/>
                      <a:tailEnd type="none" w="med" len="med"/>
                    </a:lnR>
                    <a:lnT w="9525" cap="flat" cmpd="sng" algn="ctr">
                      <a:solidFill>
                        <a:srgbClr val="48494A"/>
                      </a:solidFill>
                      <a:prstDash val="solid"/>
                      <a:round/>
                      <a:headEnd type="none" w="med" len="med"/>
                      <a:tailEnd type="none" w="med" len="med"/>
                    </a:lnT>
                    <a:lnB w="9525" cap="flat" cmpd="sng" algn="ctr">
                      <a:solidFill>
                        <a:srgbClr val="E5E7E8"/>
                      </a:solidFill>
                      <a:prstDash val="solid"/>
                      <a:round/>
                      <a:headEnd type="none" w="med" len="med"/>
                      <a:tailEnd type="none" w="med" len="med"/>
                    </a:lnB>
                    <a:solidFill>
                      <a:srgbClr val="48A1FA"/>
                    </a:solidFill>
                  </a:tcPr>
                </a:tc>
              </a:tr>
              <a:tr h="0">
                <a:tc>
                  <a:txBody>
                    <a:bodyPr/>
                    <a:lstStyle/>
                    <a:p>
                      <a:pPr algn="l"/>
                      <a:r>
                        <a:rPr lang="en-US" b="0">
                          <a:effectLst/>
                          <a:latin typeface="Source Sans Pro" panose="020B0503030403020204" pitchFamily="34" charset="0"/>
                        </a:rPr>
                        <a:t>Exponential Decaying to zero</a:t>
                      </a:r>
                      <a:endParaRPr lang="en-US" b="0">
                        <a:effectLst/>
                        <a:latin typeface="Source Sans Pro" panose="020B0503030403020204" pitchFamily="34" charset="0"/>
                      </a:endParaRPr>
                    </a:p>
                  </a:txBody>
                  <a:tcPr marL="152400" marR="152400" marT="38100" marB="38100" anchor="ctr">
                    <a:lnL w="9525" cap="flat" cmpd="sng" algn="ctr">
                      <a:solidFill>
                        <a:srgbClr val="E5E7E8"/>
                      </a:solidFill>
                      <a:prstDash val="solid"/>
                      <a:round/>
                      <a:headEnd type="none" w="med" len="med"/>
                      <a:tailEnd type="none" w="med" len="med"/>
                    </a:lnL>
                    <a:lnR w="9525" cap="flat" cmpd="sng" algn="ctr">
                      <a:solidFill>
                        <a:srgbClr val="E5E7E8"/>
                      </a:solidFill>
                      <a:prstDash val="solid"/>
                      <a:round/>
                      <a:headEnd type="none" w="med" len="med"/>
                      <a:tailEnd type="none" w="med" len="med"/>
                    </a:lnR>
                    <a:lnT w="9525" cap="flat" cmpd="sng" algn="ctr">
                      <a:solidFill>
                        <a:srgbClr val="E5E7E8"/>
                      </a:solidFill>
                      <a:prstDash val="solid"/>
                      <a:round/>
                      <a:headEnd type="none" w="med" len="med"/>
                      <a:tailEnd type="none" w="med" len="med"/>
                    </a:lnT>
                    <a:lnB w="9525" cap="flat" cmpd="sng" algn="ctr">
                      <a:solidFill>
                        <a:srgbClr val="E5E7E8"/>
                      </a:solidFill>
                      <a:prstDash val="solid"/>
                      <a:round/>
                      <a:headEnd type="none" w="med" len="med"/>
                      <a:tailEnd type="none" w="med" len="med"/>
                    </a:lnB>
                    <a:solidFill>
                      <a:srgbClr val="FFFFFF"/>
                    </a:solidFill>
                  </a:tcPr>
                </a:tc>
                <a:tc>
                  <a:txBody>
                    <a:bodyPr/>
                    <a:lstStyle/>
                    <a:p>
                      <a:pPr algn="l"/>
                      <a:r>
                        <a:rPr lang="en-US" b="0" dirty="0">
                          <a:effectLst/>
                          <a:latin typeface="Source Sans Pro" panose="020B0503030403020204" pitchFamily="34" charset="0"/>
                        </a:rPr>
                        <a:t>AR models</a:t>
                      </a:r>
                      <a:endParaRPr lang="en-US" b="0" dirty="0">
                        <a:effectLst/>
                        <a:latin typeface="Source Sans Pro" panose="020B0503030403020204" pitchFamily="34" charset="0"/>
                      </a:endParaRPr>
                    </a:p>
                  </a:txBody>
                  <a:tcPr marL="152400" marR="152400" marT="38100" marB="38100" anchor="ctr">
                    <a:lnL w="9525" cap="flat" cmpd="sng" algn="ctr">
                      <a:solidFill>
                        <a:srgbClr val="E5E7E8"/>
                      </a:solidFill>
                      <a:prstDash val="solid"/>
                      <a:round/>
                      <a:headEnd type="none" w="med" len="med"/>
                      <a:tailEnd type="none" w="med" len="med"/>
                    </a:lnL>
                    <a:lnR w="9525" cap="flat" cmpd="sng" algn="ctr">
                      <a:solidFill>
                        <a:srgbClr val="E5E7E8"/>
                      </a:solidFill>
                      <a:prstDash val="solid"/>
                      <a:round/>
                      <a:headEnd type="none" w="med" len="med"/>
                      <a:tailEnd type="none" w="med" len="med"/>
                    </a:lnR>
                    <a:lnT w="9525" cap="flat" cmpd="sng" algn="ctr">
                      <a:solidFill>
                        <a:srgbClr val="E5E7E8"/>
                      </a:solidFill>
                      <a:prstDash val="solid"/>
                      <a:round/>
                      <a:headEnd type="none" w="med" len="med"/>
                      <a:tailEnd type="none" w="med" len="med"/>
                    </a:lnT>
                    <a:lnB w="9525" cap="flat" cmpd="sng" algn="ctr">
                      <a:solidFill>
                        <a:srgbClr val="E5E7E8"/>
                      </a:solidFill>
                      <a:prstDash val="solid"/>
                      <a:round/>
                      <a:headEnd type="none" w="med" len="med"/>
                      <a:tailEnd type="none" w="med" len="med"/>
                    </a:lnB>
                    <a:solidFill>
                      <a:srgbClr val="FFFFFF"/>
                    </a:solidFill>
                  </a:tcPr>
                </a:tc>
              </a:tr>
              <a:tr h="0">
                <a:tc>
                  <a:txBody>
                    <a:bodyPr/>
                    <a:lstStyle/>
                    <a:p>
                      <a:pPr algn="l"/>
                      <a:r>
                        <a:rPr lang="en-US" b="0" dirty="0">
                          <a:effectLst/>
                          <a:latin typeface="Source Sans Pro" panose="020B0503030403020204" pitchFamily="34" charset="0"/>
                        </a:rPr>
                        <a:t>Alternating positive and negative decaying to zero</a:t>
                      </a:r>
                      <a:endParaRPr lang="en-US" b="0" dirty="0">
                        <a:effectLst/>
                        <a:latin typeface="Source Sans Pro" panose="020B0503030403020204" pitchFamily="34" charset="0"/>
                      </a:endParaRPr>
                    </a:p>
                  </a:txBody>
                  <a:tcPr marL="152400" marR="152400" marT="38100" marB="38100" anchor="ctr">
                    <a:lnL w="9525" cap="flat" cmpd="sng" algn="ctr">
                      <a:solidFill>
                        <a:srgbClr val="E5E7E8"/>
                      </a:solidFill>
                      <a:prstDash val="solid"/>
                      <a:round/>
                      <a:headEnd type="none" w="med" len="med"/>
                      <a:tailEnd type="none" w="med" len="med"/>
                    </a:lnL>
                    <a:lnR w="9525" cap="flat" cmpd="sng" algn="ctr">
                      <a:solidFill>
                        <a:srgbClr val="E5E7E8"/>
                      </a:solidFill>
                      <a:prstDash val="solid"/>
                      <a:round/>
                      <a:headEnd type="none" w="med" len="med"/>
                      <a:tailEnd type="none" w="med" len="med"/>
                    </a:lnR>
                    <a:lnT w="9525" cap="flat" cmpd="sng" algn="ctr">
                      <a:solidFill>
                        <a:srgbClr val="E5E7E8"/>
                      </a:solidFill>
                      <a:prstDash val="solid"/>
                      <a:round/>
                      <a:headEnd type="none" w="med" len="med"/>
                      <a:tailEnd type="none" w="med" len="med"/>
                    </a:lnT>
                    <a:lnB w="9525" cap="flat" cmpd="sng" algn="ctr">
                      <a:solidFill>
                        <a:srgbClr val="E5E7E8"/>
                      </a:solidFill>
                      <a:prstDash val="solid"/>
                      <a:round/>
                      <a:headEnd type="none" w="med" len="med"/>
                      <a:tailEnd type="none" w="med" len="med"/>
                    </a:lnB>
                    <a:solidFill>
                      <a:srgbClr val="FFFFFF"/>
                    </a:solidFill>
                  </a:tcPr>
                </a:tc>
                <a:tc>
                  <a:txBody>
                    <a:bodyPr/>
                    <a:lstStyle/>
                    <a:p>
                      <a:pPr algn="l"/>
                      <a:r>
                        <a:rPr lang="en-US" b="0" dirty="0">
                          <a:effectLst/>
                          <a:latin typeface="Source Sans Pro" panose="020B0503030403020204" pitchFamily="34" charset="0"/>
                        </a:rPr>
                        <a:t>AR models</a:t>
                      </a:r>
                      <a:endParaRPr lang="en-US" b="0" dirty="0">
                        <a:effectLst/>
                        <a:latin typeface="Source Sans Pro" panose="020B0503030403020204" pitchFamily="34" charset="0"/>
                      </a:endParaRPr>
                    </a:p>
                  </a:txBody>
                  <a:tcPr marL="152400" marR="152400" marT="38100" marB="38100" anchor="ctr">
                    <a:lnL w="9525" cap="flat" cmpd="sng" algn="ctr">
                      <a:solidFill>
                        <a:srgbClr val="E5E7E8"/>
                      </a:solidFill>
                      <a:prstDash val="solid"/>
                      <a:round/>
                      <a:headEnd type="none" w="med" len="med"/>
                      <a:tailEnd type="none" w="med" len="med"/>
                    </a:lnL>
                    <a:lnR w="9525" cap="flat" cmpd="sng" algn="ctr">
                      <a:solidFill>
                        <a:srgbClr val="E5E7E8"/>
                      </a:solidFill>
                      <a:prstDash val="solid"/>
                      <a:round/>
                      <a:headEnd type="none" w="med" len="med"/>
                      <a:tailEnd type="none" w="med" len="med"/>
                    </a:lnR>
                    <a:lnT w="9525" cap="flat" cmpd="sng" algn="ctr">
                      <a:solidFill>
                        <a:srgbClr val="E5E7E8"/>
                      </a:solidFill>
                      <a:prstDash val="solid"/>
                      <a:round/>
                      <a:headEnd type="none" w="med" len="med"/>
                      <a:tailEnd type="none" w="med" len="med"/>
                    </a:lnT>
                    <a:lnB w="9525" cap="flat" cmpd="sng" algn="ctr">
                      <a:solidFill>
                        <a:srgbClr val="E5E7E8"/>
                      </a:solidFill>
                      <a:prstDash val="solid"/>
                      <a:round/>
                      <a:headEnd type="none" w="med" len="med"/>
                      <a:tailEnd type="none" w="med" len="med"/>
                    </a:lnB>
                    <a:solidFill>
                      <a:srgbClr val="FFFFFF"/>
                    </a:solidFill>
                  </a:tcPr>
                </a:tc>
              </a:tr>
              <a:tr h="0">
                <a:tc>
                  <a:txBody>
                    <a:bodyPr/>
                    <a:lstStyle/>
                    <a:p>
                      <a:pPr algn="l"/>
                      <a:r>
                        <a:rPr lang="en-US" b="0">
                          <a:effectLst/>
                          <a:latin typeface="Source Sans Pro" panose="020B0503030403020204" pitchFamily="34" charset="0"/>
                        </a:rPr>
                        <a:t>One or more spikes, the rest are close to zero</a:t>
                      </a:r>
                      <a:endParaRPr lang="en-US" b="0">
                        <a:effectLst/>
                        <a:latin typeface="Source Sans Pro" panose="020B0503030403020204" pitchFamily="34" charset="0"/>
                      </a:endParaRPr>
                    </a:p>
                  </a:txBody>
                  <a:tcPr marL="152400" marR="152400" marT="38100" marB="38100" anchor="ctr">
                    <a:lnL w="9525" cap="flat" cmpd="sng" algn="ctr">
                      <a:solidFill>
                        <a:srgbClr val="E5E7E8"/>
                      </a:solidFill>
                      <a:prstDash val="solid"/>
                      <a:round/>
                      <a:headEnd type="none" w="med" len="med"/>
                      <a:tailEnd type="none" w="med" len="med"/>
                    </a:lnL>
                    <a:lnR w="9525" cap="flat" cmpd="sng" algn="ctr">
                      <a:solidFill>
                        <a:srgbClr val="E5E7E8"/>
                      </a:solidFill>
                      <a:prstDash val="solid"/>
                      <a:round/>
                      <a:headEnd type="none" w="med" len="med"/>
                      <a:tailEnd type="none" w="med" len="med"/>
                    </a:lnR>
                    <a:lnT w="9525" cap="flat" cmpd="sng" algn="ctr">
                      <a:solidFill>
                        <a:srgbClr val="E5E7E8"/>
                      </a:solidFill>
                      <a:prstDash val="solid"/>
                      <a:round/>
                      <a:headEnd type="none" w="med" len="med"/>
                      <a:tailEnd type="none" w="med" len="med"/>
                    </a:lnT>
                    <a:lnB w="9525" cap="flat" cmpd="sng" algn="ctr">
                      <a:solidFill>
                        <a:srgbClr val="E5E7E8"/>
                      </a:solidFill>
                      <a:prstDash val="solid"/>
                      <a:round/>
                      <a:headEnd type="none" w="med" len="med"/>
                      <a:tailEnd type="none" w="med" len="med"/>
                    </a:lnB>
                    <a:solidFill>
                      <a:srgbClr val="FFFFFF"/>
                    </a:solidFill>
                  </a:tcPr>
                </a:tc>
                <a:tc>
                  <a:txBody>
                    <a:bodyPr/>
                    <a:lstStyle/>
                    <a:p>
                      <a:pPr algn="l"/>
                      <a:r>
                        <a:rPr lang="en-US" b="0" dirty="0">
                          <a:effectLst/>
                          <a:latin typeface="Source Sans Pro" panose="020B0503030403020204" pitchFamily="34" charset="0"/>
                        </a:rPr>
                        <a:t>MA model</a:t>
                      </a:r>
                      <a:endParaRPr lang="en-US" b="0" dirty="0">
                        <a:effectLst/>
                        <a:latin typeface="Source Sans Pro" panose="020B0503030403020204" pitchFamily="34" charset="0"/>
                      </a:endParaRPr>
                    </a:p>
                  </a:txBody>
                  <a:tcPr marL="152400" marR="152400" marT="38100" marB="38100" anchor="ctr">
                    <a:lnL w="9525" cap="flat" cmpd="sng" algn="ctr">
                      <a:solidFill>
                        <a:srgbClr val="E5E7E8"/>
                      </a:solidFill>
                      <a:prstDash val="solid"/>
                      <a:round/>
                      <a:headEnd type="none" w="med" len="med"/>
                      <a:tailEnd type="none" w="med" len="med"/>
                    </a:lnL>
                    <a:lnR w="9525" cap="flat" cmpd="sng" algn="ctr">
                      <a:solidFill>
                        <a:srgbClr val="E5E7E8"/>
                      </a:solidFill>
                      <a:prstDash val="solid"/>
                      <a:round/>
                      <a:headEnd type="none" w="med" len="med"/>
                      <a:tailEnd type="none" w="med" len="med"/>
                    </a:lnR>
                    <a:lnT w="9525" cap="flat" cmpd="sng" algn="ctr">
                      <a:solidFill>
                        <a:srgbClr val="E5E7E8"/>
                      </a:solidFill>
                      <a:prstDash val="solid"/>
                      <a:round/>
                      <a:headEnd type="none" w="med" len="med"/>
                      <a:tailEnd type="none" w="med" len="med"/>
                    </a:lnT>
                    <a:lnB w="9525" cap="flat" cmpd="sng" algn="ctr">
                      <a:solidFill>
                        <a:srgbClr val="E5E7E8"/>
                      </a:solidFill>
                      <a:prstDash val="solid"/>
                      <a:round/>
                      <a:headEnd type="none" w="med" len="med"/>
                      <a:tailEnd type="none" w="med" len="med"/>
                    </a:lnB>
                    <a:solidFill>
                      <a:srgbClr val="FFFFFF"/>
                    </a:solidFill>
                  </a:tcPr>
                </a:tc>
              </a:tr>
              <a:tr h="0">
                <a:tc>
                  <a:txBody>
                    <a:bodyPr/>
                    <a:lstStyle/>
                    <a:p>
                      <a:pPr algn="l"/>
                      <a:r>
                        <a:rPr lang="en-US" b="0">
                          <a:effectLst/>
                          <a:latin typeface="Source Sans Pro" panose="020B0503030403020204" pitchFamily="34" charset="0"/>
                        </a:rPr>
                        <a:t>Decay after a few lags</a:t>
                      </a:r>
                      <a:endParaRPr lang="en-US" b="0">
                        <a:effectLst/>
                        <a:latin typeface="Source Sans Pro" panose="020B0503030403020204" pitchFamily="34" charset="0"/>
                      </a:endParaRPr>
                    </a:p>
                  </a:txBody>
                  <a:tcPr marL="152400" marR="152400" marT="38100" marB="38100" anchor="ctr">
                    <a:lnL w="9525" cap="flat" cmpd="sng" algn="ctr">
                      <a:solidFill>
                        <a:srgbClr val="E5E7E8"/>
                      </a:solidFill>
                      <a:prstDash val="solid"/>
                      <a:round/>
                      <a:headEnd type="none" w="med" len="med"/>
                      <a:tailEnd type="none" w="med" len="med"/>
                    </a:lnL>
                    <a:lnR w="9525" cap="flat" cmpd="sng" algn="ctr">
                      <a:solidFill>
                        <a:srgbClr val="E5E7E8"/>
                      </a:solidFill>
                      <a:prstDash val="solid"/>
                      <a:round/>
                      <a:headEnd type="none" w="med" len="med"/>
                      <a:tailEnd type="none" w="med" len="med"/>
                    </a:lnR>
                    <a:lnT w="9525" cap="flat" cmpd="sng" algn="ctr">
                      <a:solidFill>
                        <a:srgbClr val="E5E7E8"/>
                      </a:solidFill>
                      <a:prstDash val="solid"/>
                      <a:round/>
                      <a:headEnd type="none" w="med" len="med"/>
                      <a:tailEnd type="none" w="med" len="med"/>
                    </a:lnT>
                    <a:lnB w="9525" cap="flat" cmpd="sng" algn="ctr">
                      <a:solidFill>
                        <a:srgbClr val="E5E7E8"/>
                      </a:solidFill>
                      <a:prstDash val="solid"/>
                      <a:round/>
                      <a:headEnd type="none" w="med" len="med"/>
                      <a:tailEnd type="none" w="med" len="med"/>
                    </a:lnB>
                    <a:solidFill>
                      <a:srgbClr val="FFFFFF"/>
                    </a:solidFill>
                  </a:tcPr>
                </a:tc>
                <a:tc>
                  <a:txBody>
                    <a:bodyPr/>
                    <a:lstStyle/>
                    <a:p>
                      <a:pPr algn="l"/>
                      <a:r>
                        <a:rPr lang="en-US" b="0">
                          <a:effectLst/>
                          <a:latin typeface="Source Sans Pro" panose="020B0503030403020204" pitchFamily="34" charset="0"/>
                        </a:rPr>
                        <a:t>Mixed AR and MA</a:t>
                      </a:r>
                      <a:endParaRPr lang="en-US" b="0">
                        <a:effectLst/>
                        <a:latin typeface="Source Sans Pro" panose="020B0503030403020204" pitchFamily="34" charset="0"/>
                      </a:endParaRPr>
                    </a:p>
                  </a:txBody>
                  <a:tcPr marL="152400" marR="152400" marT="38100" marB="38100" anchor="ctr">
                    <a:lnL w="9525" cap="flat" cmpd="sng" algn="ctr">
                      <a:solidFill>
                        <a:srgbClr val="E5E7E8"/>
                      </a:solidFill>
                      <a:prstDash val="solid"/>
                      <a:round/>
                      <a:headEnd type="none" w="med" len="med"/>
                      <a:tailEnd type="none" w="med" len="med"/>
                    </a:lnL>
                    <a:lnR w="9525" cap="flat" cmpd="sng" algn="ctr">
                      <a:solidFill>
                        <a:srgbClr val="E5E7E8"/>
                      </a:solidFill>
                      <a:prstDash val="solid"/>
                      <a:round/>
                      <a:headEnd type="none" w="med" len="med"/>
                      <a:tailEnd type="none" w="med" len="med"/>
                    </a:lnR>
                    <a:lnT w="9525" cap="flat" cmpd="sng" algn="ctr">
                      <a:solidFill>
                        <a:srgbClr val="E5E7E8"/>
                      </a:solidFill>
                      <a:prstDash val="solid"/>
                      <a:round/>
                      <a:headEnd type="none" w="med" len="med"/>
                      <a:tailEnd type="none" w="med" len="med"/>
                    </a:lnT>
                    <a:lnB w="9525" cap="flat" cmpd="sng" algn="ctr">
                      <a:solidFill>
                        <a:srgbClr val="E5E7E8"/>
                      </a:solidFill>
                      <a:prstDash val="solid"/>
                      <a:round/>
                      <a:headEnd type="none" w="med" len="med"/>
                      <a:tailEnd type="none" w="med" len="med"/>
                    </a:lnB>
                    <a:solidFill>
                      <a:srgbClr val="FFFFFF"/>
                    </a:solidFill>
                  </a:tcPr>
                </a:tc>
              </a:tr>
              <a:tr h="0">
                <a:tc>
                  <a:txBody>
                    <a:bodyPr/>
                    <a:lstStyle/>
                    <a:p>
                      <a:pPr algn="l"/>
                      <a:r>
                        <a:rPr lang="en-US" b="0">
                          <a:effectLst/>
                          <a:latin typeface="Source Sans Pro" panose="020B0503030403020204" pitchFamily="34" charset="0"/>
                        </a:rPr>
                        <a:t>All zero or close to zero</a:t>
                      </a:r>
                      <a:endParaRPr lang="en-US" b="0">
                        <a:effectLst/>
                        <a:latin typeface="Source Sans Pro" panose="020B0503030403020204" pitchFamily="34" charset="0"/>
                      </a:endParaRPr>
                    </a:p>
                  </a:txBody>
                  <a:tcPr marL="152400" marR="152400" marT="38100" marB="38100" anchor="ctr">
                    <a:lnL w="9525" cap="flat" cmpd="sng" algn="ctr">
                      <a:solidFill>
                        <a:srgbClr val="E5E7E8"/>
                      </a:solidFill>
                      <a:prstDash val="solid"/>
                      <a:round/>
                      <a:headEnd type="none" w="med" len="med"/>
                      <a:tailEnd type="none" w="med" len="med"/>
                    </a:lnL>
                    <a:lnR w="9525" cap="flat" cmpd="sng" algn="ctr">
                      <a:solidFill>
                        <a:srgbClr val="E5E7E8"/>
                      </a:solidFill>
                      <a:prstDash val="solid"/>
                      <a:round/>
                      <a:headEnd type="none" w="med" len="med"/>
                      <a:tailEnd type="none" w="med" len="med"/>
                    </a:lnR>
                    <a:lnT w="9525" cap="flat" cmpd="sng" algn="ctr">
                      <a:solidFill>
                        <a:srgbClr val="E5E7E8"/>
                      </a:solidFill>
                      <a:prstDash val="solid"/>
                      <a:round/>
                      <a:headEnd type="none" w="med" len="med"/>
                      <a:tailEnd type="none" w="med" len="med"/>
                    </a:lnT>
                    <a:lnB w="9525" cap="flat" cmpd="sng" algn="ctr">
                      <a:solidFill>
                        <a:srgbClr val="E5E7E8"/>
                      </a:solidFill>
                      <a:prstDash val="solid"/>
                      <a:round/>
                      <a:headEnd type="none" w="med" len="med"/>
                      <a:tailEnd type="none" w="med" len="med"/>
                    </a:lnB>
                    <a:solidFill>
                      <a:srgbClr val="FFFFFF"/>
                    </a:solidFill>
                  </a:tcPr>
                </a:tc>
                <a:tc>
                  <a:txBody>
                    <a:bodyPr/>
                    <a:lstStyle/>
                    <a:p>
                      <a:pPr algn="l"/>
                      <a:r>
                        <a:rPr lang="en-US" b="0">
                          <a:effectLst/>
                          <a:latin typeface="Source Sans Pro" panose="020B0503030403020204" pitchFamily="34" charset="0"/>
                        </a:rPr>
                        <a:t>Data is random</a:t>
                      </a:r>
                      <a:endParaRPr lang="en-US" b="0">
                        <a:effectLst/>
                        <a:latin typeface="Source Sans Pro" panose="020B0503030403020204" pitchFamily="34" charset="0"/>
                      </a:endParaRPr>
                    </a:p>
                  </a:txBody>
                  <a:tcPr marL="152400" marR="152400" marT="38100" marB="38100" anchor="ctr">
                    <a:lnL w="9525" cap="flat" cmpd="sng" algn="ctr">
                      <a:solidFill>
                        <a:srgbClr val="E5E7E8"/>
                      </a:solidFill>
                      <a:prstDash val="solid"/>
                      <a:round/>
                      <a:headEnd type="none" w="med" len="med"/>
                      <a:tailEnd type="none" w="med" len="med"/>
                    </a:lnL>
                    <a:lnR w="9525" cap="flat" cmpd="sng" algn="ctr">
                      <a:solidFill>
                        <a:srgbClr val="E5E7E8"/>
                      </a:solidFill>
                      <a:prstDash val="solid"/>
                      <a:round/>
                      <a:headEnd type="none" w="med" len="med"/>
                      <a:tailEnd type="none" w="med" len="med"/>
                    </a:lnR>
                    <a:lnT w="9525" cap="flat" cmpd="sng" algn="ctr">
                      <a:solidFill>
                        <a:srgbClr val="E5E7E8"/>
                      </a:solidFill>
                      <a:prstDash val="solid"/>
                      <a:round/>
                      <a:headEnd type="none" w="med" len="med"/>
                      <a:tailEnd type="none" w="med" len="med"/>
                    </a:lnT>
                    <a:lnB w="9525" cap="flat" cmpd="sng" algn="ctr">
                      <a:solidFill>
                        <a:srgbClr val="E5E7E8"/>
                      </a:solidFill>
                      <a:prstDash val="solid"/>
                      <a:round/>
                      <a:headEnd type="none" w="med" len="med"/>
                      <a:tailEnd type="none" w="med" len="med"/>
                    </a:lnB>
                    <a:solidFill>
                      <a:srgbClr val="FFFFFF"/>
                    </a:solidFill>
                  </a:tcPr>
                </a:tc>
              </a:tr>
              <a:tr h="0">
                <a:tc>
                  <a:txBody>
                    <a:bodyPr/>
                    <a:lstStyle/>
                    <a:p>
                      <a:pPr algn="l"/>
                      <a:r>
                        <a:rPr lang="en-US" b="0">
                          <a:effectLst/>
                          <a:latin typeface="Source Sans Pro" panose="020B0503030403020204" pitchFamily="34" charset="0"/>
                        </a:rPr>
                        <a:t>High values at fixed intervals</a:t>
                      </a:r>
                      <a:endParaRPr lang="en-US" b="0">
                        <a:effectLst/>
                        <a:latin typeface="Source Sans Pro" panose="020B0503030403020204" pitchFamily="34" charset="0"/>
                      </a:endParaRPr>
                    </a:p>
                  </a:txBody>
                  <a:tcPr marL="152400" marR="152400" marT="38100" marB="38100" anchor="ctr">
                    <a:lnL w="9525" cap="flat" cmpd="sng" algn="ctr">
                      <a:solidFill>
                        <a:srgbClr val="E5E7E8"/>
                      </a:solidFill>
                      <a:prstDash val="solid"/>
                      <a:round/>
                      <a:headEnd type="none" w="med" len="med"/>
                      <a:tailEnd type="none" w="med" len="med"/>
                    </a:lnL>
                    <a:lnR w="9525" cap="flat" cmpd="sng" algn="ctr">
                      <a:solidFill>
                        <a:srgbClr val="E5E7E8"/>
                      </a:solidFill>
                      <a:prstDash val="solid"/>
                      <a:round/>
                      <a:headEnd type="none" w="med" len="med"/>
                      <a:tailEnd type="none" w="med" len="med"/>
                    </a:lnR>
                    <a:lnT w="9525" cap="flat" cmpd="sng" algn="ctr">
                      <a:solidFill>
                        <a:srgbClr val="E5E7E8"/>
                      </a:solidFill>
                      <a:prstDash val="solid"/>
                      <a:round/>
                      <a:headEnd type="none" w="med" len="med"/>
                      <a:tailEnd type="none" w="med" len="med"/>
                    </a:lnT>
                    <a:lnB w="9525" cap="flat" cmpd="sng" algn="ctr">
                      <a:solidFill>
                        <a:srgbClr val="E5E7E8"/>
                      </a:solidFill>
                      <a:prstDash val="solid"/>
                      <a:round/>
                      <a:headEnd type="none" w="med" len="med"/>
                      <a:tailEnd type="none" w="med" len="med"/>
                    </a:lnB>
                    <a:solidFill>
                      <a:srgbClr val="FFFFFF"/>
                    </a:solidFill>
                  </a:tcPr>
                </a:tc>
                <a:tc>
                  <a:txBody>
                    <a:bodyPr/>
                    <a:lstStyle/>
                    <a:p>
                      <a:pPr algn="l"/>
                      <a:r>
                        <a:rPr lang="en-US" b="0">
                          <a:effectLst/>
                          <a:latin typeface="Source Sans Pro" panose="020B0503030403020204" pitchFamily="34" charset="0"/>
                        </a:rPr>
                        <a:t>Include seasonal AR term</a:t>
                      </a:r>
                      <a:endParaRPr lang="en-US" b="0">
                        <a:effectLst/>
                        <a:latin typeface="Source Sans Pro" panose="020B0503030403020204" pitchFamily="34" charset="0"/>
                      </a:endParaRPr>
                    </a:p>
                  </a:txBody>
                  <a:tcPr marL="152400" marR="152400" marT="38100" marB="38100" anchor="ctr">
                    <a:lnL w="9525" cap="flat" cmpd="sng" algn="ctr">
                      <a:solidFill>
                        <a:srgbClr val="E5E7E8"/>
                      </a:solidFill>
                      <a:prstDash val="solid"/>
                      <a:round/>
                      <a:headEnd type="none" w="med" len="med"/>
                      <a:tailEnd type="none" w="med" len="med"/>
                    </a:lnL>
                    <a:lnR w="9525" cap="flat" cmpd="sng" algn="ctr">
                      <a:solidFill>
                        <a:srgbClr val="E5E7E8"/>
                      </a:solidFill>
                      <a:prstDash val="solid"/>
                      <a:round/>
                      <a:headEnd type="none" w="med" len="med"/>
                      <a:tailEnd type="none" w="med" len="med"/>
                    </a:lnR>
                    <a:lnT w="9525" cap="flat" cmpd="sng" algn="ctr">
                      <a:solidFill>
                        <a:srgbClr val="E5E7E8"/>
                      </a:solidFill>
                      <a:prstDash val="solid"/>
                      <a:round/>
                      <a:headEnd type="none" w="med" len="med"/>
                      <a:tailEnd type="none" w="med" len="med"/>
                    </a:lnT>
                    <a:lnB w="9525" cap="flat" cmpd="sng" algn="ctr">
                      <a:solidFill>
                        <a:srgbClr val="E5E7E8"/>
                      </a:solidFill>
                      <a:prstDash val="solid"/>
                      <a:round/>
                      <a:headEnd type="none" w="med" len="med"/>
                      <a:tailEnd type="none" w="med" len="med"/>
                    </a:lnB>
                    <a:solidFill>
                      <a:srgbClr val="FFFFFF"/>
                    </a:solidFill>
                  </a:tcPr>
                </a:tc>
              </a:tr>
              <a:tr h="0">
                <a:tc>
                  <a:txBody>
                    <a:bodyPr/>
                    <a:lstStyle/>
                    <a:p>
                      <a:pPr algn="l"/>
                      <a:r>
                        <a:rPr lang="en-US" b="0" dirty="0">
                          <a:effectLst/>
                          <a:latin typeface="Source Sans Pro" panose="020B0503030403020204" pitchFamily="34" charset="0"/>
                        </a:rPr>
                        <a:t>No decay to zero</a:t>
                      </a:r>
                      <a:endParaRPr lang="en-US" b="0" dirty="0">
                        <a:effectLst/>
                        <a:latin typeface="Source Sans Pro" panose="020B0503030403020204" pitchFamily="34" charset="0"/>
                      </a:endParaRPr>
                    </a:p>
                  </a:txBody>
                  <a:tcPr marL="152400" marR="152400" marT="38100" marB="38100" anchor="ctr">
                    <a:lnL w="9525" cap="flat" cmpd="sng" algn="ctr">
                      <a:solidFill>
                        <a:srgbClr val="E5E7E8"/>
                      </a:solidFill>
                      <a:prstDash val="solid"/>
                      <a:round/>
                      <a:headEnd type="none" w="med" len="med"/>
                      <a:tailEnd type="none" w="med" len="med"/>
                    </a:lnL>
                    <a:lnR w="9525" cap="flat" cmpd="sng" algn="ctr">
                      <a:solidFill>
                        <a:srgbClr val="E5E7E8"/>
                      </a:solidFill>
                      <a:prstDash val="solid"/>
                      <a:round/>
                      <a:headEnd type="none" w="med" len="med"/>
                      <a:tailEnd type="none" w="med" len="med"/>
                    </a:lnR>
                    <a:lnT w="9525" cap="flat" cmpd="sng" algn="ctr">
                      <a:solidFill>
                        <a:srgbClr val="E5E7E8"/>
                      </a:solidFill>
                      <a:prstDash val="solid"/>
                      <a:round/>
                      <a:headEnd type="none" w="med" len="med"/>
                      <a:tailEnd type="none" w="med" len="med"/>
                    </a:lnT>
                    <a:lnB w="9525" cap="flat" cmpd="sng" algn="ctr">
                      <a:solidFill>
                        <a:srgbClr val="E5E7E8"/>
                      </a:solidFill>
                      <a:prstDash val="solid"/>
                      <a:round/>
                      <a:headEnd type="none" w="med" len="med"/>
                      <a:tailEnd type="none" w="med" len="med"/>
                    </a:lnB>
                    <a:solidFill>
                      <a:srgbClr val="FFFFFF"/>
                    </a:solidFill>
                  </a:tcPr>
                </a:tc>
                <a:tc>
                  <a:txBody>
                    <a:bodyPr/>
                    <a:lstStyle/>
                    <a:p>
                      <a:pPr algn="l"/>
                      <a:r>
                        <a:rPr lang="en-US" b="0" dirty="0">
                          <a:effectLst/>
                          <a:latin typeface="Source Sans Pro" panose="020B0503030403020204" pitchFamily="34" charset="0"/>
                        </a:rPr>
                        <a:t>Series is not stationary</a:t>
                      </a:r>
                      <a:endParaRPr lang="en-US" b="0" dirty="0">
                        <a:effectLst/>
                        <a:latin typeface="Source Sans Pro" panose="020B0503030403020204" pitchFamily="34" charset="0"/>
                      </a:endParaRPr>
                    </a:p>
                  </a:txBody>
                  <a:tcPr marL="152400" marR="152400" marT="38100" marB="38100" anchor="ctr">
                    <a:lnL w="9525" cap="flat" cmpd="sng" algn="ctr">
                      <a:solidFill>
                        <a:srgbClr val="E5E7E8"/>
                      </a:solidFill>
                      <a:prstDash val="solid"/>
                      <a:round/>
                      <a:headEnd type="none" w="med" len="med"/>
                      <a:tailEnd type="none" w="med" len="med"/>
                    </a:lnL>
                    <a:lnR w="9525" cap="flat" cmpd="sng" algn="ctr">
                      <a:solidFill>
                        <a:srgbClr val="E5E7E8"/>
                      </a:solidFill>
                      <a:prstDash val="solid"/>
                      <a:round/>
                      <a:headEnd type="none" w="med" len="med"/>
                      <a:tailEnd type="none" w="med" len="med"/>
                    </a:lnR>
                    <a:lnT w="9525" cap="flat" cmpd="sng" algn="ctr">
                      <a:solidFill>
                        <a:srgbClr val="E5E7E8"/>
                      </a:solidFill>
                      <a:prstDash val="solid"/>
                      <a:round/>
                      <a:headEnd type="none" w="med" len="med"/>
                      <a:tailEnd type="none" w="med" len="med"/>
                    </a:lnT>
                    <a:lnB w="9525" cap="flat" cmpd="sng" algn="ctr">
                      <a:solidFill>
                        <a:srgbClr val="E5E7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0067" y="43567"/>
            <a:ext cx="9779183" cy="753679"/>
          </a:xfrm>
        </p:spPr>
        <p:txBody>
          <a:bodyPr/>
          <a:lstStyle/>
          <a:p>
            <a:r>
              <a:rPr lang="en-US" sz="2800" dirty="0"/>
              <a:t>Time series Forecasting &amp; ML/DL Analysis and Findings </a:t>
            </a:r>
            <a:endParaRPr lang="en-US" sz="1050" dirty="0">
              <a:solidFill>
                <a:srgbClr val="006C31"/>
              </a:solidFill>
              <a:ea typeface="+mn-ea"/>
              <a:cs typeface="+mn-cs"/>
            </a:endParaRPr>
          </a:p>
        </p:txBody>
      </p:sp>
      <p:sp>
        <p:nvSpPr>
          <p:cNvPr id="7" name="Date Placeholder 6"/>
          <p:cNvSpPr>
            <a:spLocks noGrp="1"/>
          </p:cNvSpPr>
          <p:nvPr>
            <p:ph type="dt" sz="half" idx="2"/>
          </p:nvPr>
        </p:nvSpPr>
        <p:spPr>
          <a:xfrm>
            <a:off x="381001" y="6352143"/>
            <a:ext cx="4057216" cy="365125"/>
          </a:xfrm>
        </p:spPr>
        <p:txBody>
          <a:bodyPr/>
          <a:lstStyle/>
          <a:p>
            <a:r>
              <a:rPr lang="en-US" dirty="0"/>
              <a:t>Specialized Models: Time Series and Survival Analysis</a:t>
            </a:r>
            <a:endParaRPr lang="en-US" dirty="0"/>
          </a:p>
        </p:txBody>
      </p:sp>
      <p:sp>
        <p:nvSpPr>
          <p:cNvPr id="9" name="Slide Number Placeholder 8"/>
          <p:cNvSpPr>
            <a:spLocks noGrp="1"/>
          </p:cNvSpPr>
          <p:nvPr>
            <p:ph type="sldNum" sz="quarter" idx="4"/>
          </p:nvPr>
        </p:nvSpPr>
        <p:spPr/>
        <p:txBody>
          <a:bodyPr/>
          <a:lstStyle/>
          <a:p>
            <a:fld id="{294A09A9-5501-47C1-A89A-A340965A2BE2}" type="slidenum">
              <a:rPr lang="en-US" sz="1800"/>
            </a:fld>
            <a:endParaRPr lang="en-US" sz="1800" dirty="0"/>
          </a:p>
        </p:txBody>
      </p:sp>
      <p:sp>
        <p:nvSpPr>
          <p:cNvPr id="20" name="TextBox 19"/>
          <p:cNvSpPr txBox="1"/>
          <p:nvPr/>
        </p:nvSpPr>
        <p:spPr>
          <a:xfrm>
            <a:off x="6772275" y="1219200"/>
            <a:ext cx="245580" cy="369332"/>
          </a:xfrm>
          <a:prstGeom prst="rect">
            <a:avLst/>
          </a:prstGeom>
          <a:noFill/>
        </p:spPr>
        <p:txBody>
          <a:bodyPr wrap="none" rtlCol="0">
            <a:spAutoFit/>
          </a:bodyPr>
          <a:lstStyle/>
          <a:p>
            <a:r>
              <a:rPr lang="en-US" dirty="0"/>
              <a:t> </a:t>
            </a:r>
            <a:endParaRPr lang="en-US" dirty="0"/>
          </a:p>
        </p:txBody>
      </p:sp>
      <p:sp>
        <p:nvSpPr>
          <p:cNvPr id="108" name="TextBox 107"/>
          <p:cNvSpPr txBox="1"/>
          <p:nvPr/>
        </p:nvSpPr>
        <p:spPr>
          <a:xfrm>
            <a:off x="906203" y="940098"/>
            <a:ext cx="8477237" cy="369332"/>
          </a:xfrm>
          <a:prstGeom prst="rect">
            <a:avLst/>
          </a:prstGeom>
          <a:noFill/>
        </p:spPr>
        <p:txBody>
          <a:bodyPr wrap="square">
            <a:spAutoFit/>
          </a:bodyPr>
          <a:lstStyle/>
          <a:p>
            <a:pPr>
              <a:lnSpc>
                <a:spcPct val="90000"/>
              </a:lnSpc>
              <a:spcBef>
                <a:spcPts val="1000"/>
              </a:spcBef>
            </a:pPr>
            <a:r>
              <a:rPr lang="en-US" sz="2000" b="1" dirty="0">
                <a:solidFill>
                  <a:srgbClr val="48A1FA"/>
                </a:solidFill>
                <a:latin typeface="+mj-lt"/>
              </a:rPr>
              <a:t>Using SARIMA model for forecasting.</a:t>
            </a:r>
            <a:endParaRPr lang="en-US" sz="2000" b="1" dirty="0">
              <a:solidFill>
                <a:srgbClr val="48A1FA"/>
              </a:solidFill>
              <a:latin typeface="+mj-lt"/>
            </a:endParaRPr>
          </a:p>
        </p:txBody>
      </p:sp>
      <p:sp>
        <p:nvSpPr>
          <p:cNvPr id="10" name="TextBox 9"/>
          <p:cNvSpPr txBox="1"/>
          <p:nvPr/>
        </p:nvSpPr>
        <p:spPr>
          <a:xfrm>
            <a:off x="930067" y="1309430"/>
            <a:ext cx="9224628" cy="3600986"/>
          </a:xfrm>
          <a:prstGeom prst="rect">
            <a:avLst/>
          </a:prstGeom>
          <a:noFill/>
        </p:spPr>
        <p:txBody>
          <a:bodyPr wrap="square">
            <a:spAutoFit/>
          </a:bodyPr>
          <a:lstStyle/>
          <a:p>
            <a:r>
              <a:rPr lang="en-US" b="1" dirty="0">
                <a:latin typeface="+mj-lt"/>
              </a:rPr>
              <a:t>Some rules to highlight from the Duke ARIMA Guide:</a:t>
            </a:r>
            <a:endParaRPr lang="en-US" b="1" dirty="0">
              <a:latin typeface="+mj-lt"/>
            </a:endParaRPr>
          </a:p>
          <a:p>
            <a:endParaRPr lang="en-US" b="1" dirty="0">
              <a:latin typeface="+mj-lt"/>
            </a:endParaRPr>
          </a:p>
          <a:p>
            <a:pPr marL="342900" indent="-342900" algn="just">
              <a:buFont typeface="+mj-lt"/>
              <a:buAutoNum type="arabicPeriod"/>
            </a:pPr>
            <a:r>
              <a:rPr lang="en-US" sz="1600" dirty="0">
                <a:latin typeface="+mj-lt"/>
              </a:rPr>
              <a:t>If the series has positive autocorrelations out to a high number of lags, then it probably needs a higher order of differencing.</a:t>
            </a:r>
            <a:endParaRPr lang="en-US" sz="1600" dirty="0">
              <a:latin typeface="+mj-lt"/>
            </a:endParaRPr>
          </a:p>
          <a:p>
            <a:pPr marL="342900" indent="-342900" algn="just">
              <a:buFont typeface="+mj-lt"/>
              <a:buAutoNum type="arabicPeriod"/>
            </a:pPr>
            <a:endParaRPr lang="en-US" sz="1600" dirty="0">
              <a:latin typeface="+mj-lt"/>
            </a:endParaRPr>
          </a:p>
          <a:p>
            <a:pPr marL="342900" indent="-342900" algn="just">
              <a:buFont typeface="+mj-lt"/>
              <a:buAutoNum type="arabicPeriod"/>
            </a:pPr>
            <a:r>
              <a:rPr lang="en-US" sz="1600" dirty="0">
                <a:latin typeface="+mj-lt"/>
              </a:rPr>
              <a:t>If the lag-1 autocorrelation is zero or negative, or the autocorrelations are all small and pattern less, then the series does not need a higher order of  differencing. If the lag-1 autocorrelation is -0.5 or more negative, the series may be over-differenced.  BEWARE OF OVERDIFFERENCING!!</a:t>
            </a:r>
            <a:endParaRPr lang="en-US" sz="1600" dirty="0">
              <a:latin typeface="+mj-lt"/>
            </a:endParaRPr>
          </a:p>
          <a:p>
            <a:pPr marL="342900" indent="-342900" algn="just">
              <a:buFont typeface="+mj-lt"/>
              <a:buAutoNum type="arabicPeriod"/>
            </a:pPr>
            <a:endParaRPr lang="en-US" sz="1600" dirty="0">
              <a:latin typeface="+mj-lt"/>
            </a:endParaRPr>
          </a:p>
          <a:p>
            <a:pPr marL="342900" indent="-342900" algn="just">
              <a:buFont typeface="+mj-lt"/>
              <a:buAutoNum type="arabicPeriod"/>
            </a:pPr>
            <a:r>
              <a:rPr lang="en-US" sz="1600" dirty="0">
                <a:latin typeface="+mj-lt"/>
              </a:rPr>
              <a:t>A model with no orders of differencing assumes that the original series is stationary (mean-reverting). A model with one order of differencing assumes that the original series has a constant average trend (e.g. a random walk or SES-type model, with or without growth). A model with two orders of total differencing assumes that the original series has a time-varying trend (e.g. a random trend or LES-type model).</a:t>
            </a:r>
            <a:endParaRPr lang="en-US" sz="1600" dirty="0">
              <a:latin typeface="+mj-l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6203" y="210253"/>
            <a:ext cx="9779183" cy="753679"/>
          </a:xfrm>
        </p:spPr>
        <p:txBody>
          <a:bodyPr/>
          <a:lstStyle/>
          <a:p>
            <a:r>
              <a:rPr lang="en-US" sz="2800" dirty="0"/>
              <a:t>Time series Forecasting &amp; ML/DL Analysis and Findings </a:t>
            </a:r>
            <a:endParaRPr lang="en-US" sz="2800" dirty="0"/>
          </a:p>
        </p:txBody>
      </p:sp>
      <p:sp>
        <p:nvSpPr>
          <p:cNvPr id="7" name="Date Placeholder 6"/>
          <p:cNvSpPr>
            <a:spLocks noGrp="1"/>
          </p:cNvSpPr>
          <p:nvPr>
            <p:ph type="dt" sz="half" idx="2"/>
          </p:nvPr>
        </p:nvSpPr>
        <p:spPr>
          <a:xfrm>
            <a:off x="380999" y="6356350"/>
            <a:ext cx="3774542" cy="365125"/>
          </a:xfrm>
        </p:spPr>
        <p:txBody>
          <a:bodyPr/>
          <a:lstStyle/>
          <a:p>
            <a:r>
              <a:rPr lang="en-US" dirty="0"/>
              <a:t>Specialized Models: Time Series and Survival Analysis</a:t>
            </a:r>
            <a:endParaRPr lang="en-US" dirty="0"/>
          </a:p>
        </p:txBody>
      </p:sp>
      <p:sp>
        <p:nvSpPr>
          <p:cNvPr id="9" name="Slide Number Placeholder 8"/>
          <p:cNvSpPr>
            <a:spLocks noGrp="1"/>
          </p:cNvSpPr>
          <p:nvPr>
            <p:ph type="sldNum" sz="quarter" idx="4"/>
          </p:nvPr>
        </p:nvSpPr>
        <p:spPr/>
        <p:txBody>
          <a:bodyPr/>
          <a:lstStyle/>
          <a:p>
            <a:fld id="{294A09A9-5501-47C1-A89A-A340965A2BE2}" type="slidenum">
              <a:rPr lang="en-US" sz="1800"/>
            </a:fld>
            <a:endParaRPr lang="en-US" sz="1800" dirty="0"/>
          </a:p>
        </p:txBody>
      </p:sp>
      <p:sp>
        <p:nvSpPr>
          <p:cNvPr id="10" name="TextBox 9"/>
          <p:cNvSpPr txBox="1"/>
          <p:nvPr/>
        </p:nvSpPr>
        <p:spPr>
          <a:xfrm>
            <a:off x="906203" y="1033777"/>
            <a:ext cx="9613670" cy="369332"/>
          </a:xfrm>
          <a:prstGeom prst="rect">
            <a:avLst/>
          </a:prstGeom>
          <a:noFill/>
        </p:spPr>
        <p:txBody>
          <a:bodyPr wrap="square">
            <a:spAutoFit/>
          </a:bodyPr>
          <a:lstStyle/>
          <a:p>
            <a:pPr>
              <a:lnSpc>
                <a:spcPct val="90000"/>
              </a:lnSpc>
              <a:spcBef>
                <a:spcPts val="1000"/>
              </a:spcBef>
            </a:pPr>
            <a:r>
              <a:rPr lang="en-US" sz="2000" b="1" dirty="0">
                <a:solidFill>
                  <a:srgbClr val="48A1FA"/>
                </a:solidFill>
                <a:latin typeface="+mj-lt"/>
              </a:rPr>
              <a:t>2- Forecasting using SARIMA model (Seasonal Average Integrated Moving Average)</a:t>
            </a:r>
            <a:endParaRPr lang="en-US" sz="2000" b="1" dirty="0">
              <a:solidFill>
                <a:srgbClr val="48A1FA"/>
              </a:solidFill>
              <a:latin typeface="+mj-lt"/>
            </a:endParaRPr>
          </a:p>
        </p:txBody>
      </p:sp>
      <p:sp>
        <p:nvSpPr>
          <p:cNvPr id="16" name="TextBox 15"/>
          <p:cNvSpPr txBox="1"/>
          <p:nvPr/>
        </p:nvSpPr>
        <p:spPr>
          <a:xfrm>
            <a:off x="5373456" y="4750740"/>
            <a:ext cx="4565392" cy="646331"/>
          </a:xfrm>
          <a:prstGeom prst="rect">
            <a:avLst/>
          </a:prstGeom>
          <a:noFill/>
        </p:spPr>
        <p:txBody>
          <a:bodyPr wrap="square" rtlCol="0">
            <a:spAutoFit/>
          </a:bodyPr>
          <a:lstStyle/>
          <a:p>
            <a:pPr algn="just"/>
            <a:r>
              <a:rPr lang="en-US" dirty="0"/>
              <a:t>As shown in the figure above we got much better predictions using SARIMA model</a:t>
            </a:r>
            <a:endParaRPr lang="en-US" dirty="0"/>
          </a:p>
        </p:txBody>
      </p:sp>
      <p:pic>
        <p:nvPicPr>
          <p:cNvPr id="4" name="Picture 3"/>
          <p:cNvPicPr>
            <a:picLocks noChangeAspect="1"/>
          </p:cNvPicPr>
          <p:nvPr/>
        </p:nvPicPr>
        <p:blipFill rotWithShape="1">
          <a:blip r:embed="rId1"/>
          <a:srcRect b="1466"/>
          <a:stretch>
            <a:fillRect/>
          </a:stretch>
        </p:blipFill>
        <p:spPr>
          <a:xfrm>
            <a:off x="906203" y="1834316"/>
            <a:ext cx="8100274" cy="2590491"/>
          </a:xfrm>
          <a:prstGeom prst="rect">
            <a:avLst/>
          </a:prstGeom>
        </p:spPr>
      </p:pic>
      <p:sp>
        <p:nvSpPr>
          <p:cNvPr id="11" name="TextBox 10"/>
          <p:cNvSpPr txBox="1"/>
          <p:nvPr/>
        </p:nvSpPr>
        <p:spPr>
          <a:xfrm>
            <a:off x="906202" y="1377010"/>
            <a:ext cx="6942397" cy="341632"/>
          </a:xfrm>
          <a:prstGeom prst="rect">
            <a:avLst/>
          </a:prstGeom>
          <a:noFill/>
        </p:spPr>
        <p:txBody>
          <a:bodyPr wrap="square">
            <a:spAutoFit/>
          </a:bodyPr>
          <a:lstStyle/>
          <a:p>
            <a:pPr>
              <a:lnSpc>
                <a:spcPct val="90000"/>
              </a:lnSpc>
              <a:spcBef>
                <a:spcPts val="1000"/>
              </a:spcBef>
            </a:pPr>
            <a:r>
              <a:rPr lang="en-US" b="1" dirty="0">
                <a:latin typeface="+mj-lt"/>
              </a:rPr>
              <a:t>2.1 Forecasting using SARIMA model </a:t>
            </a:r>
            <a:r>
              <a:rPr lang="it-IT" b="1" i="0" dirty="0">
                <a:solidFill>
                  <a:srgbClr val="1F1F1F"/>
                </a:solidFill>
                <a:effectLst/>
                <a:latin typeface="Source Sans Pro" panose="020B0503030403020204" pitchFamily="34" charset="0"/>
              </a:rPr>
              <a:t>SARIMA (p, d, q) (P, D, Q)</a:t>
            </a:r>
            <a:r>
              <a:rPr lang="it-IT" b="0" i="0" dirty="0">
                <a:solidFill>
                  <a:srgbClr val="1F1F1F"/>
                </a:solidFill>
                <a:effectLst/>
                <a:latin typeface="Source Sans Pro" panose="020B0503030403020204" pitchFamily="34" charset="0"/>
              </a:rPr>
              <a:t>.</a:t>
            </a:r>
            <a:r>
              <a:rPr lang="en-US" b="1" dirty="0">
                <a:latin typeface="+mj-lt"/>
              </a:rPr>
              <a:t> </a:t>
            </a:r>
            <a:endParaRPr lang="en-US" b="1" dirty="0">
              <a:latin typeface="+mj-lt"/>
            </a:endParaRPr>
          </a:p>
        </p:txBody>
      </p:sp>
      <p:pic>
        <p:nvPicPr>
          <p:cNvPr id="8" name="Picture 7"/>
          <p:cNvPicPr>
            <a:picLocks noChangeAspect="1"/>
          </p:cNvPicPr>
          <p:nvPr/>
        </p:nvPicPr>
        <p:blipFill>
          <a:blip r:embed="rId2"/>
          <a:stretch>
            <a:fillRect/>
          </a:stretch>
        </p:blipFill>
        <p:spPr>
          <a:xfrm>
            <a:off x="1074088" y="4663334"/>
            <a:ext cx="3652953" cy="962337"/>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4754" y="204318"/>
            <a:ext cx="9779183" cy="753679"/>
          </a:xfrm>
        </p:spPr>
        <p:txBody>
          <a:bodyPr/>
          <a:lstStyle/>
          <a:p>
            <a:r>
              <a:rPr lang="en-US" sz="2800" dirty="0"/>
              <a:t>Time series Forecasting &amp; ML/DL Analysis and Findings </a:t>
            </a:r>
            <a:endParaRPr lang="en-US" sz="2800" dirty="0"/>
          </a:p>
        </p:txBody>
      </p:sp>
      <p:sp>
        <p:nvSpPr>
          <p:cNvPr id="7" name="Date Placeholder 6"/>
          <p:cNvSpPr>
            <a:spLocks noGrp="1"/>
          </p:cNvSpPr>
          <p:nvPr>
            <p:ph type="dt" sz="half" idx="2"/>
          </p:nvPr>
        </p:nvSpPr>
        <p:spPr>
          <a:xfrm>
            <a:off x="380999" y="6356350"/>
            <a:ext cx="3774542" cy="365125"/>
          </a:xfrm>
        </p:spPr>
        <p:txBody>
          <a:bodyPr/>
          <a:lstStyle/>
          <a:p>
            <a:r>
              <a:rPr lang="en-US" dirty="0"/>
              <a:t>Specialized Models: Time Series and Survival Analysis</a:t>
            </a:r>
            <a:endParaRPr lang="en-US" dirty="0"/>
          </a:p>
        </p:txBody>
      </p:sp>
      <p:sp>
        <p:nvSpPr>
          <p:cNvPr id="9" name="Slide Number Placeholder 8"/>
          <p:cNvSpPr>
            <a:spLocks noGrp="1"/>
          </p:cNvSpPr>
          <p:nvPr>
            <p:ph type="sldNum" sz="quarter" idx="4"/>
          </p:nvPr>
        </p:nvSpPr>
        <p:spPr/>
        <p:txBody>
          <a:bodyPr/>
          <a:lstStyle/>
          <a:p>
            <a:fld id="{294A09A9-5501-47C1-A89A-A340965A2BE2}" type="slidenum">
              <a:rPr lang="en-US" sz="1800"/>
            </a:fld>
            <a:endParaRPr lang="en-US" sz="1800" dirty="0"/>
          </a:p>
        </p:txBody>
      </p:sp>
      <p:pic>
        <p:nvPicPr>
          <p:cNvPr id="4" name="Picture 3"/>
          <p:cNvPicPr>
            <a:picLocks noChangeAspect="1"/>
          </p:cNvPicPr>
          <p:nvPr/>
        </p:nvPicPr>
        <p:blipFill>
          <a:blip r:embed="rId1"/>
          <a:stretch>
            <a:fillRect/>
          </a:stretch>
        </p:blipFill>
        <p:spPr>
          <a:xfrm>
            <a:off x="1014754" y="1268857"/>
            <a:ext cx="5887162" cy="2502377"/>
          </a:xfrm>
          <a:prstGeom prst="rect">
            <a:avLst/>
          </a:prstGeom>
        </p:spPr>
      </p:pic>
      <p:sp>
        <p:nvSpPr>
          <p:cNvPr id="11" name="TextBox 10"/>
          <p:cNvSpPr txBox="1"/>
          <p:nvPr/>
        </p:nvSpPr>
        <p:spPr>
          <a:xfrm>
            <a:off x="7193938" y="1873715"/>
            <a:ext cx="3701950" cy="646331"/>
          </a:xfrm>
          <a:prstGeom prst="rect">
            <a:avLst/>
          </a:prstGeom>
          <a:noFill/>
        </p:spPr>
        <p:txBody>
          <a:bodyPr wrap="square" rtlCol="0">
            <a:spAutoFit/>
          </a:bodyPr>
          <a:lstStyle/>
          <a:p>
            <a:pPr algn="just"/>
            <a:r>
              <a:rPr lang="en-US" dirty="0"/>
              <a:t>A closer look on last 50 values that forecasted using SARIMA model.  </a:t>
            </a:r>
            <a:endParaRPr lang="en-US" dirty="0"/>
          </a:p>
        </p:txBody>
      </p:sp>
      <p:pic>
        <p:nvPicPr>
          <p:cNvPr id="8" name="Picture 7"/>
          <p:cNvPicPr>
            <a:picLocks noChangeAspect="1"/>
          </p:cNvPicPr>
          <p:nvPr/>
        </p:nvPicPr>
        <p:blipFill>
          <a:blip r:embed="rId2"/>
          <a:stretch>
            <a:fillRect/>
          </a:stretch>
        </p:blipFill>
        <p:spPr>
          <a:xfrm>
            <a:off x="7764966" y="2910290"/>
            <a:ext cx="2219325" cy="333375"/>
          </a:xfrm>
          <a:prstGeom prst="rect">
            <a:avLst/>
          </a:prstGeom>
        </p:spPr>
      </p:pic>
      <p:sp>
        <p:nvSpPr>
          <p:cNvPr id="12" name="TextBox 11"/>
          <p:cNvSpPr txBox="1"/>
          <p:nvPr/>
        </p:nvSpPr>
        <p:spPr>
          <a:xfrm>
            <a:off x="1268915" y="4740626"/>
            <a:ext cx="8498927" cy="646331"/>
          </a:xfrm>
          <a:prstGeom prst="rect">
            <a:avLst/>
          </a:prstGeom>
          <a:noFill/>
        </p:spPr>
        <p:txBody>
          <a:bodyPr wrap="square" rtlCol="0">
            <a:spAutoFit/>
          </a:bodyPr>
          <a:lstStyle/>
          <a:p>
            <a:pPr algn="just"/>
            <a:r>
              <a:rPr lang="en-US" dirty="0"/>
              <a:t>Noticeably, the mean squared error of forecasting by SARIMA become half lesser than the forecasting by smoothing which is considered a measurable advance.  </a:t>
            </a:r>
            <a:endParaRPr lang="en-US" dirty="0"/>
          </a:p>
        </p:txBody>
      </p:sp>
      <p:sp>
        <p:nvSpPr>
          <p:cNvPr id="14" name="TextBox 13"/>
          <p:cNvSpPr txBox="1"/>
          <p:nvPr/>
        </p:nvSpPr>
        <p:spPr>
          <a:xfrm>
            <a:off x="1268915" y="4017007"/>
            <a:ext cx="6096000" cy="369332"/>
          </a:xfrm>
          <a:prstGeom prst="rect">
            <a:avLst/>
          </a:prstGeom>
          <a:noFill/>
        </p:spPr>
        <p:txBody>
          <a:bodyPr wrap="square">
            <a:spAutoFit/>
          </a:bodyPr>
          <a:lstStyle/>
          <a:p>
            <a:pPr algn="l"/>
            <a:r>
              <a:rPr lang="en-US" dirty="0"/>
              <a:t>Mean Square Error : 1085655 ! </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6203" y="210253"/>
            <a:ext cx="9779183" cy="753679"/>
          </a:xfrm>
        </p:spPr>
        <p:txBody>
          <a:bodyPr/>
          <a:lstStyle/>
          <a:p>
            <a:r>
              <a:rPr lang="en-US" sz="2800" dirty="0"/>
              <a:t>Time series Forecasting &amp; ML/DL Analysis and Findings </a:t>
            </a:r>
            <a:endParaRPr lang="en-US" sz="2800" dirty="0"/>
          </a:p>
        </p:txBody>
      </p:sp>
      <p:sp>
        <p:nvSpPr>
          <p:cNvPr id="7" name="Date Placeholder 6"/>
          <p:cNvSpPr>
            <a:spLocks noGrp="1"/>
          </p:cNvSpPr>
          <p:nvPr>
            <p:ph type="dt" sz="half" idx="2"/>
          </p:nvPr>
        </p:nvSpPr>
        <p:spPr>
          <a:xfrm>
            <a:off x="380999" y="6356350"/>
            <a:ext cx="3774542" cy="365125"/>
          </a:xfrm>
        </p:spPr>
        <p:txBody>
          <a:bodyPr/>
          <a:lstStyle/>
          <a:p>
            <a:r>
              <a:rPr lang="en-US" dirty="0"/>
              <a:t>Specialized Models: Time Series and Survival Analysis</a:t>
            </a:r>
            <a:endParaRPr lang="en-US" dirty="0"/>
          </a:p>
        </p:txBody>
      </p:sp>
      <p:sp>
        <p:nvSpPr>
          <p:cNvPr id="9" name="Slide Number Placeholder 8"/>
          <p:cNvSpPr>
            <a:spLocks noGrp="1"/>
          </p:cNvSpPr>
          <p:nvPr>
            <p:ph type="sldNum" sz="quarter" idx="4"/>
          </p:nvPr>
        </p:nvSpPr>
        <p:spPr/>
        <p:txBody>
          <a:bodyPr/>
          <a:lstStyle/>
          <a:p>
            <a:fld id="{294A09A9-5501-47C1-A89A-A340965A2BE2}" type="slidenum">
              <a:rPr lang="en-US" sz="1800"/>
            </a:fld>
            <a:endParaRPr lang="en-US" sz="1800" dirty="0"/>
          </a:p>
        </p:txBody>
      </p:sp>
      <p:sp>
        <p:nvSpPr>
          <p:cNvPr id="10" name="TextBox 9"/>
          <p:cNvSpPr txBox="1"/>
          <p:nvPr/>
        </p:nvSpPr>
        <p:spPr>
          <a:xfrm>
            <a:off x="906203" y="1033777"/>
            <a:ext cx="9613670" cy="369332"/>
          </a:xfrm>
          <a:prstGeom prst="rect">
            <a:avLst/>
          </a:prstGeom>
          <a:noFill/>
        </p:spPr>
        <p:txBody>
          <a:bodyPr wrap="square">
            <a:spAutoFit/>
          </a:bodyPr>
          <a:lstStyle/>
          <a:p>
            <a:pPr>
              <a:lnSpc>
                <a:spcPct val="90000"/>
              </a:lnSpc>
              <a:spcBef>
                <a:spcPts val="1000"/>
              </a:spcBef>
            </a:pPr>
            <a:r>
              <a:rPr lang="en-US" sz="2000" b="1" dirty="0">
                <a:solidFill>
                  <a:srgbClr val="48A1FA"/>
                </a:solidFill>
                <a:latin typeface="+mj-lt"/>
              </a:rPr>
              <a:t>2- Forecasting using SARIMA model (Seasonal Average Integrated Moving Average)</a:t>
            </a:r>
            <a:endParaRPr lang="en-US" sz="2000" b="1" dirty="0">
              <a:solidFill>
                <a:srgbClr val="48A1FA"/>
              </a:solidFill>
              <a:latin typeface="+mj-lt"/>
            </a:endParaRPr>
          </a:p>
        </p:txBody>
      </p:sp>
      <p:sp>
        <p:nvSpPr>
          <p:cNvPr id="11" name="TextBox 10"/>
          <p:cNvSpPr txBox="1"/>
          <p:nvPr/>
        </p:nvSpPr>
        <p:spPr>
          <a:xfrm>
            <a:off x="906203" y="1403109"/>
            <a:ext cx="8361622" cy="341632"/>
          </a:xfrm>
          <a:prstGeom prst="rect">
            <a:avLst/>
          </a:prstGeom>
          <a:noFill/>
        </p:spPr>
        <p:txBody>
          <a:bodyPr wrap="square">
            <a:spAutoFit/>
          </a:bodyPr>
          <a:lstStyle/>
          <a:p>
            <a:pPr>
              <a:lnSpc>
                <a:spcPct val="90000"/>
              </a:lnSpc>
              <a:spcBef>
                <a:spcPts val="1000"/>
              </a:spcBef>
            </a:pPr>
            <a:r>
              <a:rPr lang="en-US" b="1" dirty="0">
                <a:latin typeface="+mj-lt"/>
              </a:rPr>
              <a:t>2.2 SARIMA model and parameters tuning : </a:t>
            </a:r>
            <a:r>
              <a:rPr lang="it-IT" b="1" i="0" dirty="0">
                <a:solidFill>
                  <a:srgbClr val="1F1F1F"/>
                </a:solidFill>
                <a:effectLst/>
                <a:latin typeface="Source Sans Pro" panose="020B0503030403020204" pitchFamily="34" charset="0"/>
              </a:rPr>
              <a:t>SARIMA (p, d, q) (P, D, Q)</a:t>
            </a:r>
            <a:r>
              <a:rPr lang="it-IT" b="0" i="0" dirty="0">
                <a:solidFill>
                  <a:srgbClr val="1F1F1F"/>
                </a:solidFill>
                <a:effectLst/>
                <a:latin typeface="Source Sans Pro" panose="020B0503030403020204" pitchFamily="34" charset="0"/>
              </a:rPr>
              <a:t>.</a:t>
            </a:r>
            <a:endParaRPr lang="en-US" b="1" dirty="0">
              <a:latin typeface="+mj-lt"/>
            </a:endParaRPr>
          </a:p>
        </p:txBody>
      </p:sp>
      <p:pic>
        <p:nvPicPr>
          <p:cNvPr id="12" name="Picture 11"/>
          <p:cNvPicPr>
            <a:picLocks noChangeAspect="1"/>
          </p:cNvPicPr>
          <p:nvPr/>
        </p:nvPicPr>
        <p:blipFill>
          <a:blip r:embed="rId1"/>
          <a:stretch>
            <a:fillRect/>
          </a:stretch>
        </p:blipFill>
        <p:spPr>
          <a:xfrm>
            <a:off x="1301903" y="1826939"/>
            <a:ext cx="3120338" cy="4105581"/>
          </a:xfrm>
          <a:prstGeom prst="rect">
            <a:avLst/>
          </a:prstGeom>
        </p:spPr>
      </p:pic>
      <p:sp>
        <p:nvSpPr>
          <p:cNvPr id="13" name="TextBox 12"/>
          <p:cNvSpPr txBox="1"/>
          <p:nvPr/>
        </p:nvSpPr>
        <p:spPr>
          <a:xfrm>
            <a:off x="4794098" y="1960307"/>
            <a:ext cx="6095999" cy="3416320"/>
          </a:xfrm>
          <a:prstGeom prst="rect">
            <a:avLst/>
          </a:prstGeom>
          <a:noFill/>
        </p:spPr>
        <p:txBody>
          <a:bodyPr wrap="square" rtlCol="0">
            <a:spAutoFit/>
          </a:bodyPr>
          <a:lstStyle/>
          <a:p>
            <a:pPr algn="just"/>
            <a:r>
              <a:rPr lang="en-US" dirty="0"/>
              <a:t>After about 5 mins of searching about the best SARIMAS Parameters that fits with our cars sales data we got the following results:  </a:t>
            </a:r>
            <a:endParaRPr lang="en-US" dirty="0"/>
          </a:p>
          <a:p>
            <a:pPr algn="just"/>
            <a:endParaRPr lang="en-US" dirty="0"/>
          </a:p>
          <a:p>
            <a:pPr algn="just"/>
            <a:endParaRPr lang="en-US" dirty="0"/>
          </a:p>
          <a:p>
            <a:pPr algn="just"/>
            <a:r>
              <a:rPr lang="en-US" b="1" dirty="0">
                <a:solidFill>
                  <a:srgbClr val="48A1FA"/>
                </a:solidFill>
              </a:rPr>
              <a:t>Best model:  </a:t>
            </a:r>
            <a:r>
              <a:rPr lang="en-US" dirty="0"/>
              <a:t>ARIMA(2,0,2)(2,1,1)[12]          </a:t>
            </a:r>
            <a:endParaRPr lang="en-US" dirty="0"/>
          </a:p>
          <a:p>
            <a:pPr algn="just"/>
            <a:r>
              <a:rPr lang="en-US" b="1" dirty="0">
                <a:solidFill>
                  <a:srgbClr val="48A1FA"/>
                </a:solidFill>
              </a:rPr>
              <a:t>Total fit time: </a:t>
            </a:r>
            <a:r>
              <a:rPr lang="en-US" dirty="0"/>
              <a:t>278.712 seconds</a:t>
            </a:r>
            <a:endParaRPr lang="en-US" dirty="0"/>
          </a:p>
          <a:p>
            <a:pPr algn="just"/>
            <a:r>
              <a:rPr lang="en-US" b="1" dirty="0">
                <a:solidFill>
                  <a:srgbClr val="48A1FA"/>
                </a:solidFill>
              </a:rPr>
              <a:t>AIC: </a:t>
            </a:r>
            <a:r>
              <a:rPr lang="en-US" dirty="0"/>
              <a:t>6543.363639474435</a:t>
            </a:r>
            <a:endParaRPr lang="en-US" dirty="0"/>
          </a:p>
          <a:p>
            <a:pPr algn="just"/>
            <a:endParaRPr lang="en-US" dirty="0"/>
          </a:p>
          <a:p>
            <a:pPr algn="just"/>
            <a:r>
              <a:rPr lang="en-US" dirty="0"/>
              <a:t>Now we are going to fit these parameters with a SARIMA model and test the model in terms of achieving correct forecasting.</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6203" y="67915"/>
            <a:ext cx="9779183" cy="753679"/>
          </a:xfrm>
        </p:spPr>
        <p:txBody>
          <a:bodyPr/>
          <a:lstStyle/>
          <a:p>
            <a:r>
              <a:rPr lang="en-US" sz="2800" dirty="0"/>
              <a:t>Time series Forecasting &amp; ML/DL Analysis and Findings </a:t>
            </a:r>
            <a:endParaRPr lang="en-US" sz="1050" dirty="0">
              <a:solidFill>
                <a:srgbClr val="006C31"/>
              </a:solidFill>
              <a:ea typeface="+mn-ea"/>
              <a:cs typeface="+mn-cs"/>
            </a:endParaRPr>
          </a:p>
        </p:txBody>
      </p:sp>
      <p:sp>
        <p:nvSpPr>
          <p:cNvPr id="7" name="Date Placeholder 6"/>
          <p:cNvSpPr>
            <a:spLocks noGrp="1"/>
          </p:cNvSpPr>
          <p:nvPr>
            <p:ph type="dt" sz="half" idx="2"/>
          </p:nvPr>
        </p:nvSpPr>
        <p:spPr>
          <a:xfrm>
            <a:off x="380999" y="6356350"/>
            <a:ext cx="4057216" cy="365125"/>
          </a:xfrm>
        </p:spPr>
        <p:txBody>
          <a:bodyPr/>
          <a:lstStyle/>
          <a:p>
            <a:r>
              <a:rPr lang="en-US" dirty="0"/>
              <a:t>Specialized Models: Time Series and Survival Analysis</a:t>
            </a:r>
            <a:endParaRPr lang="en-US" dirty="0"/>
          </a:p>
        </p:txBody>
      </p:sp>
      <p:sp>
        <p:nvSpPr>
          <p:cNvPr id="9" name="Slide Number Placeholder 8"/>
          <p:cNvSpPr>
            <a:spLocks noGrp="1"/>
          </p:cNvSpPr>
          <p:nvPr>
            <p:ph type="sldNum" sz="quarter" idx="4"/>
          </p:nvPr>
        </p:nvSpPr>
        <p:spPr/>
        <p:txBody>
          <a:bodyPr/>
          <a:lstStyle/>
          <a:p>
            <a:fld id="{294A09A9-5501-47C1-A89A-A340965A2BE2}" type="slidenum">
              <a:rPr lang="en-US" sz="1800"/>
            </a:fld>
            <a:endParaRPr lang="en-US" sz="1800" dirty="0"/>
          </a:p>
        </p:txBody>
      </p:sp>
      <p:sp>
        <p:nvSpPr>
          <p:cNvPr id="20" name="TextBox 19"/>
          <p:cNvSpPr txBox="1"/>
          <p:nvPr/>
        </p:nvSpPr>
        <p:spPr>
          <a:xfrm>
            <a:off x="6772275" y="1219200"/>
            <a:ext cx="245580" cy="369332"/>
          </a:xfrm>
          <a:prstGeom prst="rect">
            <a:avLst/>
          </a:prstGeom>
          <a:noFill/>
        </p:spPr>
        <p:txBody>
          <a:bodyPr wrap="none" rtlCol="0">
            <a:spAutoFit/>
          </a:bodyPr>
          <a:lstStyle/>
          <a:p>
            <a:r>
              <a:rPr lang="en-US" dirty="0"/>
              <a:t> </a:t>
            </a:r>
            <a:endParaRPr lang="en-US" dirty="0"/>
          </a:p>
        </p:txBody>
      </p:sp>
      <p:sp>
        <p:nvSpPr>
          <p:cNvPr id="108" name="TextBox 107"/>
          <p:cNvSpPr txBox="1"/>
          <p:nvPr/>
        </p:nvSpPr>
        <p:spPr>
          <a:xfrm>
            <a:off x="906203" y="940098"/>
            <a:ext cx="8477237" cy="369332"/>
          </a:xfrm>
          <a:prstGeom prst="rect">
            <a:avLst/>
          </a:prstGeom>
          <a:noFill/>
        </p:spPr>
        <p:txBody>
          <a:bodyPr wrap="square">
            <a:spAutoFit/>
          </a:bodyPr>
          <a:lstStyle/>
          <a:p>
            <a:pPr>
              <a:lnSpc>
                <a:spcPct val="90000"/>
              </a:lnSpc>
              <a:spcBef>
                <a:spcPts val="1000"/>
              </a:spcBef>
            </a:pPr>
            <a:r>
              <a:rPr lang="en-US" sz="2000" b="1" dirty="0">
                <a:solidFill>
                  <a:srgbClr val="48A1FA"/>
                </a:solidFill>
                <a:latin typeface="+mj-lt"/>
              </a:rPr>
              <a:t>2- SARIMA model and parameters tuning</a:t>
            </a:r>
            <a:endParaRPr lang="en-US" sz="2000" b="1" dirty="0">
              <a:solidFill>
                <a:srgbClr val="48A1FA"/>
              </a:solidFill>
              <a:latin typeface="+mj-lt"/>
            </a:endParaRPr>
          </a:p>
        </p:txBody>
      </p:sp>
      <p:pic>
        <p:nvPicPr>
          <p:cNvPr id="10" name="Picture 9"/>
          <p:cNvPicPr>
            <a:picLocks noChangeAspect="1"/>
          </p:cNvPicPr>
          <p:nvPr/>
        </p:nvPicPr>
        <p:blipFill>
          <a:blip r:embed="rId1"/>
          <a:stretch>
            <a:fillRect/>
          </a:stretch>
        </p:blipFill>
        <p:spPr>
          <a:xfrm>
            <a:off x="1250049" y="5504482"/>
            <a:ext cx="2228850" cy="276225"/>
          </a:xfrm>
          <a:prstGeom prst="rect">
            <a:avLst/>
          </a:prstGeom>
        </p:spPr>
      </p:pic>
      <p:pic>
        <p:nvPicPr>
          <p:cNvPr id="16" name="Picture 15"/>
          <p:cNvPicPr>
            <a:picLocks noChangeAspect="1"/>
          </p:cNvPicPr>
          <p:nvPr/>
        </p:nvPicPr>
        <p:blipFill>
          <a:blip r:embed="rId2"/>
          <a:stretch>
            <a:fillRect/>
          </a:stretch>
        </p:blipFill>
        <p:spPr>
          <a:xfrm>
            <a:off x="1250049" y="4165588"/>
            <a:ext cx="3846772" cy="1039477"/>
          </a:xfrm>
          <a:prstGeom prst="rect">
            <a:avLst/>
          </a:prstGeom>
        </p:spPr>
      </p:pic>
      <p:pic>
        <p:nvPicPr>
          <p:cNvPr id="18" name="Picture 17"/>
          <p:cNvPicPr>
            <a:picLocks noChangeAspect="1"/>
          </p:cNvPicPr>
          <p:nvPr/>
        </p:nvPicPr>
        <p:blipFill>
          <a:blip r:embed="rId3"/>
          <a:stretch>
            <a:fillRect/>
          </a:stretch>
        </p:blipFill>
        <p:spPr>
          <a:xfrm>
            <a:off x="920109" y="1454868"/>
            <a:ext cx="8353425" cy="2565282"/>
          </a:xfrm>
          <a:prstGeom prst="rect">
            <a:avLst/>
          </a:prstGeom>
        </p:spPr>
      </p:pic>
      <p:sp>
        <p:nvSpPr>
          <p:cNvPr id="21" name="TextBox 20"/>
          <p:cNvSpPr txBox="1"/>
          <p:nvPr/>
        </p:nvSpPr>
        <p:spPr>
          <a:xfrm>
            <a:off x="5459915" y="4303379"/>
            <a:ext cx="4274635" cy="1200329"/>
          </a:xfrm>
          <a:prstGeom prst="rect">
            <a:avLst/>
          </a:prstGeom>
          <a:noFill/>
        </p:spPr>
        <p:txBody>
          <a:bodyPr wrap="square" rtlCol="0">
            <a:spAutoFit/>
          </a:bodyPr>
          <a:lstStyle/>
          <a:p>
            <a:pPr algn="just"/>
            <a:r>
              <a:rPr lang="en-US" dirty="0"/>
              <a:t>the previous model achieved a better results in terms of MSE compared to this model, but still the difference is between two models is so small. </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6203" y="210253"/>
            <a:ext cx="9779183" cy="753679"/>
          </a:xfrm>
        </p:spPr>
        <p:txBody>
          <a:bodyPr/>
          <a:lstStyle/>
          <a:p>
            <a:r>
              <a:rPr lang="en-US" sz="2800" dirty="0"/>
              <a:t>Time series Forecasting &amp; ML/DL Analysis and Findings </a:t>
            </a:r>
            <a:endParaRPr lang="en-US" sz="2800" dirty="0"/>
          </a:p>
        </p:txBody>
      </p:sp>
      <p:sp>
        <p:nvSpPr>
          <p:cNvPr id="7" name="Date Placeholder 6"/>
          <p:cNvSpPr>
            <a:spLocks noGrp="1"/>
          </p:cNvSpPr>
          <p:nvPr>
            <p:ph type="dt" sz="half" idx="2"/>
          </p:nvPr>
        </p:nvSpPr>
        <p:spPr>
          <a:xfrm>
            <a:off x="380999" y="6356350"/>
            <a:ext cx="3774542" cy="365125"/>
          </a:xfrm>
        </p:spPr>
        <p:txBody>
          <a:bodyPr/>
          <a:lstStyle/>
          <a:p>
            <a:r>
              <a:rPr lang="en-US" dirty="0"/>
              <a:t>Specialized Models: Time Series and Survival Analysis</a:t>
            </a:r>
            <a:endParaRPr lang="en-US" dirty="0"/>
          </a:p>
        </p:txBody>
      </p:sp>
      <p:sp>
        <p:nvSpPr>
          <p:cNvPr id="9" name="Slide Number Placeholder 8"/>
          <p:cNvSpPr>
            <a:spLocks noGrp="1"/>
          </p:cNvSpPr>
          <p:nvPr>
            <p:ph type="sldNum" sz="quarter" idx="4"/>
          </p:nvPr>
        </p:nvSpPr>
        <p:spPr/>
        <p:txBody>
          <a:bodyPr/>
          <a:lstStyle/>
          <a:p>
            <a:fld id="{294A09A9-5501-47C1-A89A-A340965A2BE2}" type="slidenum">
              <a:rPr lang="en-US" sz="1800"/>
            </a:fld>
            <a:endParaRPr lang="en-US" sz="1800" dirty="0"/>
          </a:p>
        </p:txBody>
      </p:sp>
      <p:sp>
        <p:nvSpPr>
          <p:cNvPr id="10" name="TextBox 9"/>
          <p:cNvSpPr txBox="1"/>
          <p:nvPr/>
        </p:nvSpPr>
        <p:spPr>
          <a:xfrm>
            <a:off x="906203" y="1033777"/>
            <a:ext cx="9613670" cy="369332"/>
          </a:xfrm>
          <a:prstGeom prst="rect">
            <a:avLst/>
          </a:prstGeom>
          <a:noFill/>
        </p:spPr>
        <p:txBody>
          <a:bodyPr wrap="square">
            <a:spAutoFit/>
          </a:bodyPr>
          <a:lstStyle/>
          <a:p>
            <a:pPr>
              <a:lnSpc>
                <a:spcPct val="90000"/>
              </a:lnSpc>
              <a:spcBef>
                <a:spcPts val="1000"/>
              </a:spcBef>
            </a:pPr>
            <a:r>
              <a:rPr lang="en-US" sz="2000" b="1" dirty="0">
                <a:solidFill>
                  <a:srgbClr val="48A1FA"/>
                </a:solidFill>
                <a:latin typeface="+mj-lt"/>
              </a:rPr>
              <a:t>2- Forecasting using SARIMA model (Seasonal Average Integrated Moving Average)</a:t>
            </a:r>
            <a:endParaRPr lang="en-US" sz="2000" b="1" dirty="0">
              <a:solidFill>
                <a:srgbClr val="48A1FA"/>
              </a:solidFill>
              <a:latin typeface="+mj-lt"/>
            </a:endParaRPr>
          </a:p>
        </p:txBody>
      </p:sp>
      <p:sp>
        <p:nvSpPr>
          <p:cNvPr id="11" name="TextBox 10"/>
          <p:cNvSpPr txBox="1"/>
          <p:nvPr/>
        </p:nvSpPr>
        <p:spPr>
          <a:xfrm>
            <a:off x="906203" y="1403109"/>
            <a:ext cx="8361622" cy="341632"/>
          </a:xfrm>
          <a:prstGeom prst="rect">
            <a:avLst/>
          </a:prstGeom>
          <a:noFill/>
        </p:spPr>
        <p:txBody>
          <a:bodyPr wrap="square">
            <a:spAutoFit/>
          </a:bodyPr>
          <a:lstStyle/>
          <a:p>
            <a:pPr>
              <a:lnSpc>
                <a:spcPct val="90000"/>
              </a:lnSpc>
              <a:spcBef>
                <a:spcPts val="1000"/>
              </a:spcBef>
            </a:pPr>
            <a:r>
              <a:rPr lang="en-US" b="1" dirty="0">
                <a:latin typeface="+mj-lt"/>
              </a:rPr>
              <a:t>2.2 SARIMA model and parameters tuning : </a:t>
            </a:r>
            <a:r>
              <a:rPr lang="it-IT" b="1" i="0" dirty="0">
                <a:solidFill>
                  <a:srgbClr val="1F1F1F"/>
                </a:solidFill>
                <a:effectLst/>
                <a:latin typeface="Source Sans Pro" panose="020B0503030403020204" pitchFamily="34" charset="0"/>
              </a:rPr>
              <a:t>SARIMA (p, d, q) (P, D, Q)</a:t>
            </a:r>
            <a:r>
              <a:rPr lang="it-IT" b="0" i="0" dirty="0">
                <a:solidFill>
                  <a:srgbClr val="1F1F1F"/>
                </a:solidFill>
                <a:effectLst/>
                <a:latin typeface="Source Sans Pro" panose="020B0503030403020204" pitchFamily="34" charset="0"/>
              </a:rPr>
              <a:t>.</a:t>
            </a:r>
            <a:endParaRPr lang="en-US" b="1" dirty="0">
              <a:latin typeface="+mj-lt"/>
            </a:endParaRPr>
          </a:p>
        </p:txBody>
      </p:sp>
      <p:pic>
        <p:nvPicPr>
          <p:cNvPr id="12" name="Picture 11"/>
          <p:cNvPicPr>
            <a:picLocks noChangeAspect="1"/>
          </p:cNvPicPr>
          <p:nvPr/>
        </p:nvPicPr>
        <p:blipFill>
          <a:blip r:embed="rId1"/>
          <a:stretch>
            <a:fillRect/>
          </a:stretch>
        </p:blipFill>
        <p:spPr>
          <a:xfrm>
            <a:off x="1301903" y="1826939"/>
            <a:ext cx="3120338" cy="4105581"/>
          </a:xfrm>
          <a:prstGeom prst="rect">
            <a:avLst/>
          </a:prstGeom>
        </p:spPr>
      </p:pic>
      <p:sp>
        <p:nvSpPr>
          <p:cNvPr id="13" name="TextBox 12"/>
          <p:cNvSpPr txBox="1"/>
          <p:nvPr/>
        </p:nvSpPr>
        <p:spPr>
          <a:xfrm>
            <a:off x="4794098" y="1960307"/>
            <a:ext cx="6095999" cy="3416320"/>
          </a:xfrm>
          <a:prstGeom prst="rect">
            <a:avLst/>
          </a:prstGeom>
          <a:noFill/>
        </p:spPr>
        <p:txBody>
          <a:bodyPr wrap="square" rtlCol="0">
            <a:spAutoFit/>
          </a:bodyPr>
          <a:lstStyle/>
          <a:p>
            <a:pPr algn="just"/>
            <a:r>
              <a:rPr lang="en-US" dirty="0"/>
              <a:t>After about 5 mins of searching about the best SARIMAS Parameters that fits with our cars sales data we got the following results:  </a:t>
            </a:r>
            <a:endParaRPr lang="en-US" dirty="0"/>
          </a:p>
          <a:p>
            <a:pPr algn="just"/>
            <a:endParaRPr lang="en-US" dirty="0"/>
          </a:p>
          <a:p>
            <a:pPr algn="just"/>
            <a:endParaRPr lang="en-US" dirty="0"/>
          </a:p>
          <a:p>
            <a:pPr algn="just"/>
            <a:r>
              <a:rPr lang="en-US" b="1" dirty="0">
                <a:solidFill>
                  <a:srgbClr val="48A1FA"/>
                </a:solidFill>
              </a:rPr>
              <a:t>Best model:  </a:t>
            </a:r>
            <a:r>
              <a:rPr lang="en-US" dirty="0"/>
              <a:t>ARIMA(2,0,2)(2,1,1)[12]          </a:t>
            </a:r>
            <a:endParaRPr lang="en-US" dirty="0"/>
          </a:p>
          <a:p>
            <a:pPr algn="just"/>
            <a:r>
              <a:rPr lang="en-US" b="1" dirty="0">
                <a:solidFill>
                  <a:srgbClr val="48A1FA"/>
                </a:solidFill>
              </a:rPr>
              <a:t>Total fit time: </a:t>
            </a:r>
            <a:r>
              <a:rPr lang="en-US" dirty="0"/>
              <a:t>278.712 seconds</a:t>
            </a:r>
            <a:endParaRPr lang="en-US" dirty="0"/>
          </a:p>
          <a:p>
            <a:pPr algn="just"/>
            <a:r>
              <a:rPr lang="en-US" b="1" dirty="0">
                <a:solidFill>
                  <a:srgbClr val="48A1FA"/>
                </a:solidFill>
              </a:rPr>
              <a:t>AIC: </a:t>
            </a:r>
            <a:r>
              <a:rPr lang="en-US" dirty="0"/>
              <a:t>6543.363639474435</a:t>
            </a:r>
            <a:endParaRPr lang="en-US" dirty="0"/>
          </a:p>
          <a:p>
            <a:pPr algn="just"/>
            <a:endParaRPr lang="en-US" dirty="0"/>
          </a:p>
          <a:p>
            <a:pPr algn="just"/>
            <a:r>
              <a:rPr lang="en-US" dirty="0"/>
              <a:t>Now we are going to fit these parameters with a SARIMA model and test the model in terms of achieving correct forecasting.</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6203" y="145535"/>
            <a:ext cx="9779183" cy="753679"/>
          </a:xfrm>
        </p:spPr>
        <p:txBody>
          <a:bodyPr/>
          <a:lstStyle/>
          <a:p>
            <a:r>
              <a:rPr lang="en-US" sz="2800" dirty="0"/>
              <a:t>Time series Forecasting &amp; ML/DL Analysis and Findings </a:t>
            </a:r>
            <a:endParaRPr lang="en-US" sz="1050" dirty="0">
              <a:solidFill>
                <a:srgbClr val="006C31"/>
              </a:solidFill>
              <a:ea typeface="+mn-ea"/>
              <a:cs typeface="+mn-cs"/>
            </a:endParaRPr>
          </a:p>
        </p:txBody>
      </p:sp>
      <p:sp>
        <p:nvSpPr>
          <p:cNvPr id="7" name="Date Placeholder 6"/>
          <p:cNvSpPr>
            <a:spLocks noGrp="1"/>
          </p:cNvSpPr>
          <p:nvPr>
            <p:ph type="dt" sz="half" idx="2"/>
          </p:nvPr>
        </p:nvSpPr>
        <p:spPr>
          <a:xfrm>
            <a:off x="380999" y="6356350"/>
            <a:ext cx="4057216" cy="365125"/>
          </a:xfrm>
        </p:spPr>
        <p:txBody>
          <a:bodyPr/>
          <a:lstStyle/>
          <a:p>
            <a:r>
              <a:rPr lang="en-US" dirty="0"/>
              <a:t>Specialized Models: Time Series and Survival Analysis</a:t>
            </a:r>
            <a:endParaRPr lang="en-US" dirty="0"/>
          </a:p>
        </p:txBody>
      </p:sp>
      <p:sp>
        <p:nvSpPr>
          <p:cNvPr id="9" name="Slide Number Placeholder 8"/>
          <p:cNvSpPr>
            <a:spLocks noGrp="1"/>
          </p:cNvSpPr>
          <p:nvPr>
            <p:ph type="sldNum" sz="quarter" idx="4"/>
          </p:nvPr>
        </p:nvSpPr>
        <p:spPr/>
        <p:txBody>
          <a:bodyPr/>
          <a:lstStyle/>
          <a:p>
            <a:fld id="{294A09A9-5501-47C1-A89A-A340965A2BE2}" type="slidenum">
              <a:rPr lang="en-US" sz="1800"/>
            </a:fld>
            <a:endParaRPr lang="en-US" sz="1800" dirty="0"/>
          </a:p>
        </p:txBody>
      </p:sp>
      <p:sp>
        <p:nvSpPr>
          <p:cNvPr id="20" name="TextBox 19"/>
          <p:cNvSpPr txBox="1"/>
          <p:nvPr/>
        </p:nvSpPr>
        <p:spPr>
          <a:xfrm>
            <a:off x="6772275" y="1219200"/>
            <a:ext cx="245580" cy="369332"/>
          </a:xfrm>
          <a:prstGeom prst="rect">
            <a:avLst/>
          </a:prstGeom>
          <a:noFill/>
        </p:spPr>
        <p:txBody>
          <a:bodyPr wrap="none" rtlCol="0">
            <a:spAutoFit/>
          </a:bodyPr>
          <a:lstStyle/>
          <a:p>
            <a:r>
              <a:rPr lang="en-US" dirty="0"/>
              <a:t> </a:t>
            </a:r>
            <a:endParaRPr lang="en-US" dirty="0"/>
          </a:p>
        </p:txBody>
      </p:sp>
      <p:sp>
        <p:nvSpPr>
          <p:cNvPr id="108" name="TextBox 107"/>
          <p:cNvSpPr txBox="1"/>
          <p:nvPr/>
        </p:nvSpPr>
        <p:spPr>
          <a:xfrm>
            <a:off x="906203" y="940098"/>
            <a:ext cx="8477237" cy="369332"/>
          </a:xfrm>
          <a:prstGeom prst="rect">
            <a:avLst/>
          </a:prstGeom>
          <a:noFill/>
        </p:spPr>
        <p:txBody>
          <a:bodyPr wrap="square">
            <a:spAutoFit/>
          </a:bodyPr>
          <a:lstStyle/>
          <a:p>
            <a:pPr>
              <a:lnSpc>
                <a:spcPct val="90000"/>
              </a:lnSpc>
              <a:spcBef>
                <a:spcPts val="1000"/>
              </a:spcBef>
            </a:pPr>
            <a:r>
              <a:rPr lang="en-US" sz="2000" b="1" dirty="0">
                <a:solidFill>
                  <a:srgbClr val="48A1FA"/>
                </a:solidFill>
                <a:latin typeface="+mj-lt"/>
              </a:rPr>
              <a:t>2- SARIMA model and parameters tuning</a:t>
            </a:r>
            <a:endParaRPr lang="en-US" sz="2000" b="1" dirty="0">
              <a:solidFill>
                <a:srgbClr val="48A1FA"/>
              </a:solidFill>
              <a:latin typeface="+mj-lt"/>
            </a:endParaRPr>
          </a:p>
        </p:txBody>
      </p:sp>
      <p:pic>
        <p:nvPicPr>
          <p:cNvPr id="4" name="Picture 3"/>
          <p:cNvPicPr>
            <a:picLocks noChangeAspect="1"/>
          </p:cNvPicPr>
          <p:nvPr/>
        </p:nvPicPr>
        <p:blipFill>
          <a:blip r:embed="rId1"/>
          <a:stretch>
            <a:fillRect/>
          </a:stretch>
        </p:blipFill>
        <p:spPr>
          <a:xfrm>
            <a:off x="1042613" y="1933525"/>
            <a:ext cx="9110663" cy="2781399"/>
          </a:xfrm>
          <a:prstGeom prst="rect">
            <a:avLst/>
          </a:prstGeom>
        </p:spPr>
      </p:pic>
      <p:sp>
        <p:nvSpPr>
          <p:cNvPr id="13" name="TextBox 12"/>
          <p:cNvSpPr txBox="1"/>
          <p:nvPr/>
        </p:nvSpPr>
        <p:spPr>
          <a:xfrm>
            <a:off x="921855" y="1300968"/>
            <a:ext cx="6096000" cy="341632"/>
          </a:xfrm>
          <a:prstGeom prst="rect">
            <a:avLst/>
          </a:prstGeom>
          <a:noFill/>
        </p:spPr>
        <p:txBody>
          <a:bodyPr wrap="square">
            <a:spAutoFit/>
          </a:bodyPr>
          <a:lstStyle/>
          <a:p>
            <a:pPr>
              <a:lnSpc>
                <a:spcPct val="90000"/>
              </a:lnSpc>
              <a:spcBef>
                <a:spcPts val="1000"/>
              </a:spcBef>
            </a:pPr>
            <a:r>
              <a:rPr lang="en-US" b="1" dirty="0">
                <a:latin typeface="+mj-lt"/>
              </a:rPr>
              <a:t>2.3 SARIMA Future Forecasting</a:t>
            </a:r>
            <a:endParaRPr lang="en-US" b="1" dirty="0">
              <a:latin typeface="+mj-l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6203" y="145535"/>
            <a:ext cx="9779183" cy="753679"/>
          </a:xfrm>
        </p:spPr>
        <p:txBody>
          <a:bodyPr/>
          <a:lstStyle/>
          <a:p>
            <a:r>
              <a:rPr lang="en-US" sz="2800" dirty="0"/>
              <a:t>Time series Forecasting &amp; ML/DL Analysis and Findings </a:t>
            </a:r>
            <a:endParaRPr lang="en-US" sz="1050" dirty="0">
              <a:solidFill>
                <a:srgbClr val="006C31"/>
              </a:solidFill>
              <a:ea typeface="+mn-ea"/>
              <a:cs typeface="+mn-cs"/>
            </a:endParaRPr>
          </a:p>
        </p:txBody>
      </p:sp>
      <p:sp>
        <p:nvSpPr>
          <p:cNvPr id="7" name="Date Placeholder 6"/>
          <p:cNvSpPr>
            <a:spLocks noGrp="1"/>
          </p:cNvSpPr>
          <p:nvPr>
            <p:ph type="dt" sz="half" idx="2"/>
          </p:nvPr>
        </p:nvSpPr>
        <p:spPr>
          <a:xfrm>
            <a:off x="380999" y="6356350"/>
            <a:ext cx="4057216" cy="365125"/>
          </a:xfrm>
        </p:spPr>
        <p:txBody>
          <a:bodyPr/>
          <a:lstStyle/>
          <a:p>
            <a:r>
              <a:rPr lang="en-US" dirty="0"/>
              <a:t>Specialized Models: Time Series and Survival Analysis</a:t>
            </a:r>
            <a:endParaRPr lang="en-US" dirty="0"/>
          </a:p>
        </p:txBody>
      </p:sp>
      <p:sp>
        <p:nvSpPr>
          <p:cNvPr id="9" name="Slide Number Placeholder 8"/>
          <p:cNvSpPr>
            <a:spLocks noGrp="1"/>
          </p:cNvSpPr>
          <p:nvPr>
            <p:ph type="sldNum" sz="quarter" idx="4"/>
          </p:nvPr>
        </p:nvSpPr>
        <p:spPr/>
        <p:txBody>
          <a:bodyPr/>
          <a:lstStyle/>
          <a:p>
            <a:fld id="{294A09A9-5501-47C1-A89A-A340965A2BE2}" type="slidenum">
              <a:rPr lang="en-US" sz="1800"/>
            </a:fld>
            <a:endParaRPr lang="en-US" sz="1800" dirty="0"/>
          </a:p>
        </p:txBody>
      </p:sp>
      <p:sp>
        <p:nvSpPr>
          <p:cNvPr id="20" name="TextBox 19"/>
          <p:cNvSpPr txBox="1"/>
          <p:nvPr/>
        </p:nvSpPr>
        <p:spPr>
          <a:xfrm>
            <a:off x="6772275" y="1219200"/>
            <a:ext cx="245580" cy="369332"/>
          </a:xfrm>
          <a:prstGeom prst="rect">
            <a:avLst/>
          </a:prstGeom>
          <a:noFill/>
        </p:spPr>
        <p:txBody>
          <a:bodyPr wrap="none" rtlCol="0">
            <a:spAutoFit/>
          </a:bodyPr>
          <a:lstStyle/>
          <a:p>
            <a:r>
              <a:rPr lang="en-US" dirty="0"/>
              <a:t> </a:t>
            </a:r>
            <a:endParaRPr lang="en-US" dirty="0"/>
          </a:p>
        </p:txBody>
      </p:sp>
      <p:sp>
        <p:nvSpPr>
          <p:cNvPr id="108" name="TextBox 107"/>
          <p:cNvSpPr txBox="1"/>
          <p:nvPr/>
        </p:nvSpPr>
        <p:spPr>
          <a:xfrm>
            <a:off x="1045680" y="878593"/>
            <a:ext cx="8477237" cy="369332"/>
          </a:xfrm>
          <a:prstGeom prst="rect">
            <a:avLst/>
          </a:prstGeom>
          <a:noFill/>
        </p:spPr>
        <p:txBody>
          <a:bodyPr wrap="square">
            <a:spAutoFit/>
          </a:bodyPr>
          <a:lstStyle/>
          <a:p>
            <a:pPr>
              <a:lnSpc>
                <a:spcPct val="90000"/>
              </a:lnSpc>
              <a:spcBef>
                <a:spcPts val="1000"/>
              </a:spcBef>
            </a:pPr>
            <a:r>
              <a:rPr lang="en-US" sz="2000" b="1" dirty="0">
                <a:solidFill>
                  <a:srgbClr val="48A1FA"/>
                </a:solidFill>
                <a:latin typeface="+mj-lt"/>
              </a:rPr>
              <a:t>3- Time Series Prediction by Deep Learning (Neural Network)</a:t>
            </a:r>
            <a:endParaRPr lang="en-US" sz="2000" b="1" dirty="0">
              <a:solidFill>
                <a:srgbClr val="48A1FA"/>
              </a:solidFill>
              <a:latin typeface="+mj-lt"/>
            </a:endParaRPr>
          </a:p>
        </p:txBody>
      </p:sp>
      <p:sp>
        <p:nvSpPr>
          <p:cNvPr id="13" name="TextBox 12"/>
          <p:cNvSpPr txBox="1"/>
          <p:nvPr/>
        </p:nvSpPr>
        <p:spPr>
          <a:xfrm>
            <a:off x="1045680" y="1290640"/>
            <a:ext cx="6096000" cy="341632"/>
          </a:xfrm>
          <a:prstGeom prst="rect">
            <a:avLst/>
          </a:prstGeom>
          <a:noFill/>
        </p:spPr>
        <p:txBody>
          <a:bodyPr wrap="square">
            <a:spAutoFit/>
          </a:bodyPr>
          <a:lstStyle/>
          <a:p>
            <a:pPr>
              <a:lnSpc>
                <a:spcPct val="90000"/>
              </a:lnSpc>
              <a:spcBef>
                <a:spcPts val="1000"/>
              </a:spcBef>
            </a:pPr>
            <a:r>
              <a:rPr lang="en-US" b="1" dirty="0">
                <a:latin typeface="+mj-lt"/>
              </a:rPr>
              <a:t>3.1 Neural Network Prediction.  </a:t>
            </a:r>
            <a:endParaRPr lang="en-US" b="1" dirty="0">
              <a:latin typeface="+mj-lt"/>
            </a:endParaRPr>
          </a:p>
        </p:txBody>
      </p:sp>
      <p:pic>
        <p:nvPicPr>
          <p:cNvPr id="5" name="Picture 4"/>
          <p:cNvPicPr>
            <a:picLocks noChangeAspect="1"/>
          </p:cNvPicPr>
          <p:nvPr/>
        </p:nvPicPr>
        <p:blipFill rotWithShape="1">
          <a:blip r:embed="rId1"/>
          <a:srcRect b="2139"/>
          <a:stretch>
            <a:fillRect/>
          </a:stretch>
        </p:blipFill>
        <p:spPr>
          <a:xfrm>
            <a:off x="1281416" y="1834783"/>
            <a:ext cx="7834313" cy="2567018"/>
          </a:xfrm>
          <a:prstGeom prst="rect">
            <a:avLst/>
          </a:prstGeom>
        </p:spPr>
      </p:pic>
      <p:pic>
        <p:nvPicPr>
          <p:cNvPr id="8" name="Picture 7"/>
          <p:cNvPicPr>
            <a:picLocks noChangeAspect="1"/>
          </p:cNvPicPr>
          <p:nvPr/>
        </p:nvPicPr>
        <p:blipFill>
          <a:blip r:embed="rId2"/>
          <a:stretch>
            <a:fillRect/>
          </a:stretch>
        </p:blipFill>
        <p:spPr>
          <a:xfrm>
            <a:off x="1485900" y="4779000"/>
            <a:ext cx="3448050" cy="60007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9961" y="1791018"/>
            <a:ext cx="8412079" cy="2810460"/>
          </a:xfrm>
        </p:spPr>
        <p:txBody>
          <a:bodyPr>
            <a:normAutofit fontScale="90000"/>
          </a:bodyPr>
          <a:lstStyle/>
          <a:p>
            <a:r>
              <a:rPr lang="en-US" sz="6000" dirty="0"/>
              <a:t>Models flaws and strengths and advanced steps</a:t>
            </a:r>
            <a:endParaRPr lang="en-US" sz="6000" dirty="0"/>
          </a:p>
        </p:txBody>
      </p:sp>
      <p:sp>
        <p:nvSpPr>
          <p:cNvPr id="3" name="Date Placeholder 2"/>
          <p:cNvSpPr>
            <a:spLocks noGrp="1"/>
          </p:cNvSpPr>
          <p:nvPr>
            <p:ph type="dt" sz="half" idx="10"/>
          </p:nvPr>
        </p:nvSpPr>
        <p:spPr>
          <a:xfrm>
            <a:off x="380999" y="6356350"/>
            <a:ext cx="4145734" cy="365125"/>
          </a:xfrm>
        </p:spPr>
        <p:txBody>
          <a:bodyPr/>
          <a:lstStyle/>
          <a:p>
            <a:r>
              <a:rPr lang="en-US" dirty="0"/>
              <a:t>Specialized Models: Time Series and Survival Analysis</a:t>
            </a:r>
            <a:endParaRPr lang="en-US" dirty="0"/>
          </a:p>
        </p:txBody>
      </p:sp>
      <p:sp>
        <p:nvSpPr>
          <p:cNvPr id="5" name="Slide Number Placeholder 4"/>
          <p:cNvSpPr>
            <a:spLocks noGrp="1"/>
          </p:cNvSpPr>
          <p:nvPr>
            <p:ph type="sldNum" sz="quarter" idx="12"/>
          </p:nvPr>
        </p:nvSpPr>
        <p:spPr/>
        <p:txBody>
          <a:bodyPr/>
          <a:lstStyle/>
          <a:p>
            <a:fld id="{294A09A9-5501-47C1-A89A-A340965A2BE2}" type="slidenum">
              <a:rPr lang="en-US" sz="1800"/>
            </a:fld>
            <a:endParaRPr 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3910" y="477490"/>
            <a:ext cx="9779183" cy="1488033"/>
          </a:xfrm>
        </p:spPr>
        <p:txBody>
          <a:bodyPr/>
          <a:lstStyle/>
          <a:p>
            <a:r>
              <a:rPr lang="en-US" sz="4800" dirty="0"/>
              <a:t>Models' strengths and flaws</a:t>
            </a:r>
            <a:br>
              <a:rPr lang="en-US" dirty="0"/>
            </a:br>
            <a:endParaRPr lang="en-US" dirty="0"/>
          </a:p>
        </p:txBody>
      </p:sp>
      <p:sp>
        <p:nvSpPr>
          <p:cNvPr id="7" name="Date Placeholder 6"/>
          <p:cNvSpPr>
            <a:spLocks noGrp="1"/>
          </p:cNvSpPr>
          <p:nvPr>
            <p:ph type="dt" sz="half" idx="2"/>
          </p:nvPr>
        </p:nvSpPr>
        <p:spPr>
          <a:xfrm>
            <a:off x="380999" y="6365403"/>
            <a:ext cx="4055199" cy="365125"/>
          </a:xfrm>
        </p:spPr>
        <p:txBody>
          <a:bodyPr/>
          <a:lstStyle/>
          <a:p>
            <a:r>
              <a:rPr lang="en-US" dirty="0"/>
              <a:t>Specialized Models: Time Series and Survival Analysis</a:t>
            </a:r>
            <a:endParaRPr lang="en-US" dirty="0"/>
          </a:p>
        </p:txBody>
      </p:sp>
      <p:sp>
        <p:nvSpPr>
          <p:cNvPr id="9" name="Slide Number Placeholder 8"/>
          <p:cNvSpPr>
            <a:spLocks noGrp="1"/>
          </p:cNvSpPr>
          <p:nvPr>
            <p:ph type="sldNum" sz="quarter" idx="4"/>
          </p:nvPr>
        </p:nvSpPr>
        <p:spPr/>
        <p:txBody>
          <a:bodyPr/>
          <a:lstStyle/>
          <a:p>
            <a:fld id="{294A09A9-5501-47C1-A89A-A340965A2BE2}" type="slidenum">
              <a:rPr lang="en-US" sz="1800"/>
            </a:fld>
            <a:endParaRPr lang="en-US" sz="1800" dirty="0"/>
          </a:p>
        </p:txBody>
      </p:sp>
      <p:sp>
        <p:nvSpPr>
          <p:cNvPr id="12" name="TextBox 11"/>
          <p:cNvSpPr txBox="1"/>
          <p:nvPr/>
        </p:nvSpPr>
        <p:spPr>
          <a:xfrm>
            <a:off x="763910" y="1467892"/>
            <a:ext cx="10432825" cy="3447098"/>
          </a:xfrm>
          <a:prstGeom prst="rect">
            <a:avLst/>
          </a:prstGeom>
          <a:noFill/>
        </p:spPr>
        <p:txBody>
          <a:bodyPr wrap="square">
            <a:spAutoFit/>
          </a:bodyPr>
          <a:lstStyle/>
          <a:p>
            <a:r>
              <a:rPr lang="en-US" b="1" dirty="0">
                <a:solidFill>
                  <a:srgbClr val="48A1FA"/>
                </a:solidFill>
                <a:latin typeface="+mj-lt"/>
              </a:rPr>
              <a:t>Models Strengths and Flaws:</a:t>
            </a:r>
            <a:endParaRPr lang="en-US" b="1" dirty="0">
              <a:solidFill>
                <a:srgbClr val="48A1FA"/>
              </a:solidFill>
              <a:latin typeface="+mj-lt"/>
            </a:endParaRPr>
          </a:p>
          <a:p>
            <a:endParaRPr lang="en-US" sz="2000" b="1" dirty="0">
              <a:solidFill>
                <a:srgbClr val="0068FF"/>
              </a:solidFill>
            </a:endParaRPr>
          </a:p>
          <a:p>
            <a:pPr algn="just"/>
            <a:r>
              <a:rPr lang="en-US" dirty="0"/>
              <a:t>Generally, Time series modeling &amp; forecasting is considered one of the hardest problems to approach in data science since it depends on large amount of analysis and work, as shown in the previous slides we exposed to several techniques, where we compare between them in terms of forecasting one of these techniques was forecasting by smoothing which provided the worst results but at the same time it gave us intuition that the time series can be predicted by more advanced techniques like SARIMA model which provided very good results, and neural networks which gave us the best results, at the same time these models achieved good results</a:t>
            </a:r>
            <a:r>
              <a:rPr lang="ar-SA" dirty="0"/>
              <a:t> </a:t>
            </a:r>
            <a:r>
              <a:rPr lang="en-US" dirty="0"/>
              <a:t> to some extent in terms of forecasting future series.   </a:t>
            </a:r>
            <a:endParaRPr lang="en-US" dirty="0"/>
          </a:p>
          <a:p>
            <a:endParaRPr lang="en-US" dirty="0"/>
          </a:p>
          <a:p>
            <a:endParaRPr lang="en-US" dirty="0"/>
          </a:p>
          <a:p>
            <a:r>
              <a:rPr lang="en-US" dirty="0"/>
              <a:t>   </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5365" y="423141"/>
            <a:ext cx="9779183" cy="1488033"/>
          </a:xfrm>
        </p:spPr>
        <p:txBody>
          <a:bodyPr/>
          <a:lstStyle/>
          <a:p>
            <a:r>
              <a:rPr lang="en-US" sz="4800" dirty="0"/>
              <a:t>Advanced steps</a:t>
            </a:r>
            <a:br>
              <a:rPr lang="en-US" sz="4800" dirty="0"/>
            </a:br>
            <a:r>
              <a:rPr lang="en-US" sz="1800" dirty="0">
                <a:solidFill>
                  <a:srgbClr val="48A1FA"/>
                </a:solidFill>
                <a:ea typeface="+mn-ea"/>
                <a:cs typeface="+mn-cs"/>
              </a:rPr>
              <a:t>further suggestions:</a:t>
            </a:r>
            <a:br>
              <a:rPr lang="en-US" sz="1800" dirty="0">
                <a:solidFill>
                  <a:srgbClr val="006C31"/>
                </a:solidFill>
                <a:ea typeface="+mn-ea"/>
                <a:cs typeface="+mn-cs"/>
              </a:rPr>
            </a:br>
            <a:br>
              <a:rPr lang="en-US" sz="1800" dirty="0">
                <a:solidFill>
                  <a:srgbClr val="006C31"/>
                </a:solidFill>
                <a:ea typeface="+mn-ea"/>
                <a:cs typeface="+mn-cs"/>
              </a:rPr>
            </a:br>
            <a:endParaRPr lang="en-US" sz="1800" dirty="0">
              <a:solidFill>
                <a:srgbClr val="006C31"/>
              </a:solidFill>
              <a:ea typeface="+mn-ea"/>
              <a:cs typeface="+mn-cs"/>
            </a:endParaRPr>
          </a:p>
        </p:txBody>
      </p:sp>
      <p:sp>
        <p:nvSpPr>
          <p:cNvPr id="7" name="Date Placeholder 6"/>
          <p:cNvSpPr>
            <a:spLocks noGrp="1"/>
          </p:cNvSpPr>
          <p:nvPr>
            <p:ph type="dt" sz="half" idx="2"/>
          </p:nvPr>
        </p:nvSpPr>
        <p:spPr>
          <a:xfrm>
            <a:off x="380999" y="6356350"/>
            <a:ext cx="3801702" cy="365125"/>
          </a:xfrm>
        </p:spPr>
        <p:txBody>
          <a:bodyPr/>
          <a:lstStyle/>
          <a:p>
            <a:r>
              <a:rPr lang="en-US" dirty="0"/>
              <a:t>Specialized Models: Time Series and Survival Analysis</a:t>
            </a:r>
            <a:endParaRPr lang="en-US" dirty="0"/>
          </a:p>
        </p:txBody>
      </p:sp>
      <p:sp>
        <p:nvSpPr>
          <p:cNvPr id="9" name="Slide Number Placeholder 8"/>
          <p:cNvSpPr>
            <a:spLocks noGrp="1"/>
          </p:cNvSpPr>
          <p:nvPr>
            <p:ph type="sldNum" sz="quarter" idx="4"/>
          </p:nvPr>
        </p:nvSpPr>
        <p:spPr/>
        <p:txBody>
          <a:bodyPr/>
          <a:lstStyle/>
          <a:p>
            <a:fld id="{294A09A9-5501-47C1-A89A-A340965A2BE2}" type="slidenum">
              <a:rPr lang="en-US" sz="1800"/>
            </a:fld>
            <a:endParaRPr lang="en-US" sz="1800" dirty="0"/>
          </a:p>
        </p:txBody>
      </p:sp>
      <p:sp>
        <p:nvSpPr>
          <p:cNvPr id="12" name="TextBox 11"/>
          <p:cNvSpPr txBox="1"/>
          <p:nvPr/>
        </p:nvSpPr>
        <p:spPr>
          <a:xfrm>
            <a:off x="955365" y="1536385"/>
            <a:ext cx="9970638" cy="3969385"/>
          </a:xfrm>
          <a:prstGeom prst="rect">
            <a:avLst/>
          </a:prstGeom>
          <a:noFill/>
        </p:spPr>
        <p:txBody>
          <a:bodyPr wrap="square">
            <a:spAutoFit/>
          </a:bodyPr>
          <a:lstStyle/>
          <a:p>
            <a:r>
              <a:rPr lang="en-US" dirty="0"/>
              <a:t>As shown in the previous slides deep learning models achieved the best results in order of modeling and forecasting time series and we can go further with the results by using more advanced techniques such as :  </a:t>
            </a:r>
            <a:endParaRPr lang="en-US" dirty="0"/>
          </a:p>
          <a:p>
            <a:endParaRPr lang="en-US" dirty="0"/>
          </a:p>
          <a:p>
            <a:pPr marL="285750" indent="-285750">
              <a:buFont typeface="Arial" panose="020B0604020202020204" pitchFamily="34" charset="0"/>
              <a:buChar char="•"/>
            </a:pPr>
            <a:r>
              <a:rPr lang="en-US" dirty="0"/>
              <a:t>Recurrent neural network (RNN) </a:t>
            </a: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Long short-term memory LSTM.</a:t>
            </a: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r>
              <a:rPr lang="en-US" dirty="0"/>
              <a:t>I am currently working on these models to find out its strengthens  and weaknesses and will be uploaded on my GitHub account soon. </a:t>
            </a:r>
            <a:endParaRPr lang="en-US" dirty="0"/>
          </a:p>
          <a:p>
            <a:endParaRPr lang="en-US" dirty="0"/>
          </a:p>
          <a:p>
            <a:r>
              <a:rPr lang="en-US" b="1" dirty="0">
                <a:hlinkClick r:id="rId1"/>
              </a:rPr>
              <a:t>https://github.com/TheAbhi2004/Machine-Learning-Capstone</a:t>
            </a:r>
            <a:r>
              <a:rPr lang="en-US" b="1" dirty="0"/>
              <a:t> </a:t>
            </a:r>
            <a:endParaRPr lang="en-US" b="1" dirty="0"/>
          </a:p>
        </p:txBody>
      </p:sp>
      <p:sp>
        <p:nvSpPr>
          <p:cNvPr id="3" name="AutoShape 8" descr="Brain Tumors"/>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6573" y="461963"/>
            <a:ext cx="6220278" cy="2387600"/>
          </a:xfrm>
        </p:spPr>
        <p:txBody>
          <a:bodyPr/>
          <a:lstStyle/>
          <a:p>
            <a:r>
              <a:rPr lang="en-US" dirty="0"/>
              <a:t>Thank you</a:t>
            </a:r>
            <a:endParaRPr lang="en-US" dirty="0"/>
          </a:p>
        </p:txBody>
      </p:sp>
      <p:sp>
        <p:nvSpPr>
          <p:cNvPr id="3" name="Content Placeholder 2"/>
          <p:cNvSpPr>
            <a:spLocks noGrp="1"/>
          </p:cNvSpPr>
          <p:nvPr>
            <p:ph type="subTitle" idx="1"/>
          </p:nvPr>
        </p:nvSpPr>
        <p:spPr>
          <a:xfrm>
            <a:off x="538973" y="3033130"/>
            <a:ext cx="7071438" cy="2247219"/>
          </a:xfrm>
        </p:spPr>
        <p:txBody>
          <a:bodyPr>
            <a:normAutofit lnSpcReduction="20000"/>
          </a:bodyPr>
          <a:lstStyle/>
          <a:p>
            <a:endParaRPr lang="en-US" sz="2800" b="1" i="0" dirty="0">
              <a:solidFill>
                <a:srgbClr val="0068FF"/>
              </a:solidFill>
              <a:effectLst/>
              <a:latin typeface="OpenSans-Bold"/>
            </a:endParaRPr>
          </a:p>
          <a:p>
            <a:r>
              <a:rPr lang="en-US" sz="2800" b="1" i="0" dirty="0">
                <a:solidFill>
                  <a:srgbClr val="48A1FA"/>
                </a:solidFill>
                <a:effectLst/>
                <a:latin typeface="OpenSans-Bold"/>
              </a:rPr>
              <a:t>IBM Machine Learning Professional Certificate</a:t>
            </a:r>
            <a:endParaRPr lang="en-US" sz="2800" b="1" i="0" dirty="0">
              <a:solidFill>
                <a:srgbClr val="48A1FA"/>
              </a:solidFill>
              <a:effectLst/>
              <a:latin typeface="OpenSans-Bold"/>
            </a:endParaRPr>
          </a:p>
          <a:p>
            <a:r>
              <a:rPr lang="en-US" sz="1600" dirty="0"/>
              <a:t>Specialized Models: Time Series and Survival Analysis</a:t>
            </a:r>
            <a:endParaRPr lang="en-US" sz="1600" dirty="0"/>
          </a:p>
          <a:p>
            <a:endParaRPr lang="en-US" sz="1600" dirty="0"/>
          </a:p>
          <a:p>
            <a:r>
              <a:rPr lang="en-US" sz="2000" dirty="0"/>
              <a:t>By: Abhishek Pal</a:t>
            </a:r>
            <a:endParaRPr lang="en-US" sz="2000" dirty="0"/>
          </a:p>
          <a:p>
            <a:endParaRPr lang="en-US" sz="1600" dirty="0"/>
          </a:p>
          <a:p>
            <a:endParaRPr lang="en-US" sz="2400" b="1" i="0" dirty="0">
              <a:solidFill>
                <a:srgbClr val="0068FF"/>
              </a:solidFill>
              <a:effectLst/>
              <a:latin typeface="OpenSans-Bold"/>
            </a:endParaRPr>
          </a:p>
        </p:txBody>
      </p:sp>
    </p:spTree>
  </p:cSld>
  <p:clrMapOvr>
    <a:masterClrMapping/>
  </p:clrMapOvr>
</p:sld>
</file>

<file path=ppt/theme/theme1.xml><?xml version="1.0" encoding="utf-8"?>
<a:theme xmlns:a="http://schemas.openxmlformats.org/drawingml/2006/main" name="Office Theme">
  <a:themeElements>
    <a:clrScheme name="Custom 12">
      <a:dk1>
        <a:srgbClr val="000000"/>
      </a:dk1>
      <a:lt1>
        <a:srgbClr val="FFFFFF"/>
      </a:lt1>
      <a:dk2>
        <a:srgbClr val="44546A"/>
      </a:dk2>
      <a:lt2>
        <a:srgbClr val="E7E6E6"/>
      </a:lt2>
      <a:accent1>
        <a:srgbClr val="48A1FA"/>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1" ma:contentTypeDescription="Create a new document." ma:contentTypeScope="" ma:versionID="64dfb1555687e0874b4304b796b5b0c7">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6e4c555b5e194d05b7203de9c4567b3"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A615295-94F6-4CE2-A1B1-6B7E1DAA5AD6}">
  <ds:schemaRefs/>
</ds:datastoreItem>
</file>

<file path=customXml/itemProps2.xml><?xml version="1.0" encoding="utf-8"?>
<ds:datastoreItem xmlns:ds="http://schemas.openxmlformats.org/officeDocument/2006/customXml" ds:itemID="{4D5BAB77-79E1-4739-AA51-10C9079186D6}">
  <ds:schemaRefs/>
</ds:datastoreItem>
</file>

<file path=customXml/itemProps3.xml><?xml version="1.0" encoding="utf-8"?>
<ds:datastoreItem xmlns:ds="http://schemas.openxmlformats.org/officeDocument/2006/customXml" ds:itemID="{85334180-0405-413B-834A-44FA9E05ADB7}">
  <ds:schemaRefs/>
</ds:datastoreItem>
</file>

<file path=docProps/app.xml><?xml version="1.0" encoding="utf-8"?>
<Properties xmlns="http://schemas.openxmlformats.org/officeDocument/2006/extended-properties" xmlns:vt="http://schemas.openxmlformats.org/officeDocument/2006/docPropsVTypes">
  <TotalTime>0</TotalTime>
  <Words>16319</Words>
  <Application>WPS Presentation</Application>
  <PresentationFormat>Widescreen</PresentationFormat>
  <Paragraphs>608</Paragraphs>
  <Slides>43</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43</vt:i4>
      </vt:variant>
    </vt:vector>
  </HeadingPairs>
  <TitlesOfParts>
    <vt:vector size="54" baseType="lpstr">
      <vt:lpstr>Arial</vt:lpstr>
      <vt:lpstr>SimSun</vt:lpstr>
      <vt:lpstr>Wingdings</vt:lpstr>
      <vt:lpstr>Tenorite</vt:lpstr>
      <vt:lpstr>RomanS_IV25</vt:lpstr>
      <vt:lpstr>OpenSans-Bold</vt:lpstr>
      <vt:lpstr>Microsoft YaHei</vt:lpstr>
      <vt:lpstr>Arial Unicode MS</vt:lpstr>
      <vt:lpstr>Calibri</vt:lpstr>
      <vt:lpstr>Source Sans Pro</vt:lpstr>
      <vt:lpstr>Office Theme</vt:lpstr>
      <vt:lpstr>Time Series Final Project:  Analysis and Forecasting of Light Weight Vehicle Sales Time Series. </vt:lpstr>
      <vt:lpstr>Contents</vt:lpstr>
      <vt:lpstr>Abstract </vt:lpstr>
      <vt:lpstr>Data Description Section  </vt:lpstr>
      <vt:lpstr>Dataset Description </vt:lpstr>
      <vt:lpstr>Dataset Description </vt:lpstr>
      <vt:lpstr>Main Objective of the analysis:   </vt:lpstr>
      <vt:lpstr>Exploratory Data Analysis  (EDA) + Feature Engineering Section</vt:lpstr>
      <vt:lpstr>PowerPoint 演示文稿</vt:lpstr>
      <vt:lpstr>PowerPoint 演示文稿</vt:lpstr>
      <vt:lpstr>PowerPoint 演示文稿</vt:lpstr>
      <vt:lpstr>PowerPoint 演示文稿</vt:lpstr>
      <vt:lpstr>PowerPoint 演示文稿</vt:lpstr>
      <vt:lpstr>PowerPoint 演示文稿</vt:lpstr>
      <vt:lpstr>Exploratory Data Analysis</vt:lpstr>
      <vt:lpstr>Exploratory Data Analysis</vt:lpstr>
      <vt:lpstr>Exploratory Data Analysis</vt:lpstr>
      <vt:lpstr>Exploratory Data Analysis</vt:lpstr>
      <vt:lpstr>Exploratory Data Analysis</vt:lpstr>
      <vt:lpstr>PowerPoint 演示文稿</vt:lpstr>
      <vt:lpstr>PowerPoint 演示文稿</vt:lpstr>
      <vt:lpstr>PowerPoint 演示文稿</vt:lpstr>
      <vt:lpstr>Time series Forecasting &amp; ML/DL Analysis and Findings </vt:lpstr>
      <vt:lpstr>Machine Learning Analysis &amp; Findings</vt:lpstr>
      <vt:lpstr>Time series Forecasting &amp; ML/DL Analysis and Findings </vt:lpstr>
      <vt:lpstr>Time series Forecasting &amp; ML/DL Analysis and Findings </vt:lpstr>
      <vt:lpstr>PowerPoint 演示文稿</vt:lpstr>
      <vt:lpstr>Time series Forecasting &amp; ML/DL Analysis and Findings </vt:lpstr>
      <vt:lpstr>Time series Forecasting &amp; ML/DL Analysis and Findings </vt:lpstr>
      <vt:lpstr>Time series Forecasting &amp; ML/DL Analysis and Findings </vt:lpstr>
      <vt:lpstr>Time series Forecasting &amp; ML/DL Analysis and Findings </vt:lpstr>
      <vt:lpstr>Time series Forecasting &amp; ML/DL Analysis and Findings </vt:lpstr>
      <vt:lpstr>Time series Forecasting &amp; ML/DL Analysis and Findings </vt:lpstr>
      <vt:lpstr>Time series Forecasting &amp; ML/DL Analysis and Findings </vt:lpstr>
      <vt:lpstr>Time series Forecasting &amp; ML/DL Analysis and Findings </vt:lpstr>
      <vt:lpstr>Time series Forecasting &amp; ML/DL Analysis and Findings </vt:lpstr>
      <vt:lpstr>Time series Forecasting &amp; ML/DL Analysis and Findings </vt:lpstr>
      <vt:lpstr>Time series Forecasting &amp; ML/DL Analysis and Findings </vt:lpstr>
      <vt:lpstr>Time series Forecasting &amp; ML/DL Analysis and Findings </vt:lpstr>
      <vt:lpstr>Models flaws and strengths and advanced steps</vt:lpstr>
      <vt:lpstr>Models' strengths and flaws </vt:lpstr>
      <vt:lpstr>Advanced steps further suggestions:  </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Project ML Regression  Insurance Charges Prediction</dc:title>
  <dc:creator>Mohamad Osman</dc:creator>
  <cp:lastModifiedBy>6171- ABHISHEK PAL</cp:lastModifiedBy>
  <cp:revision>275</cp:revision>
  <dcterms:created xsi:type="dcterms:W3CDTF">2021-12-24T17:37:00Z</dcterms:created>
  <dcterms:modified xsi:type="dcterms:W3CDTF">2026-08-19T11:07:56Z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KSOProductBuildVer">
    <vt:lpwstr>1033-12.1.0.28032</vt:lpwstr>
  </property>
  <property fmtid="{D5CDD505-2E9C-101B-9397-08002B2CF9AE}" pid="4" name="ICV">
    <vt:lpwstr>CF6B20039E68453CAB9F444B543F24A4_12</vt:lpwstr>
  </property>
</Properties>
</file>